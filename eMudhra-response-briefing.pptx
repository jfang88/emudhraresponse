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669f9d4-04bc-fb2e-113b-3efbed07166a}">
          <p14:sldIdLst>
            <p14:sldId id="256"/>
            <p14:sldId id="257"/>
          </p14:sldIdLst>
        </p14:section>
        <p14:section name="Situation" id="{36f9982f-83fe-e8f9-aaa5-8e534a1ba04d}">
          <p14:sldIdLst>
            <p14:sldId id="258"/>
            <p14:sldId id="259"/>
          </p14:sldIdLst>
        </p14:section>
        <p14:section name="Approach" id="{83b0071c-e7f6-1026-bc46-f7de9a2b7fb3}">
          <p14:sldIdLst>
            <p14:sldId id="260"/>
            <p14:sldId id="261"/>
            <p14:sldId id="262"/>
            <p14:sldId id="263"/>
            <p14:sldId id="264"/>
            <p14:sldId id="265"/>
            <p14:sldId id="266"/>
          </p14:sldIdLst>
        </p14:section>
        <p14:section name="Requirements" id="{0682ebc7-b6d1-fb19-448a-8fbc48143029}">
          <p14:sldIdLst>
            <p14:sldId id="267"/>
            <p14:sldId id="268"/>
            <p14:sldId id="269"/>
          </p14:sldIdLst>
        </p14:section>
        <p14:section name="Plan and decisions" id="{963d4476-313c-1c33-5791-30cf3f8d7d53}">
          <p14:sldIdLst>
            <p14:sldId id="270"/>
            <p14:sldId id="271"/>
          </p14:sldIdLst>
        </p14:section>
        <p14:section name="Appendix" id="{a9b84b9e-7890-a785-2c0d-008df3a861d4}">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how we prioritise, what every service owner returns, and the decisions we need this week. The browser and OS vendors have done most of the work for desktops. Our job is to confirm that coverage and then find the software that keeps its own trust list. This deck summarises version 2.2 of the eMudhraResponse pack (27 October); the markdown documents hold the detail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this is not a desktop problem any more. Chrome, Firefox, Apple, Microsoft and Android pushed blocks between 17 and 20 October. What remains is software with its own trust list: server-side clients, runtimes, containers, appliances, agents and suppliers. The five decisions are on the last slide and in the workbook Decisions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clocks matter. The exposure clock started when the weak keys were generated in April 2025, which is why a retrospective hunt is worth doing. The response clock ran 17 to 20 October for browsers and operating systems. The 26–27 October root removals by Microsoft (Windows, Edge) and Google (Chrome) are about availability, not security: legitimate sites with certificates under those roots fail. Note that one recovered key has been published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 website presenting its own certificate is not the risk. The risk is any system that validates someone else's certificate using a trust list that hasn't been updated. Column C is most of the long tail. The proxy deserves special mention because it reverses the browser story: behind TLS inspection, the browser's protection is irrelevant. Definitions are in RISK_TIERS.md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Vendors fixed browsers without user action, but an enterprise can break that through blocked update endpoints, disabled auto-update, TLS inspection or stale images. So we record them as Validated only with a coverage report: one representative test per managed configuration plus the device-management report. Don't ask every user to test. The canonical text is ACTION_PLAN.md section 5, and the workbook's Browser &amp; desktop sheet calculates whether each configuration meets the proviso.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browsers are confirmed, the rest is the long tail of internet-, application- and certificate-dependent systems. The fastest way to list it is egress telemetry: every system that matters makes outbound TLS calls, and our proxy and firewall logs already record them. Direct-to-internet connections that bypass the proxy are a finding in their own right. The tail won't close on one date, so we propose a cut-off of 25 November (D-09), after which unremediated items need an exception with a compensating control. Detail: ACTION_PLAN.md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ranked systems by asset class, so Tier 2 put vendor-protected browsers alongside the most exposed population: outbound API clients on frozen trust lists. Version 2 asks two separate questions. Impact: if this system accepted a forged certificate, what could an attacker do? High means credentials, sensitive data, privileged actions, code execution or many downstream systems. Verifier susceptibility: would the software that actually checks the certificate accept the forged chain today? Browsers and vendor-updated OS stores already block it (A). Software using the OS store is safe once the update is confirmed (B). Software that carries its own trust list stays exposed until it is updated or rebuilt (C). Vendor-controlled products wait for the vendor (D). If we don't know yet, we assess first. Behind a TLS-inspection proxy, use the proxy's rating, because it makes the trust decision. Detail: RISK_TIERS.md sections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this: find the row for impact and the column for how the verifier stands today; the cell gives the priority and a typical example. Two things move a system. Confirming an OS update moves it from B to A, so the Windows API validating JWTs goes from P1 to P3 once Microsoft's 20 and 26 October updates are confirmed on its hosts and both the emSign and AAA routes test clean. The same applies on every platform: a Go service is A once rebuilt on 1.27.3 and tested, a Python service once certifi 2026.10.18 or later is deployed and workers restarted. Updating or rebuilding a bundle moves C to A or B. High-impact systems are P1 in every column except A, and unassessed high-impact systems are scheduled at P1 until we know. Column A is P3 or P4 because the work is only confirming coverage under the browser proviso. Systems that are not applicable at all, such as a serve-only website, close through Route C and don't appear in the grid. The windows are indicative for approval (D-03). Worked cases: RISK_TIERS.md sections 4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paths where impersonation becomes something worse: token forgery, credential theft or code execution. They are listed in RISK_TIERS.md section 5, and each card points to its playbook. The inspection proxy goes first because one fix protects the most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certificate issued to us by eMudhra isn't compromised; it will just stop being trusted. The bigger, quieter effect is on partners: when we update certifi, webpki-roots or the OS bundle, any partner still using that root breaks for our clients. We checked the package contents directly. Don't fix breakages by restoring the root globally. Detail: ACTION_PLAN.md section 7 and PB-13.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small targeted hunt, not a historical investigation of every application. If eMudhra's statement holds, there should be no legitimate certificates under these intermediates at all, so any match outside test hosts is an incident. Start with EDR signer data for the code-signing intermediates and inspection-proxy logs for the TLS ones. Be honest about retention: we won't have 18 months of most logs. Detail: ACTION_PLAN.md section 8 and PB-14.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closure model in ACTION_PLAN.md section 4 and COMPLETION_TRACKER.md: one record per service, three closure routes, and platform teams publish evidence once so applications can reference it. The rules at the bottom are the mistakes we expect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accountable owner per shared component. Platform teams own reusable evidence; application teams own confirmation that the platform applies to them, or Route B where it doesn't. The 72-hour actions focus on chokepoints, because each one protects many downstream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goes to delivery teams: one document, playbooks/README.md. It tells them what has happened, what to do, what to return and by when, and links to their playbook. Each playbook opens with a yes/no 'applies if' test, then options in order of preference, a verification step that proves the running workload uses the fix, what to record, and when to escalate. The workbook tracker has a playbook column, so every record shows which steps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days are about decisions, certificates and the service desk. The first week is about chokepoints and P1. After that it is a steady burn-down of the long tail, with a cut-off and an exception process so the incident can close cleanly. Remaining P3 and P4 items move into business-as-usual vulnerability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decisions unblock the first week. D-04 and D-16 (service desk only, no all-staff notice) are needed immediately because of the 26–27 October root removals. Record the decision, rationale and date in the workbook so the incident has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evidence base and its limits. Package facts were checked directly from PyPI, crates.io, the Go module proxy and the Ubuntu changelog. Vendor browser and OS actions come from press coverage of vendor statements, because the primary pages couldn't be reached when version 2 was prepared. The incident lead should confirm those before relying on a detail. Each markdown document lists its sources in its References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51560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520440"/>
            <a:ext cx="10058400"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4" name="Text 0"/>
          <p:cNvSpPr/>
          <p:nvPr>
            <p:ph idx="102" type="body" hasCustomPrompt="1"/>
          </p:nvPr>
        </p:nvSpPr>
        <p:spPr>
          <a:xfrm>
            <a:off x="731520" y="5120640"/>
            <a:ext cx="10058400" cy="822960"/>
          </a:xfrm>
          <a:prstGeom prst="rect">
            <a:avLst/>
          </a:prstGeom>
          <a:noFill/>
          <a:ln/>
        </p:spPr>
        <p:txBody>
          <a:bodyPr wrap="square" rtlCol="0"/>
          <a:lstStyle>
            <a:lvl1pPr algn="l" indent="0" marL="0">
              <a:buNone/>
              <a:defRPr lang="en-US" sz="1400" dirty="0">
                <a:solidFill>
                  <a:srgbClr val="AFC0DA"/>
                </a:solidFill>
                <a:latin typeface="Calibri" pitchFamily="34" charset="0"/>
                <a:ea typeface="Calibri" pitchFamily="34" charset="-122"/>
                <a:cs typeface="Calibri" pitchFamily="34" charset="-120"/>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03504"/>
            <a:ext cx="11277295" cy="786384"/>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ph idx="101" type="body" hasCustomPrompt="1"/>
          </p:nvPr>
        </p:nvSpPr>
        <p:spPr>
          <a:xfrm>
            <a:off x="457200" y="1463040"/>
            <a:ext cx="11277295" cy="365760"/>
          </a:xfrm>
          <a:prstGeom prst="rect">
            <a:avLst/>
          </a:prstGeom>
          <a:noFill/>
          <a:ln/>
        </p:spPr>
        <p:txBody>
          <a:bodyPr wrap="square" rtlCol="0"/>
          <a:lstStyle>
            <a:lvl1pPr algn="l" indent="0" marL="0">
              <a:buNone/>
              <a:defRPr lang="en-US" sz="1500" i="1"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4" name="Text 0"/>
          <p:cNvSpPr/>
          <p:nvPr>
            <p:ph idx="102" type="body" hasCustomPrompt="1"/>
          </p:nvPr>
        </p:nvSpPr>
        <p:spPr>
          <a:xfrm>
            <a:off x="457200" y="6236208"/>
            <a:ext cx="9692640" cy="384048"/>
          </a:xfrm>
          <a:prstGeom prst="rect">
            <a:avLst/>
          </a:prstGeom>
          <a:noFill/>
          <a:ln/>
        </p:spPr>
        <p:txBody>
          <a:bodyPr wrap="square" rtlCol="0"/>
          <a:lstStyle>
            <a:lvl1pPr algn="l" indent="0" marL="0">
              <a:buNone/>
              <a:defRPr lang="en-US" sz="1000" dirty="0">
                <a:solidFill>
                  <a:srgbClr val="7A869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ext 0"/>
          <p:cNvSpPr/>
          <p:nvPr/>
        </p:nvSpPr>
        <p:spPr>
          <a:xfrm>
            <a:off x="8595360" y="6446520"/>
            <a:ext cx="2651760" cy="228600"/>
          </a:xfrm>
          <a:prstGeom prst="rect">
            <a:avLst/>
          </a:prstGeom>
          <a:noFill/>
          <a:ln/>
        </p:spPr>
        <p:txBody>
          <a:bodyPr wrap="square" lIns="0" tIns="0" rIns="0" bIns="0" rtlCol="0" anchor="ctr"/>
          <a:lstStyle/>
          <a:p>
            <a:pPr algn="r" indent="0" marL="0">
              <a:buNone/>
            </a:pPr>
            <a:r>
              <a:rPr lang="en-US" sz="1000" dirty="0">
                <a:solidFill>
                  <a:srgbClr val="7A869A"/>
                </a:solidFill>
                <a:latin typeface="Calibri" pitchFamily="34" charset="0"/>
                <a:ea typeface="Calibri" pitchFamily="34" charset="-122"/>
                <a:cs typeface="Calibri" pitchFamily="34" charset="-120"/>
              </a:rPr>
              <a:t>Draft for discussion · 27 Oct 2026</a:t>
            </a:r>
            <a:endParaRPr lang="en-US" sz="10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11277295"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457200" y="1280160"/>
            <a:ext cx="11277295" cy="411480"/>
          </a:xfrm>
          <a:prstGeom prst="rect">
            <a:avLst/>
          </a:prstGeom>
          <a:noFill/>
          <a:ln/>
        </p:spPr>
        <p:txBody>
          <a:bodyPr wrap="square" rtlCol="0"/>
          <a:lstStyle>
            <a:lvl1pPr algn="l" indent="0" marL="0">
              <a:buNone/>
              <a:defRPr lang="en-US" sz="1500" i="1" dirty="0">
                <a:solidFill>
                  <a:srgbClr val="CADCFC"/>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FC0DA"/>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eMudhra CA key compromise: enterprise response</a:t>
            </a:r>
            <a:endParaRPr lang="en-US" sz="4000" dirty="0"/>
          </a:p>
        </p:txBody>
      </p:sp>
      <p:sp>
        <p:nvSpPr>
          <p:cNvPr id="3" name="Text 0"/>
          <p:cNvSpPr/>
          <p:nvPr>
            <p:ph idx="101" type="body" hasCustomPrompt="1"/>
          </p:nvPr>
        </p:nvSpPr>
        <p:spPr>
          <a:xfrm>
            <a:off x="731520" y="3520440"/>
            <a:ext cx="10058400"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What we need from service owners, and how we close the long tail</a:t>
            </a:r>
            <a:endParaRPr lang="en-US" sz="2000" dirty="0"/>
          </a:p>
        </p:txBody>
      </p:sp>
      <p:sp>
        <p:nvSpPr>
          <p:cNvPr id="4" name="Text 0"/>
          <p:cNvSpPr/>
          <p:nvPr>
            <p:ph idx="102" type="body" hasCustomPrompt="1"/>
          </p:nvPr>
        </p:nvSpPr>
        <p:spPr>
          <a:xfrm>
            <a:off x="731520" y="5120640"/>
            <a:ext cx="10058400" cy="822960"/>
          </a:xfrm>
          <a:prstGeom prst="rect">
            <a:avLst/>
          </a:prstGeom>
          <a:noFill/>
          <a:ln/>
        </p:spPr>
        <p:txBody>
          <a:bodyPr wrap="square" lIns="0" tIns="0" rIns="0" bIns="0" rtlCol="0" anchor="t"/>
          <a:lstStyle/>
          <a:p>
            <a:pPr algn="l" indent="0" marL="0">
              <a:buNone/>
            </a:pPr>
            <a:r>
              <a:rPr lang="en-US" sz="1400" dirty="0">
                <a:solidFill>
                  <a:srgbClr val="AFC0DA"/>
                </a:solidFill>
                <a:latin typeface="Calibri" pitchFamily="34" charset="0"/>
                <a:ea typeface="Calibri" pitchFamily="34" charset="-122"/>
                <a:cs typeface="Calibri" pitchFamily="34" charset="-120"/>
              </a:rPr>
              <a:t>Senior IT management and service owners · Version 2.2 · 27 October 2026</a:t>
            </a:r>
            <a:endParaRPr lang="en-US" sz="1400" dirty="0"/>
          </a:p>
          <a:p>
            <a:pPr algn="l" indent="0" marL="0">
              <a:buNone/>
            </a:pPr>
            <a:r>
              <a:rPr lang="en-US" sz="1400" dirty="0">
                <a:solidFill>
                  <a:srgbClr val="AFC0DA"/>
                </a:solidFill>
                <a:latin typeface="Calibri" pitchFamily="34" charset="0"/>
                <a:ea typeface="Calibri" pitchFamily="34" charset="-122"/>
                <a:cs typeface="Calibri" pitchFamily="34" charset="-120"/>
              </a:rPr>
              <a:t>Draft for discussion: no decisions taken, no enterprise assessment completed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ill"/>
          <p:cNvSpPr/>
          <p:nvPr/>
        </p:nvSpPr>
        <p:spPr>
          <a:xfrm>
            <a:off x="457200" y="292608"/>
            <a:ext cx="1504188" cy="256032"/>
          </a:xfrm>
          <a:prstGeom prst="roundRect">
            <a:avLst>
              <a:gd name="adj" fmla="val 50000"/>
            </a:avLst>
          </a:prstGeom>
          <a:solidFill>
            <a:schemeClr val="bg2"/>
          </a:solidFill>
          <a:ln/>
        </p:spPr>
      </p:sp>
      <p:sp>
        <p:nvSpPr>
          <p:cNvPr id="3" name="Eyebrow"/>
          <p:cNvSpPr txBox="1"/>
          <p:nvPr/>
        </p:nvSpPr>
        <p:spPr>
          <a:xfrm>
            <a:off x="457200" y="292608"/>
            <a:ext cx="1504188"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EXECUTIVE SUMMARY</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Browsers are protected; the remaining risk sits in software that keeps its own trust list</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Three things to know, and five decisions requested this week</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Sources: Google, Mozilla and Microsoft (MSRC) statements; BleepingComputer, CSO Online, Technobezz. Release and package facts checked directly on 26–27 Oct. Detail: README.md, Situation as at 27 October.</a:t>
            </a:r>
            <a:endParaRPr lang="en-US" sz="1000" dirty="0"/>
          </a:p>
        </p:txBody>
      </p:sp>
      <p:sp>
        <p:nvSpPr>
          <p:cNvPr id="7" name="Card"/>
          <p:cNvSpPr/>
          <p:nvPr/>
        </p:nvSpPr>
        <p:spPr>
          <a:xfrm>
            <a:off x="457200" y="1920240"/>
            <a:ext cx="3576218" cy="2971800"/>
          </a:xfrm>
          <a:prstGeom prst="rect">
            <a:avLst/>
          </a:prstGeom>
          <a:solidFill>
            <a:schemeClr val="bg2"/>
          </a:solidFill>
          <a:ln/>
        </p:spPr>
      </p:sp>
      <p:sp>
        <p:nvSpPr>
          <p:cNvPr id="8" name="Text 6"/>
          <p:cNvSpPr txBox="1"/>
          <p:nvPr/>
        </p:nvSpPr>
        <p:spPr>
          <a:xfrm>
            <a:off x="685800" y="2057400"/>
            <a:ext cx="3119018"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WHAT HAPPENED</a:t>
            </a:r>
            <a:endParaRPr lang="en-US" sz="1300" dirty="0"/>
          </a:p>
        </p:txBody>
      </p:sp>
      <p:sp>
        <p:nvSpPr>
          <p:cNvPr id="9" name="Text 7"/>
          <p:cNvSpPr txBox="1"/>
          <p:nvPr/>
        </p:nvSpPr>
        <p:spPr>
          <a:xfrm>
            <a:off x="685800" y="2468880"/>
            <a:ext cx="3119018" cy="2331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Eight eMudhra intermediate CA keys were weak from generation in April 2025 and can be recovered by anyone.</a:t>
            </a:r>
            <a:endParaRPr lang="en-US" sz="1400" dirty="0"/>
          </a:p>
          <a:p>
            <a:pPr marL="177800" indent="-177800">
              <a:spcAft>
                <a:spcPts val="400"/>
              </a:spcAft>
              <a:buSzPct val="100000"/>
              <a:buChar char="•"/>
            </a:pPr>
            <a:r>
              <a:rPr lang="en-US" sz="1400" dirty="0">
                <a:solidFill>
                  <a:schemeClr val="tx1"/>
                </a:solidFill>
              </a:rPr>
              <a:t>Six sign TLS certificates and two sign code. Anyone with a key can forge certificates that unprotected clients accept.</a:t>
            </a:r>
            <a:endParaRPr lang="en-US" sz="1400" dirty="0"/>
          </a:p>
        </p:txBody>
      </p:sp>
      <p:sp>
        <p:nvSpPr>
          <p:cNvPr id="10" name="Card"/>
          <p:cNvSpPr/>
          <p:nvPr/>
        </p:nvSpPr>
        <p:spPr>
          <a:xfrm>
            <a:off x="4307738" y="1920240"/>
            <a:ext cx="3576218" cy="2971800"/>
          </a:xfrm>
          <a:prstGeom prst="rect">
            <a:avLst/>
          </a:prstGeom>
          <a:solidFill>
            <a:schemeClr val="bg2"/>
          </a:solidFill>
          <a:ln/>
        </p:spPr>
      </p:sp>
      <p:sp>
        <p:nvSpPr>
          <p:cNvPr id="11" name="Text 9"/>
          <p:cNvSpPr txBox="1"/>
          <p:nvPr/>
        </p:nvSpPr>
        <p:spPr>
          <a:xfrm>
            <a:off x="4536338" y="2057400"/>
            <a:ext cx="3119018"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WHERE WE STAND</a:t>
            </a:r>
            <a:endParaRPr lang="en-US" sz="1300" dirty="0"/>
          </a:p>
        </p:txBody>
      </p:sp>
      <p:sp>
        <p:nvSpPr>
          <p:cNvPr id="12" name="Text 10"/>
          <p:cNvSpPr txBox="1"/>
          <p:nvPr/>
        </p:nvSpPr>
        <p:spPr>
          <a:xfrm>
            <a:off x="4536338" y="2468880"/>
            <a:ext cx="3119018" cy="2331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Vendors blocked the keys in browsers and OS trust stores on 17–20 Oct, with no user action. That holds only under four enterprise conditions.</a:t>
            </a:r>
            <a:endParaRPr lang="en-US" sz="1400" dirty="0"/>
          </a:p>
          <a:p>
            <a:pPr marL="177800" indent="-177800">
              <a:spcAft>
                <a:spcPts val="400"/>
              </a:spcAft>
              <a:buSzPct val="100000"/>
              <a:buChar char="•"/>
            </a:pPr>
            <a:r>
              <a:rPr lang="en-US" sz="1400" dirty="0">
                <a:solidFill>
                  <a:schemeClr val="tx1"/>
                </a:solidFill>
              </a:rPr>
              <a:t>Java, Python, Node, Go, containers, appliances and agents stay exposed until updated.</a:t>
            </a:r>
            <a:endParaRPr lang="en-US" sz="1400" dirty="0"/>
          </a:p>
        </p:txBody>
      </p:sp>
      <p:sp>
        <p:nvSpPr>
          <p:cNvPr id="13" name="Card"/>
          <p:cNvSpPr/>
          <p:nvPr/>
        </p:nvSpPr>
        <p:spPr>
          <a:xfrm>
            <a:off x="8158277" y="1920240"/>
            <a:ext cx="3576218" cy="2971800"/>
          </a:xfrm>
          <a:prstGeom prst="rect">
            <a:avLst/>
          </a:prstGeom>
          <a:solidFill>
            <a:schemeClr val="bg2"/>
          </a:solidFill>
          <a:ln/>
        </p:spPr>
      </p:sp>
      <p:sp>
        <p:nvSpPr>
          <p:cNvPr id="14" name="Text 12"/>
          <p:cNvSpPr txBox="1"/>
          <p:nvPr/>
        </p:nvSpPr>
        <p:spPr>
          <a:xfrm>
            <a:off x="8386877" y="2057400"/>
            <a:ext cx="3119018"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WHAT WE ASK</a:t>
            </a:r>
            <a:endParaRPr lang="en-US" sz="1300" dirty="0"/>
          </a:p>
        </p:txBody>
      </p:sp>
      <p:sp>
        <p:nvSpPr>
          <p:cNvPr id="15" name="Text 13"/>
          <p:cNvSpPr txBox="1"/>
          <p:nvPr/>
        </p:nvSpPr>
        <p:spPr>
          <a:xfrm>
            <a:off x="8386877" y="2468880"/>
            <a:ext cx="3119018" cy="2331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Every service returns one six-field record, worked in priority order.</a:t>
            </a:r>
            <a:endParaRPr lang="en-US" sz="1400" dirty="0"/>
          </a:p>
          <a:p>
            <a:pPr marL="177800" indent="-177800">
              <a:spcAft>
                <a:spcPts val="400"/>
              </a:spcAft>
              <a:buSzPct val="100000"/>
              <a:buChar char="•"/>
            </a:pPr>
            <a:r>
              <a:rPr lang="en-US" sz="1400" dirty="0">
                <a:solidFill>
                  <a:schemeClr val="tx1"/>
                </a:solidFill>
              </a:rPr>
              <a:t>Fix the inspection proxy, identity paths and build pipelines first.</a:t>
            </a:r>
            <a:endParaRPr lang="en-US" sz="1400" dirty="0"/>
          </a:p>
          <a:p>
            <a:pPr marL="177800" indent="-177800">
              <a:spcAft>
                <a:spcPts val="400"/>
              </a:spcAft>
              <a:buSzPct val="100000"/>
              <a:buChar char="•"/>
            </a:pPr>
            <a:r>
              <a:rPr lang="en-US" sz="1400" dirty="0">
                <a:solidFill>
                  <a:schemeClr val="tx1"/>
                </a:solidFill>
              </a:rPr>
              <a:t>Replace our certificates under emSign ECC Root CA - G3: Chrome drops it on 27 Oct.</a:t>
            </a:r>
            <a:endParaRPr lang="en-US" sz="1400" dirty="0"/>
          </a:p>
        </p:txBody>
      </p:sp>
      <p:sp>
        <p:nvSpPr>
          <p:cNvPr id="16" name="Decision band"/>
          <p:cNvSpPr/>
          <p:nvPr/>
        </p:nvSpPr>
        <p:spPr>
          <a:xfrm>
            <a:off x="457200" y="5074920"/>
            <a:ext cx="11277295" cy="960120"/>
          </a:xfrm>
          <a:prstGeom prst="rect">
            <a:avLst/>
          </a:prstGeom>
          <a:solidFill>
            <a:schemeClr val="tx1"/>
          </a:solidFill>
          <a:ln/>
        </p:spPr>
      </p:sp>
      <p:sp>
        <p:nvSpPr>
          <p:cNvPr id="17" name="Text 15"/>
          <p:cNvSpPr txBox="1"/>
          <p:nvPr/>
        </p:nvSpPr>
        <p:spPr>
          <a:xfrm>
            <a:off x="731520" y="5120640"/>
            <a:ext cx="10728655" cy="868680"/>
          </a:xfrm>
          <a:prstGeom prst="rect">
            <a:avLst/>
          </a:prstGeom>
          <a:noFill/>
          <a:ln/>
        </p:spPr>
        <p:txBody>
          <a:bodyPr wrap="square" lIns="0" tIns="0" rIns="0" bIns="0" rtlCol="0" anchor="ctr"/>
          <a:lstStyle/>
          <a:p>
            <a:pPr indent="0" marL="0">
              <a:buNone/>
            </a:pPr>
            <a:r>
              <a:rPr lang="en-US" sz="1300" b="1" spc="100" kern="0" dirty="0">
                <a:solidFill>
                  <a:srgbClr val="F2B8AD"/>
                </a:solidFill>
              </a:rPr>
              <a:t>DECISIONS THIS WEEK   </a:t>
            </a:r>
            <a:pPr indent="0" marL="0">
              <a:buNone/>
            </a:pPr>
            <a:r>
              <a:rPr lang="en-US" sz="1400" dirty="0">
                <a:solidFill>
                  <a:schemeClr val="bg1"/>
                </a:solidFill>
              </a:rPr>
              <a:t>D-01 prioritisation model · D-02 browser proviso · D-03 target windows · D-04 replace our emSign certificates · D-07 inspection-proxy policy</a:t>
            </a:r>
            <a:endParaRPr lang="en-US" sz="13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ill"/>
          <p:cNvSpPr/>
          <p:nvPr/>
        </p:nvSpPr>
        <p:spPr>
          <a:xfrm>
            <a:off x="457200" y="292608"/>
            <a:ext cx="1193292" cy="256032"/>
          </a:xfrm>
          <a:prstGeom prst="roundRect">
            <a:avLst>
              <a:gd name="adj" fmla="val 50000"/>
            </a:avLst>
          </a:prstGeom>
          <a:solidFill>
            <a:schemeClr val="bg2"/>
          </a:solidFill>
          <a:ln/>
        </p:spPr>
      </p:sp>
      <p:sp>
        <p:nvSpPr>
          <p:cNvPr id="3" name="Eyebrow"/>
          <p:cNvSpPr txBox="1"/>
          <p:nvPr/>
        </p:nvSpPr>
        <p:spPr>
          <a:xfrm>
            <a:off x="457200" y="292608"/>
            <a:ext cx="119329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WHAT HAPPENED</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The keys were weak for 18 months, and vendors closed the browser gap in four days</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Exposure ran from key generation until each client was protected, and it is still open for unpatched software</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Sources: Google, Mozilla and Microsoft (MSRC) statements; BleepingComputer, CSO Online, Technobezz. Release and package facts checked directly on 26–27 Oct. Detail: README.md, Situation as at 27 October.</a:t>
            </a:r>
            <a:endParaRPr lang="en-US" sz="1000" dirty="0"/>
          </a:p>
        </p:txBody>
      </p:sp>
      <p:sp>
        <p:nvSpPr>
          <p:cNvPr id="7" name="Exposure window line"/>
          <p:cNvSpPr/>
          <p:nvPr/>
        </p:nvSpPr>
        <p:spPr>
          <a:xfrm>
            <a:off x="1371600" y="3246120"/>
            <a:ext cx="2743200" cy="0"/>
          </a:xfrm>
          <a:prstGeom prst="line">
            <a:avLst/>
          </a:prstGeom>
          <a:noFill/>
          <a:ln w="31750">
            <a:solidFill>
              <a:srgbClr val="B3341F"/>
            </a:solidFill>
            <a:prstDash val="dash"/>
          </a:ln>
        </p:spPr>
      </p:sp>
      <p:sp>
        <p:nvSpPr>
          <p:cNvPr id="8" name="Response line"/>
          <p:cNvSpPr/>
          <p:nvPr/>
        </p:nvSpPr>
        <p:spPr>
          <a:xfrm>
            <a:off x="4114800" y="3246120"/>
            <a:ext cx="7223760" cy="0"/>
          </a:xfrm>
          <a:prstGeom prst="line">
            <a:avLst/>
          </a:prstGeom>
          <a:noFill/>
          <a:ln w="31750">
            <a:solidFill>
              <a:srgbClr val="1B2A4A"/>
            </a:solidFill>
            <a:prstDash val="solid"/>
          </a:ln>
        </p:spPr>
      </p:sp>
      <p:sp>
        <p:nvSpPr>
          <p:cNvPr id="9" name="Text 7"/>
          <p:cNvSpPr txBox="1"/>
          <p:nvPr/>
        </p:nvSpPr>
        <p:spPr>
          <a:xfrm>
            <a:off x="1280160" y="2862072"/>
            <a:ext cx="2926080" cy="292608"/>
          </a:xfrm>
          <a:prstGeom prst="rect">
            <a:avLst/>
          </a:prstGeom>
          <a:noFill/>
          <a:ln/>
        </p:spPr>
        <p:txBody>
          <a:bodyPr wrap="square" lIns="0" tIns="0" rIns="0" bIns="0" rtlCol="0" anchor="ctr"/>
          <a:lstStyle/>
          <a:p>
            <a:pPr algn="ctr" indent="0" marL="0">
              <a:buNone/>
            </a:pPr>
            <a:r>
              <a:rPr lang="en-US" sz="1300" i="1" dirty="0">
                <a:solidFill>
                  <a:schemeClr val="accent1"/>
                </a:solidFill>
              </a:rPr>
              <a:t>535 days: keys recoverable by anyone</a:t>
            </a:r>
            <a:endParaRPr lang="en-US" sz="1300" dirty="0"/>
          </a:p>
        </p:txBody>
      </p:sp>
      <p:sp>
        <p:nvSpPr>
          <p:cNvPr id="10" name="Timeline marker"/>
          <p:cNvSpPr/>
          <p:nvPr/>
        </p:nvSpPr>
        <p:spPr>
          <a:xfrm>
            <a:off x="1261872" y="3136392"/>
            <a:ext cx="219456" cy="219456"/>
          </a:xfrm>
          <a:prstGeom prst="ellipse">
            <a:avLst/>
          </a:prstGeom>
          <a:solidFill>
            <a:schemeClr val="accent1"/>
          </a:solidFill>
          <a:ln w="19050">
            <a:solidFill>
              <a:schemeClr val="bg1"/>
            </a:solidFill>
            <a:prstDash val="solid"/>
          </a:ln>
        </p:spPr>
      </p:sp>
      <p:sp>
        <p:nvSpPr>
          <p:cNvPr id="11" name="Text 9"/>
          <p:cNvSpPr txBox="1"/>
          <p:nvPr/>
        </p:nvSpPr>
        <p:spPr>
          <a:xfrm>
            <a:off x="548640" y="3447288"/>
            <a:ext cx="1645920" cy="292608"/>
          </a:xfrm>
          <a:prstGeom prst="rect">
            <a:avLst/>
          </a:prstGeom>
          <a:noFill/>
          <a:ln/>
        </p:spPr>
        <p:txBody>
          <a:bodyPr wrap="square" lIns="0" tIns="0" rIns="0" bIns="0" rtlCol="0" anchor="ctr"/>
          <a:lstStyle/>
          <a:p>
            <a:pPr algn="ctr" indent="0" marL="0">
              <a:buNone/>
            </a:pPr>
            <a:r>
              <a:rPr lang="en-US" sz="1400" b="1" dirty="0">
                <a:solidFill>
                  <a:schemeClr val="accent1"/>
                </a:solidFill>
              </a:rPr>
              <a:t>30 Apr 2025</a:t>
            </a:r>
            <a:endParaRPr lang="en-US" sz="1400" dirty="0"/>
          </a:p>
        </p:txBody>
      </p:sp>
      <p:sp>
        <p:nvSpPr>
          <p:cNvPr id="12" name="Text 10"/>
          <p:cNvSpPr txBox="1"/>
          <p:nvPr/>
        </p:nvSpPr>
        <p:spPr>
          <a:xfrm>
            <a:off x="475488" y="3749040"/>
            <a:ext cx="1792224" cy="1097280"/>
          </a:xfrm>
          <a:prstGeom prst="rect">
            <a:avLst/>
          </a:prstGeom>
          <a:noFill/>
          <a:ln/>
        </p:spPr>
        <p:txBody>
          <a:bodyPr wrap="square" lIns="0" tIns="0" rIns="0" bIns="0" rtlCol="0" anchor="t"/>
          <a:lstStyle/>
          <a:p>
            <a:pPr algn="ctr" indent="0" marL="0">
              <a:buNone/>
            </a:pPr>
            <a:r>
              <a:rPr lang="en-US" sz="1200" dirty="0">
                <a:solidFill>
                  <a:schemeClr val="tx2"/>
                </a:solidFill>
              </a:rPr>
              <a:t>Weak keys generated at a key ceremony</a:t>
            </a:r>
            <a:endParaRPr lang="en-US" sz="1200" dirty="0"/>
          </a:p>
        </p:txBody>
      </p:sp>
      <p:sp>
        <p:nvSpPr>
          <p:cNvPr id="13" name="Timeline marker"/>
          <p:cNvSpPr/>
          <p:nvPr/>
        </p:nvSpPr>
        <p:spPr>
          <a:xfrm>
            <a:off x="4005072" y="3136392"/>
            <a:ext cx="219456" cy="219456"/>
          </a:xfrm>
          <a:prstGeom prst="ellipse">
            <a:avLst/>
          </a:prstGeom>
          <a:solidFill>
            <a:schemeClr val="tx1"/>
          </a:solidFill>
          <a:ln w="19050">
            <a:solidFill>
              <a:schemeClr val="bg1"/>
            </a:solidFill>
            <a:prstDash val="solid"/>
          </a:ln>
        </p:spPr>
      </p:sp>
      <p:sp>
        <p:nvSpPr>
          <p:cNvPr id="14" name="Text 12"/>
          <p:cNvSpPr txBox="1"/>
          <p:nvPr/>
        </p:nvSpPr>
        <p:spPr>
          <a:xfrm>
            <a:off x="3291840" y="3447288"/>
            <a:ext cx="1645920" cy="292608"/>
          </a:xfrm>
          <a:prstGeom prst="rect">
            <a:avLst/>
          </a:prstGeom>
          <a:noFill/>
          <a:ln/>
        </p:spPr>
        <p:txBody>
          <a:bodyPr wrap="square" lIns="0" tIns="0" rIns="0" bIns="0" rtlCol="0" anchor="ctr"/>
          <a:lstStyle/>
          <a:p>
            <a:pPr algn="ctr" indent="0" marL="0">
              <a:buNone/>
            </a:pPr>
            <a:r>
              <a:rPr lang="en-US" sz="1400" b="1" dirty="0">
                <a:solidFill>
                  <a:schemeClr val="tx1"/>
                </a:solidFill>
              </a:rPr>
              <a:t>17 Oct</a:t>
            </a:r>
            <a:endParaRPr lang="en-US" sz="1400" dirty="0"/>
          </a:p>
        </p:txBody>
      </p:sp>
      <p:sp>
        <p:nvSpPr>
          <p:cNvPr id="15" name="Text 13"/>
          <p:cNvSpPr txBox="1"/>
          <p:nvPr/>
        </p:nvSpPr>
        <p:spPr>
          <a:xfrm>
            <a:off x="3218688" y="3749040"/>
            <a:ext cx="1792224" cy="1097280"/>
          </a:xfrm>
          <a:prstGeom prst="rect">
            <a:avLst/>
          </a:prstGeom>
          <a:noFill/>
          <a:ln/>
        </p:spPr>
        <p:txBody>
          <a:bodyPr wrap="square" lIns="0" tIns="0" rIns="0" bIns="0" rtlCol="0" anchor="t"/>
          <a:lstStyle/>
          <a:p>
            <a:pPr algn="ctr" indent="0" marL="0">
              <a:buNone/>
            </a:pPr>
            <a:r>
              <a:rPr lang="en-US" sz="1200" dirty="0">
                <a:solidFill>
                  <a:schemeClr val="tx2"/>
                </a:solidFill>
              </a:rPr>
              <a:t>Reported. Chrome CRLSet and Firefox OneCRL block the same day</a:t>
            </a:r>
            <a:endParaRPr lang="en-US" sz="1200" dirty="0"/>
          </a:p>
        </p:txBody>
      </p:sp>
      <p:sp>
        <p:nvSpPr>
          <p:cNvPr id="16" name="Timeline marker"/>
          <p:cNvSpPr/>
          <p:nvPr/>
        </p:nvSpPr>
        <p:spPr>
          <a:xfrm>
            <a:off x="5925312" y="3136392"/>
            <a:ext cx="219456" cy="219456"/>
          </a:xfrm>
          <a:prstGeom prst="ellipse">
            <a:avLst/>
          </a:prstGeom>
          <a:solidFill>
            <a:schemeClr val="tx1"/>
          </a:solidFill>
          <a:ln w="19050">
            <a:solidFill>
              <a:schemeClr val="bg1"/>
            </a:solidFill>
            <a:prstDash val="solid"/>
          </a:ln>
        </p:spPr>
      </p:sp>
      <p:sp>
        <p:nvSpPr>
          <p:cNvPr id="17" name="Text 15"/>
          <p:cNvSpPr txBox="1"/>
          <p:nvPr/>
        </p:nvSpPr>
        <p:spPr>
          <a:xfrm>
            <a:off x="5212080" y="3447288"/>
            <a:ext cx="1645920" cy="292608"/>
          </a:xfrm>
          <a:prstGeom prst="rect">
            <a:avLst/>
          </a:prstGeom>
          <a:noFill/>
          <a:ln/>
        </p:spPr>
        <p:txBody>
          <a:bodyPr wrap="square" lIns="0" tIns="0" rIns="0" bIns="0" rtlCol="0" anchor="ctr"/>
          <a:lstStyle/>
          <a:p>
            <a:pPr algn="ctr" indent="0" marL="0">
              <a:buNone/>
            </a:pPr>
            <a:r>
              <a:rPr lang="en-US" sz="1400" b="1" dirty="0">
                <a:solidFill>
                  <a:schemeClr val="tx1"/>
                </a:solidFill>
              </a:rPr>
              <a:t>19 Oct</a:t>
            </a:r>
            <a:endParaRPr lang="en-US" sz="1400" dirty="0"/>
          </a:p>
        </p:txBody>
      </p:sp>
      <p:sp>
        <p:nvSpPr>
          <p:cNvPr id="18" name="Text 16"/>
          <p:cNvSpPr txBox="1"/>
          <p:nvPr/>
        </p:nvSpPr>
        <p:spPr>
          <a:xfrm>
            <a:off x="5138928" y="3749040"/>
            <a:ext cx="1792224" cy="1097280"/>
          </a:xfrm>
          <a:prstGeom prst="rect">
            <a:avLst/>
          </a:prstGeom>
          <a:noFill/>
          <a:ln/>
        </p:spPr>
        <p:txBody>
          <a:bodyPr wrap="square" lIns="0" tIns="0" rIns="0" bIns="0" rtlCol="0" anchor="t"/>
          <a:lstStyle/>
          <a:p>
            <a:pPr algn="ctr" indent="0" marL="0">
              <a:buNone/>
            </a:pPr>
            <a:r>
              <a:rPr lang="en-US" sz="1200" dirty="0">
                <a:solidFill>
                  <a:schemeClr val="tx2"/>
                </a:solidFill>
              </a:rPr>
              <a:t>Apple; Android via Play services; Sectigo revokes AAA cross-certificates; Go fix</a:t>
            </a:r>
            <a:endParaRPr lang="en-US" sz="1200" dirty="0"/>
          </a:p>
        </p:txBody>
      </p:sp>
      <p:sp>
        <p:nvSpPr>
          <p:cNvPr id="19" name="Timeline marker"/>
          <p:cNvSpPr/>
          <p:nvPr/>
        </p:nvSpPr>
        <p:spPr>
          <a:xfrm>
            <a:off x="7845552" y="3136392"/>
            <a:ext cx="219456" cy="219456"/>
          </a:xfrm>
          <a:prstGeom prst="ellipse">
            <a:avLst/>
          </a:prstGeom>
          <a:solidFill>
            <a:schemeClr val="tx1"/>
          </a:solidFill>
          <a:ln w="19050">
            <a:solidFill>
              <a:schemeClr val="bg1"/>
            </a:solidFill>
            <a:prstDash val="solid"/>
          </a:ln>
        </p:spPr>
      </p:sp>
      <p:sp>
        <p:nvSpPr>
          <p:cNvPr id="20" name="Text 18"/>
          <p:cNvSpPr txBox="1"/>
          <p:nvPr/>
        </p:nvSpPr>
        <p:spPr>
          <a:xfrm>
            <a:off x="7132320" y="3447288"/>
            <a:ext cx="1645920" cy="292608"/>
          </a:xfrm>
          <a:prstGeom prst="rect">
            <a:avLst/>
          </a:prstGeom>
          <a:noFill/>
          <a:ln/>
        </p:spPr>
        <p:txBody>
          <a:bodyPr wrap="square" lIns="0" tIns="0" rIns="0" bIns="0" rtlCol="0" anchor="ctr"/>
          <a:lstStyle/>
          <a:p>
            <a:pPr algn="ctr" indent="0" marL="0">
              <a:buNone/>
            </a:pPr>
            <a:r>
              <a:rPr lang="en-US" sz="1400" b="1" dirty="0">
                <a:solidFill>
                  <a:schemeClr val="tx1"/>
                </a:solidFill>
              </a:rPr>
              <a:t>20 Oct</a:t>
            </a:r>
            <a:endParaRPr lang="en-US" sz="1400" dirty="0"/>
          </a:p>
        </p:txBody>
      </p:sp>
      <p:sp>
        <p:nvSpPr>
          <p:cNvPr id="21" name="Text 19"/>
          <p:cNvSpPr txBox="1"/>
          <p:nvPr/>
        </p:nvSpPr>
        <p:spPr>
          <a:xfrm>
            <a:off x="7059168" y="3749040"/>
            <a:ext cx="1792224" cy="1097280"/>
          </a:xfrm>
          <a:prstGeom prst="rect">
            <a:avLst/>
          </a:prstGeom>
          <a:noFill/>
          <a:ln/>
        </p:spPr>
        <p:txBody>
          <a:bodyPr wrap="square" lIns="0" tIns="0" rIns="0" bIns="0" rtlCol="0" anchor="t"/>
          <a:lstStyle/>
          <a:p>
            <a:pPr algn="ctr" indent="0" marL="0">
              <a:buNone/>
            </a:pPr>
            <a:r>
              <a:rPr lang="en-US" sz="1200" dirty="0">
                <a:solidFill>
                  <a:schemeClr val="tx2"/>
                </a:solidFill>
              </a:rPr>
              <a:t>Microsoft Disallowed list; Ubuntu and Node.js fixes. Windows trust-list removal on 26 Oct</a:t>
            </a:r>
            <a:endParaRPr lang="en-US" sz="1200" dirty="0"/>
          </a:p>
        </p:txBody>
      </p:sp>
      <p:sp>
        <p:nvSpPr>
          <p:cNvPr id="22" name="Timeline marker"/>
          <p:cNvSpPr/>
          <p:nvPr/>
        </p:nvSpPr>
        <p:spPr>
          <a:xfrm>
            <a:off x="10131552" y="3136392"/>
            <a:ext cx="219456" cy="219456"/>
          </a:xfrm>
          <a:prstGeom prst="ellipse">
            <a:avLst/>
          </a:prstGeom>
          <a:solidFill>
            <a:schemeClr val="accent4"/>
          </a:solidFill>
          <a:ln w="19050">
            <a:solidFill>
              <a:schemeClr val="bg1"/>
            </a:solidFill>
            <a:prstDash val="solid"/>
          </a:ln>
        </p:spPr>
      </p:sp>
      <p:sp>
        <p:nvSpPr>
          <p:cNvPr id="23" name="Text 21"/>
          <p:cNvSpPr txBox="1"/>
          <p:nvPr/>
        </p:nvSpPr>
        <p:spPr>
          <a:xfrm>
            <a:off x="9418320" y="3447288"/>
            <a:ext cx="1645920" cy="292608"/>
          </a:xfrm>
          <a:prstGeom prst="rect">
            <a:avLst/>
          </a:prstGeom>
          <a:noFill/>
          <a:ln/>
        </p:spPr>
        <p:txBody>
          <a:bodyPr wrap="square" lIns="0" tIns="0" rIns="0" bIns="0" rtlCol="0" anchor="ctr"/>
          <a:lstStyle/>
          <a:p>
            <a:pPr algn="ctr" indent="0" marL="0">
              <a:buNone/>
            </a:pPr>
            <a:r>
              <a:rPr lang="en-US" sz="1400" b="1" dirty="0">
                <a:solidFill>
                  <a:schemeClr val="accent4"/>
                </a:solidFill>
              </a:rPr>
              <a:t>27 Oct</a:t>
            </a:r>
            <a:endParaRPr lang="en-US" sz="1400" dirty="0"/>
          </a:p>
        </p:txBody>
      </p:sp>
      <p:sp>
        <p:nvSpPr>
          <p:cNvPr id="24" name="Text 22"/>
          <p:cNvSpPr txBox="1"/>
          <p:nvPr/>
        </p:nvSpPr>
        <p:spPr>
          <a:xfrm>
            <a:off x="9345168" y="3749040"/>
            <a:ext cx="1792224" cy="1097280"/>
          </a:xfrm>
          <a:prstGeom prst="rect">
            <a:avLst/>
          </a:prstGeom>
          <a:noFill/>
          <a:ln/>
        </p:spPr>
        <p:txBody>
          <a:bodyPr wrap="square" lIns="0" tIns="0" rIns="0" bIns="0" rtlCol="0" anchor="t"/>
          <a:lstStyle/>
          <a:p>
            <a:pPr algn="ctr" indent="0" marL="0">
              <a:buNone/>
            </a:pPr>
            <a:r>
              <a:rPr lang="en-US" sz="1200" dirty="0">
                <a:solidFill>
                  <a:schemeClr val="tx2"/>
                </a:solidFill>
              </a:rPr>
              <a:t>Chrome and Edge remove emSign root certificates: legitimate sites under them break</a:t>
            </a:r>
            <a:endParaRPr lang="en-US" sz="1200" dirty="0"/>
          </a:p>
        </p:txBody>
      </p:sp>
      <p:sp>
        <p:nvSpPr>
          <p:cNvPr id="25" name="Text 23"/>
          <p:cNvSpPr txBox="1"/>
          <p:nvPr/>
        </p:nvSpPr>
        <p:spPr>
          <a:xfrm>
            <a:off x="502920" y="2103120"/>
            <a:ext cx="329184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Exposure window</a:t>
            </a:r>
            <a:endParaRPr lang="en-US" sz="1200" dirty="0"/>
          </a:p>
        </p:txBody>
      </p:sp>
      <p:sp>
        <p:nvSpPr>
          <p:cNvPr id="26" name="Text 24"/>
          <p:cNvSpPr txBox="1"/>
          <p:nvPr/>
        </p:nvSpPr>
        <p:spPr>
          <a:xfrm>
            <a:off x="4114800" y="2103120"/>
            <a:ext cx="7223760" cy="274320"/>
          </a:xfrm>
          <a:prstGeom prst="rect">
            <a:avLst/>
          </a:prstGeom>
          <a:noFill/>
          <a:ln/>
        </p:spPr>
        <p:txBody>
          <a:bodyPr wrap="square" lIns="0" tIns="0" rIns="0" bIns="0" rtlCol="0" anchor="ctr"/>
          <a:lstStyle/>
          <a:p>
            <a:pPr indent="0" marL="0">
              <a:buNone/>
            </a:pPr>
            <a:r>
              <a:rPr lang="en-US" sz="1200" b="1" spc="100" kern="0" dirty="0">
                <a:solidFill>
                  <a:schemeClr val="tx1"/>
                </a:solidFill>
              </a:rPr>
              <a:t>Vendor response</a:t>
            </a:r>
            <a:endParaRPr lang="en-US" sz="1200" dirty="0"/>
          </a:p>
        </p:txBody>
      </p:sp>
      <p:sp>
        <p:nvSpPr>
          <p:cNvPr id="27" name="Stat value"/>
          <p:cNvSpPr txBox="1"/>
          <p:nvPr/>
        </p:nvSpPr>
        <p:spPr>
          <a:xfrm>
            <a:off x="822960" y="4663440"/>
            <a:ext cx="329184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28" name="Stat label"/>
          <p:cNvSpPr txBox="1"/>
          <p:nvPr/>
        </p:nvSpPr>
        <p:spPr>
          <a:xfrm>
            <a:off x="822960" y="5394960"/>
            <a:ext cx="3291840" cy="548640"/>
          </a:xfrm>
          <a:prstGeom prst="rect">
            <a:avLst/>
          </a:prstGeom>
          <a:noFill/>
          <a:ln/>
        </p:spPr>
        <p:txBody>
          <a:bodyPr wrap="square" lIns="0" tIns="0" rIns="0" bIns="0" rtlCol="0" anchor="t"/>
          <a:lstStyle/>
          <a:p>
            <a:pPr indent="0" marL="0">
              <a:buNone/>
            </a:pPr>
            <a:r>
              <a:rPr lang="en-US" sz="1300" dirty="0">
                <a:solidFill>
                  <a:schemeClr val="tx2"/>
                </a:solidFill>
              </a:rPr>
              <a:t>intermediate keys: 6 TLS, 2 code-signing</a:t>
            </a:r>
            <a:endParaRPr lang="en-US" sz="1300" dirty="0"/>
          </a:p>
        </p:txBody>
      </p:sp>
      <p:sp>
        <p:nvSpPr>
          <p:cNvPr id="29" name="Stat value"/>
          <p:cNvSpPr txBox="1"/>
          <p:nvPr/>
        </p:nvSpPr>
        <p:spPr>
          <a:xfrm>
            <a:off x="4572000" y="4663440"/>
            <a:ext cx="329184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30" name="Stat label"/>
          <p:cNvSpPr txBox="1"/>
          <p:nvPr/>
        </p:nvSpPr>
        <p:spPr>
          <a:xfrm>
            <a:off x="4572000" y="5394960"/>
            <a:ext cx="3291840" cy="548640"/>
          </a:xfrm>
          <a:prstGeom prst="rect">
            <a:avLst/>
          </a:prstGeom>
          <a:noFill/>
          <a:ln/>
        </p:spPr>
        <p:txBody>
          <a:bodyPr wrap="square" lIns="0" tIns="0" rIns="0" bIns="0" rtlCol="0" anchor="t"/>
          <a:lstStyle/>
          <a:p>
            <a:pPr indent="0" marL="0">
              <a:buNone/>
            </a:pPr>
            <a:r>
              <a:rPr lang="en-US" sz="1300" dirty="0">
                <a:solidFill>
                  <a:schemeClr val="tx2"/>
                </a:solidFill>
              </a:rPr>
              <a:t>confirmed misuse reported by 21 Oct. Clients that don't check CT can't rule it out</a:t>
            </a:r>
            <a:endParaRPr lang="en-US" sz="1300" dirty="0"/>
          </a:p>
        </p:txBody>
      </p:sp>
      <p:sp>
        <p:nvSpPr>
          <p:cNvPr id="31" name="Stat value"/>
          <p:cNvSpPr txBox="1"/>
          <p:nvPr/>
        </p:nvSpPr>
        <p:spPr>
          <a:xfrm>
            <a:off x="8321040" y="4663440"/>
            <a:ext cx="3291840" cy="685800"/>
          </a:xfrm>
          <a:prstGeom prst="rect">
            <a:avLst/>
          </a:prstGeom>
          <a:noFill/>
          <a:ln/>
        </p:spPr>
        <p:txBody>
          <a:bodyPr wrap="square" lIns="0" tIns="0" rIns="0" bIns="0" rtlCol="0" anchor="b"/>
          <a:lstStyle/>
          <a:p>
            <a:pPr indent="0" marL="0">
              <a:buNone/>
            </a:pPr>
            <a:r>
              <a:rPr lang="en-US" sz="4000" b="1" dirty="0">
                <a:solidFill>
                  <a:schemeClr val="accent4"/>
                </a:solidFill>
                <a:latin typeface="Cambria" pitchFamily="34" charset="0"/>
                <a:ea typeface="Cambria" pitchFamily="34" charset="-122"/>
                <a:cs typeface="Cambria" pitchFamily="34" charset="-120"/>
              </a:rPr>
              <a:t>~30,000</a:t>
            </a:r>
            <a:endParaRPr lang="en-US" sz="4000" dirty="0"/>
          </a:p>
        </p:txBody>
      </p:sp>
      <p:sp>
        <p:nvSpPr>
          <p:cNvPr id="32" name="Stat label"/>
          <p:cNvSpPr txBox="1"/>
          <p:nvPr/>
        </p:nvSpPr>
        <p:spPr>
          <a:xfrm>
            <a:off x="8321040" y="5394960"/>
            <a:ext cx="3291840" cy="548640"/>
          </a:xfrm>
          <a:prstGeom prst="rect">
            <a:avLst/>
          </a:prstGeom>
          <a:noFill/>
          <a:ln/>
        </p:spPr>
        <p:txBody>
          <a:bodyPr wrap="square" lIns="0" tIns="0" rIns="0" bIns="0" rtlCol="0" anchor="t"/>
          <a:lstStyle/>
          <a:p>
            <a:pPr indent="0" marL="0">
              <a:buNone/>
            </a:pPr>
            <a:r>
              <a:rPr lang="en-US" sz="1300" dirty="0">
                <a:solidFill>
                  <a:schemeClr val="tx2"/>
                </a:solidFill>
              </a:rPr>
              <a:t>legitimate certificates to migrate (eMudhra estimate)</a:t>
            </a:r>
            <a:endParaRPr lang="en-US" sz="13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ill"/>
          <p:cNvSpPr/>
          <p:nvPr/>
        </p:nvSpPr>
        <p:spPr>
          <a:xfrm>
            <a:off x="457200" y="292608"/>
            <a:ext cx="1271016" cy="256032"/>
          </a:xfrm>
          <a:prstGeom prst="roundRect">
            <a:avLst>
              <a:gd name="adj" fmla="val 50000"/>
            </a:avLst>
          </a:prstGeom>
          <a:solidFill>
            <a:schemeClr val="bg2"/>
          </a:solidFill>
          <a:ln/>
        </p:spPr>
      </p:sp>
      <p:sp>
        <p:nvSpPr>
          <p:cNvPr id="3" name="Eyebrow"/>
          <p:cNvSpPr txBox="1"/>
          <p:nvPr/>
        </p:nvSpPr>
        <p:spPr>
          <a:xfrm>
            <a:off x="457200" y="292608"/>
            <a:ext cx="1271016"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WHO IS EXPOSED</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Exposure depends on what a system trusts, not on whose certificates we buy</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The verifier decides. Four kinds, from protected to exposed</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An attacker needs to intercept or redirect traffic, except for inbound mTLS, where a forged client certificate connects directly.</a:t>
            </a:r>
            <a:endParaRPr lang="en-US" sz="1000" dirty="0"/>
          </a:p>
        </p:txBody>
      </p:sp>
      <p:sp>
        <p:nvSpPr>
          <p:cNvPr id="7" name="Card"/>
          <p:cNvSpPr/>
          <p:nvPr/>
        </p:nvSpPr>
        <p:spPr>
          <a:xfrm>
            <a:off x="457200" y="1965960"/>
            <a:ext cx="2647874" cy="2514600"/>
          </a:xfrm>
          <a:prstGeom prst="rect">
            <a:avLst/>
          </a:prstGeom>
          <a:solidFill>
            <a:schemeClr val="bg2"/>
          </a:solidFill>
          <a:ln/>
        </p:spPr>
      </p:sp>
      <p:sp>
        <p:nvSpPr>
          <p:cNvPr id="8" name="Shape 6"/>
          <p:cNvSpPr/>
          <p:nvPr/>
        </p:nvSpPr>
        <p:spPr>
          <a:xfrm>
            <a:off x="685800" y="2121408"/>
            <a:ext cx="475488" cy="475488"/>
          </a:xfrm>
          <a:prstGeom prst="ellipse">
            <a:avLst/>
          </a:prstGeom>
          <a:solidFill>
            <a:schemeClr val="accent3"/>
          </a:solidFill>
          <a:ln/>
        </p:spPr>
      </p:sp>
      <p:sp>
        <p:nvSpPr>
          <p:cNvPr id="9" name="Text 7"/>
          <p:cNvSpPr txBox="1"/>
          <p:nvPr/>
        </p:nvSpPr>
        <p:spPr>
          <a:xfrm>
            <a:off x="685800" y="21214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Text 8"/>
          <p:cNvSpPr txBox="1"/>
          <p:nvPr/>
        </p:nvSpPr>
        <p:spPr>
          <a:xfrm>
            <a:off x="1280160" y="2103120"/>
            <a:ext cx="1687754" cy="548640"/>
          </a:xfrm>
          <a:prstGeom prst="rect">
            <a:avLst/>
          </a:prstGeom>
          <a:noFill/>
          <a:ln/>
        </p:spPr>
        <p:txBody>
          <a:bodyPr wrap="square" lIns="0" tIns="0" rIns="0" bIns="0" rtlCol="0" anchor="ctr"/>
          <a:lstStyle/>
          <a:p>
            <a:pPr indent="0" marL="0">
              <a:buNone/>
            </a:pPr>
            <a:r>
              <a:rPr lang="en-US" sz="1500" b="1" dirty="0">
                <a:solidFill>
                  <a:schemeClr val="tx1"/>
                </a:solidFill>
              </a:rPr>
              <a:t>Browsers and OS trust stores</a:t>
            </a:r>
            <a:endParaRPr lang="en-US" sz="1500" dirty="0"/>
          </a:p>
        </p:txBody>
      </p:sp>
      <p:sp>
        <p:nvSpPr>
          <p:cNvPr id="11" name="Text 9"/>
          <p:cNvSpPr txBox="1"/>
          <p:nvPr/>
        </p:nvSpPr>
        <p:spPr>
          <a:xfrm>
            <a:off x="685800" y="2743200"/>
            <a:ext cx="2190674" cy="1051560"/>
          </a:xfrm>
          <a:prstGeom prst="rect">
            <a:avLst/>
          </a:prstGeom>
          <a:noFill/>
          <a:ln/>
        </p:spPr>
        <p:txBody>
          <a:bodyPr wrap="square" lIns="0" tIns="0" rIns="0" bIns="0" rtlCol="0" anchor="t"/>
          <a:lstStyle/>
          <a:p>
            <a:pPr indent="0" marL="0">
              <a:buNone/>
            </a:pPr>
            <a:r>
              <a:rPr lang="en-US" sz="1300" dirty="0">
                <a:solidFill>
                  <a:schemeClr val="tx2"/>
                </a:solidFill>
              </a:rPr>
              <a:t>Chrome, Edge, Firefox, Safari; Windows and Apple stores; Android</a:t>
            </a:r>
            <a:endParaRPr lang="en-US" sz="1300" dirty="0"/>
          </a:p>
        </p:txBody>
      </p:sp>
      <p:sp>
        <p:nvSpPr>
          <p:cNvPr id="12" name="Text 10"/>
          <p:cNvSpPr txBox="1"/>
          <p:nvPr/>
        </p:nvSpPr>
        <p:spPr>
          <a:xfrm>
            <a:off x="685800" y="3822192"/>
            <a:ext cx="2190674" cy="548640"/>
          </a:xfrm>
          <a:prstGeom prst="rect">
            <a:avLst/>
          </a:prstGeom>
          <a:noFill/>
          <a:ln/>
        </p:spPr>
        <p:txBody>
          <a:bodyPr wrap="square" lIns="0" tIns="0" rIns="0" bIns="0" rtlCol="0" anchor="t"/>
          <a:lstStyle/>
          <a:p>
            <a:pPr indent="0" marL="0">
              <a:buNone/>
            </a:pPr>
            <a:r>
              <a:rPr lang="en-US" sz="1300" b="1" dirty="0">
                <a:solidFill>
                  <a:schemeClr val="accent3"/>
                </a:solidFill>
              </a:rPr>
              <a:t>Protected by vendor push. Confirm coverage</a:t>
            </a:r>
            <a:endParaRPr lang="en-US" sz="1300" dirty="0"/>
          </a:p>
        </p:txBody>
      </p:sp>
      <p:sp>
        <p:nvSpPr>
          <p:cNvPr id="13" name="Card"/>
          <p:cNvSpPr/>
          <p:nvPr/>
        </p:nvSpPr>
        <p:spPr>
          <a:xfrm>
            <a:off x="3333674" y="1965960"/>
            <a:ext cx="2647874" cy="2514600"/>
          </a:xfrm>
          <a:prstGeom prst="rect">
            <a:avLst/>
          </a:prstGeom>
          <a:solidFill>
            <a:schemeClr val="bg2"/>
          </a:solidFill>
          <a:ln/>
        </p:spPr>
      </p:sp>
      <p:sp>
        <p:nvSpPr>
          <p:cNvPr id="14" name="Shape 12"/>
          <p:cNvSpPr/>
          <p:nvPr/>
        </p:nvSpPr>
        <p:spPr>
          <a:xfrm>
            <a:off x="3562274" y="2121408"/>
            <a:ext cx="475488" cy="475488"/>
          </a:xfrm>
          <a:prstGeom prst="ellipse">
            <a:avLst/>
          </a:prstGeom>
          <a:solidFill>
            <a:schemeClr val="accent2"/>
          </a:solidFill>
          <a:ln/>
        </p:spPr>
      </p:sp>
      <p:sp>
        <p:nvSpPr>
          <p:cNvPr id="15" name="Text 13"/>
          <p:cNvSpPr txBox="1"/>
          <p:nvPr/>
        </p:nvSpPr>
        <p:spPr>
          <a:xfrm>
            <a:off x="3562274" y="21214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6" name="Text 14"/>
          <p:cNvSpPr txBox="1"/>
          <p:nvPr/>
        </p:nvSpPr>
        <p:spPr>
          <a:xfrm>
            <a:off x="4156634" y="2103120"/>
            <a:ext cx="1687754" cy="548640"/>
          </a:xfrm>
          <a:prstGeom prst="rect">
            <a:avLst/>
          </a:prstGeom>
          <a:noFill/>
          <a:ln/>
        </p:spPr>
        <p:txBody>
          <a:bodyPr wrap="square" lIns="0" tIns="0" rIns="0" bIns="0" rtlCol="0" anchor="ctr"/>
          <a:lstStyle/>
          <a:p>
            <a:pPr indent="0" marL="0">
              <a:buNone/>
            </a:pPr>
            <a:r>
              <a:rPr lang="en-US" sz="1500" b="1" dirty="0">
                <a:solidFill>
                  <a:schemeClr val="tx1"/>
                </a:solidFill>
              </a:rPr>
              <a:t>OS-store consumers</a:t>
            </a:r>
            <a:endParaRPr lang="en-US" sz="1500" dirty="0"/>
          </a:p>
        </p:txBody>
      </p:sp>
      <p:sp>
        <p:nvSpPr>
          <p:cNvPr id="17" name="Text 15"/>
          <p:cNvSpPr txBox="1"/>
          <p:nvPr/>
        </p:nvSpPr>
        <p:spPr>
          <a:xfrm>
            <a:off x="3562274" y="2743200"/>
            <a:ext cx="2190674" cy="1051560"/>
          </a:xfrm>
          <a:prstGeom prst="rect">
            <a:avLst/>
          </a:prstGeom>
          <a:noFill/>
          <a:ln/>
        </p:spPr>
        <p:txBody>
          <a:bodyPr wrap="square" lIns="0" tIns="0" rIns="0" bIns="0" rtlCol="0" anchor="t"/>
          <a:lstStyle/>
          <a:p>
            <a:pPr indent="0" marL="0">
              <a:buNone/>
            </a:pPr>
            <a:r>
              <a:rPr lang="en-US" sz="1300" dirty="0">
                <a:solidFill>
                  <a:schemeClr val="tx2"/>
                </a:solidFill>
              </a:rPr>
              <a:t>.NET on Windows, curl, PHP, Ruby, Go on Linux using system roots</a:t>
            </a:r>
            <a:endParaRPr lang="en-US" sz="1300" dirty="0"/>
          </a:p>
        </p:txBody>
      </p:sp>
      <p:sp>
        <p:nvSpPr>
          <p:cNvPr id="18" name="Text 16"/>
          <p:cNvSpPr txBox="1"/>
          <p:nvPr/>
        </p:nvSpPr>
        <p:spPr>
          <a:xfrm>
            <a:off x="3562274" y="3822192"/>
            <a:ext cx="2190674" cy="548640"/>
          </a:xfrm>
          <a:prstGeom prst="rect">
            <a:avLst/>
          </a:prstGeom>
          <a:noFill/>
          <a:ln/>
        </p:spPr>
        <p:txBody>
          <a:bodyPr wrap="square" lIns="0" tIns="0" rIns="0" bIns="0" rtlCol="0" anchor="t"/>
          <a:lstStyle/>
          <a:p>
            <a:pPr indent="0" marL="0">
              <a:buNone/>
            </a:pPr>
            <a:r>
              <a:rPr lang="en-US" sz="1300" b="1" dirty="0">
                <a:solidFill>
                  <a:schemeClr val="accent2"/>
                </a:solidFill>
              </a:rPr>
              <a:t>Protected once the OS update is confirmed</a:t>
            </a:r>
            <a:endParaRPr lang="en-US" sz="1300" dirty="0"/>
          </a:p>
        </p:txBody>
      </p:sp>
      <p:sp>
        <p:nvSpPr>
          <p:cNvPr id="19" name="Card"/>
          <p:cNvSpPr/>
          <p:nvPr/>
        </p:nvSpPr>
        <p:spPr>
          <a:xfrm>
            <a:off x="6210148" y="1965960"/>
            <a:ext cx="2647874" cy="2514600"/>
          </a:xfrm>
          <a:prstGeom prst="rect">
            <a:avLst/>
          </a:prstGeom>
          <a:solidFill>
            <a:schemeClr val="bg2"/>
          </a:solidFill>
          <a:ln/>
        </p:spPr>
      </p:sp>
      <p:sp>
        <p:nvSpPr>
          <p:cNvPr id="20" name="Shape 18"/>
          <p:cNvSpPr/>
          <p:nvPr/>
        </p:nvSpPr>
        <p:spPr>
          <a:xfrm>
            <a:off x="6438748" y="2121408"/>
            <a:ext cx="475488" cy="475488"/>
          </a:xfrm>
          <a:prstGeom prst="ellipse">
            <a:avLst/>
          </a:prstGeom>
          <a:solidFill>
            <a:schemeClr val="accent4"/>
          </a:solidFill>
          <a:ln/>
        </p:spPr>
      </p:sp>
      <p:sp>
        <p:nvSpPr>
          <p:cNvPr id="21" name="Text 19"/>
          <p:cNvSpPr txBox="1"/>
          <p:nvPr/>
        </p:nvSpPr>
        <p:spPr>
          <a:xfrm>
            <a:off x="6438748" y="21214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22" name="Text 20"/>
          <p:cNvSpPr txBox="1"/>
          <p:nvPr/>
        </p:nvSpPr>
        <p:spPr>
          <a:xfrm>
            <a:off x="7033108" y="2103120"/>
            <a:ext cx="1687754" cy="548640"/>
          </a:xfrm>
          <a:prstGeom prst="rect">
            <a:avLst/>
          </a:prstGeom>
          <a:noFill/>
          <a:ln/>
        </p:spPr>
        <p:txBody>
          <a:bodyPr wrap="square" lIns="0" tIns="0" rIns="0" bIns="0" rtlCol="0" anchor="ctr"/>
          <a:lstStyle/>
          <a:p>
            <a:pPr indent="0" marL="0">
              <a:buNone/>
            </a:pPr>
            <a:r>
              <a:rPr lang="en-US" sz="1500" b="1" dirty="0">
                <a:solidFill>
                  <a:schemeClr val="tx1"/>
                </a:solidFill>
              </a:rPr>
              <a:t>Own or compiled trust list</a:t>
            </a:r>
            <a:endParaRPr lang="en-US" sz="1500" dirty="0"/>
          </a:p>
        </p:txBody>
      </p:sp>
      <p:sp>
        <p:nvSpPr>
          <p:cNvPr id="23" name="Text 21"/>
          <p:cNvSpPr txBox="1"/>
          <p:nvPr/>
        </p:nvSpPr>
        <p:spPr>
          <a:xfrm>
            <a:off x="6438748" y="2743200"/>
            <a:ext cx="2190674" cy="1051560"/>
          </a:xfrm>
          <a:prstGeom prst="rect">
            <a:avLst/>
          </a:prstGeom>
          <a:noFill/>
          <a:ln/>
        </p:spPr>
        <p:txBody>
          <a:bodyPr wrap="square" lIns="0" tIns="0" rIns="0" bIns="0" rtlCol="0" anchor="t"/>
          <a:lstStyle/>
          <a:p>
            <a:pPr indent="0" marL="0">
              <a:buNone/>
            </a:pPr>
            <a:r>
              <a:rPr lang="en-US" sz="1300" dirty="0">
                <a:solidFill>
                  <a:schemeClr val="tx2"/>
                </a:solidFill>
              </a:rPr>
              <a:t>Java cacerts, Python certifi, Node built-in roots, Go/Rust binaries, container images</a:t>
            </a:r>
            <a:endParaRPr lang="en-US" sz="1300" dirty="0"/>
          </a:p>
        </p:txBody>
      </p:sp>
      <p:sp>
        <p:nvSpPr>
          <p:cNvPr id="24" name="Text 22"/>
          <p:cNvSpPr txBox="1"/>
          <p:nvPr/>
        </p:nvSpPr>
        <p:spPr>
          <a:xfrm>
            <a:off x="6438748" y="3822192"/>
            <a:ext cx="2190674" cy="548640"/>
          </a:xfrm>
          <a:prstGeom prst="rect">
            <a:avLst/>
          </a:prstGeom>
          <a:noFill/>
          <a:ln/>
        </p:spPr>
        <p:txBody>
          <a:bodyPr wrap="square" lIns="0" tIns="0" rIns="0" bIns="0" rtlCol="0" anchor="t"/>
          <a:lstStyle/>
          <a:p>
            <a:pPr indent="0" marL="0">
              <a:buNone/>
            </a:pPr>
            <a:r>
              <a:rPr lang="en-US" sz="1300" b="1" dirty="0">
                <a:solidFill>
                  <a:schemeClr val="accent4"/>
                </a:solidFill>
              </a:rPr>
              <a:t>Exposed until updated or rebuilt</a:t>
            </a:r>
            <a:endParaRPr lang="en-US" sz="1300" dirty="0"/>
          </a:p>
        </p:txBody>
      </p:sp>
      <p:sp>
        <p:nvSpPr>
          <p:cNvPr id="25" name="Card"/>
          <p:cNvSpPr/>
          <p:nvPr/>
        </p:nvSpPr>
        <p:spPr>
          <a:xfrm>
            <a:off x="9086621" y="1965960"/>
            <a:ext cx="2647874" cy="2514600"/>
          </a:xfrm>
          <a:prstGeom prst="rect">
            <a:avLst/>
          </a:prstGeom>
          <a:solidFill>
            <a:schemeClr val="bg2"/>
          </a:solidFill>
          <a:ln/>
        </p:spPr>
      </p:sp>
      <p:sp>
        <p:nvSpPr>
          <p:cNvPr id="26" name="Shape 24"/>
          <p:cNvSpPr/>
          <p:nvPr/>
        </p:nvSpPr>
        <p:spPr>
          <a:xfrm>
            <a:off x="9315221" y="2121408"/>
            <a:ext cx="475488" cy="475488"/>
          </a:xfrm>
          <a:prstGeom prst="ellipse">
            <a:avLst/>
          </a:prstGeom>
          <a:solidFill>
            <a:schemeClr val="accent1"/>
          </a:solidFill>
          <a:ln/>
        </p:spPr>
      </p:sp>
      <p:sp>
        <p:nvSpPr>
          <p:cNvPr id="27" name="Text 25"/>
          <p:cNvSpPr txBox="1"/>
          <p:nvPr/>
        </p:nvSpPr>
        <p:spPr>
          <a:xfrm>
            <a:off x="9315221" y="21214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8" name="Text 26"/>
          <p:cNvSpPr txBox="1"/>
          <p:nvPr/>
        </p:nvSpPr>
        <p:spPr>
          <a:xfrm>
            <a:off x="9909581" y="2103120"/>
            <a:ext cx="1687754" cy="548640"/>
          </a:xfrm>
          <a:prstGeom prst="rect">
            <a:avLst/>
          </a:prstGeom>
          <a:noFill/>
          <a:ln/>
        </p:spPr>
        <p:txBody>
          <a:bodyPr wrap="square" lIns="0" tIns="0" rIns="0" bIns="0" rtlCol="0" anchor="ctr"/>
          <a:lstStyle/>
          <a:p>
            <a:pPr indent="0" marL="0">
              <a:buNone/>
            </a:pPr>
            <a:r>
              <a:rPr lang="en-US" sz="1500" b="1" dirty="0">
                <a:solidFill>
                  <a:schemeClr val="tx1"/>
                </a:solidFill>
              </a:rPr>
              <a:t>Embedded or vendor-controlled</a:t>
            </a:r>
            <a:endParaRPr lang="en-US" sz="1500" dirty="0"/>
          </a:p>
        </p:txBody>
      </p:sp>
      <p:sp>
        <p:nvSpPr>
          <p:cNvPr id="29" name="Text 27"/>
          <p:cNvSpPr txBox="1"/>
          <p:nvPr/>
        </p:nvSpPr>
        <p:spPr>
          <a:xfrm>
            <a:off x="9315221" y="2743200"/>
            <a:ext cx="2190674" cy="1051560"/>
          </a:xfrm>
          <a:prstGeom prst="rect">
            <a:avLst/>
          </a:prstGeom>
          <a:noFill/>
          <a:ln/>
        </p:spPr>
        <p:txBody>
          <a:bodyPr wrap="square" lIns="0" tIns="0" rIns="0" bIns="0" rtlCol="0" anchor="t"/>
          <a:lstStyle/>
          <a:p>
            <a:pPr indent="0" marL="0">
              <a:buNone/>
            </a:pPr>
            <a:r>
              <a:rPr lang="en-US" sz="1300" dirty="0">
                <a:solidFill>
                  <a:schemeClr val="tx2"/>
                </a:solidFill>
              </a:rPr>
              <a:t>Appliances, agents, packaged products, OT/IoT, SaaS</a:t>
            </a:r>
            <a:endParaRPr lang="en-US" sz="1300" dirty="0"/>
          </a:p>
        </p:txBody>
      </p:sp>
      <p:sp>
        <p:nvSpPr>
          <p:cNvPr id="30" name="Text 28"/>
          <p:cNvSpPr txBox="1"/>
          <p:nvPr/>
        </p:nvSpPr>
        <p:spPr>
          <a:xfrm>
            <a:off x="9315221" y="3822192"/>
            <a:ext cx="2190674" cy="548640"/>
          </a:xfrm>
          <a:prstGeom prst="rect">
            <a:avLst/>
          </a:prstGeom>
          <a:noFill/>
          <a:ln/>
        </p:spPr>
        <p:txBody>
          <a:bodyPr wrap="square" lIns="0" tIns="0" rIns="0" bIns="0" rtlCol="0" anchor="t"/>
          <a:lstStyle/>
          <a:p>
            <a:pPr indent="0" marL="0">
              <a:buNone/>
            </a:pPr>
            <a:r>
              <a:rPr lang="en-US" sz="1300" b="1" dirty="0">
                <a:solidFill>
                  <a:schemeClr val="accent1"/>
                </a:solidFill>
              </a:rPr>
              <a:t>Exposed until the vendor fixes it</a:t>
            </a:r>
            <a:endParaRPr lang="en-US" sz="1300" dirty="0"/>
          </a:p>
        </p:txBody>
      </p:sp>
      <p:sp>
        <p:nvSpPr>
          <p:cNvPr id="31" name="Proxy band"/>
          <p:cNvSpPr/>
          <p:nvPr/>
        </p:nvSpPr>
        <p:spPr>
          <a:xfrm>
            <a:off x="457200" y="4709160"/>
            <a:ext cx="11277295" cy="1280160"/>
          </a:xfrm>
          <a:prstGeom prst="rect">
            <a:avLst/>
          </a:prstGeom>
          <a:solidFill>
            <a:schemeClr val="tx1"/>
          </a:solidFill>
          <a:ln/>
        </p:spPr>
      </p:sp>
      <p:pic>
        <p:nvPicPr>
          <p:cNvPr id="32" name="Image 0" descr="preencoded.png">    </p:cNvPr>
          <p:cNvPicPr>
            <a:picLocks noChangeAspect="1"/>
          </p:cNvPicPr>
          <p:nvPr/>
        </p:nvPicPr>
        <p:blipFill>
          <a:blip r:embed="rId1"/>
          <a:stretch>
            <a:fillRect/>
          </a:stretch>
        </p:blipFill>
        <p:spPr>
          <a:xfrm>
            <a:off x="777240" y="5029200"/>
            <a:ext cx="594360" cy="594360"/>
          </a:xfrm>
          <a:prstGeom prst="rect">
            <a:avLst/>
          </a:prstGeom>
        </p:spPr>
      </p:pic>
      <p:sp>
        <p:nvSpPr>
          <p:cNvPr id="33" name="Text 30"/>
          <p:cNvSpPr txBox="1"/>
          <p:nvPr/>
        </p:nvSpPr>
        <p:spPr>
          <a:xfrm>
            <a:off x="1645920" y="4773168"/>
            <a:ext cx="9814255" cy="1152144"/>
          </a:xfrm>
          <a:prstGeom prst="rect">
            <a:avLst/>
          </a:prstGeom>
          <a:noFill/>
          <a:ln/>
        </p:spPr>
        <p:txBody>
          <a:bodyPr wrap="square" lIns="0" tIns="0" rIns="0" bIns="0" rtlCol="0" anchor="ctr"/>
          <a:lstStyle/>
          <a:p>
            <a:pPr indent="0" marL="0">
              <a:buNone/>
            </a:pPr>
            <a:r>
              <a:rPr lang="en-US" sz="1600" b="1" dirty="0">
                <a:solidFill>
                  <a:schemeClr val="bg1"/>
                </a:solidFill>
              </a:rPr>
              <a:t>TLS-inspection proxy: it is the verifier for every client behind it.</a:t>
            </a:r>
            <a:endParaRPr lang="en-US" sz="1600" dirty="0"/>
          </a:p>
          <a:p>
            <a:pPr indent="0" marL="0">
              <a:buNone/>
            </a:pPr>
            <a:r>
              <a:rPr lang="en-US" sz="1400" dirty="0">
                <a:solidFill>
                  <a:srgbClr val="CADCFC"/>
                </a:solidFill>
              </a:rPr>
              <a:t>Browsers only see the proxy's re-signed certificate, so their blocks never see the real chain. Fix the proxy once and every inspected client is protected on that path, including non-browser software.</a:t>
            </a:r>
            <a:endParaRPr lang="en-US" sz="16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ill"/>
          <p:cNvSpPr/>
          <p:nvPr/>
        </p:nvSpPr>
        <p:spPr>
          <a:xfrm>
            <a:off x="457200" y="292608"/>
            <a:ext cx="1815084" cy="256032"/>
          </a:xfrm>
          <a:prstGeom prst="roundRect">
            <a:avLst>
              <a:gd name="adj" fmla="val 50000"/>
            </a:avLst>
          </a:prstGeom>
          <a:solidFill>
            <a:schemeClr val="bg2"/>
          </a:solidFill>
          <a:ln/>
        </p:spPr>
      </p:sp>
      <p:sp>
        <p:nvSpPr>
          <p:cNvPr id="3" name="Eyebrow"/>
          <p:cNvSpPr txBox="1"/>
          <p:nvPr/>
        </p:nvSpPr>
        <p:spPr>
          <a:xfrm>
            <a:off x="457200" y="292608"/>
            <a:ext cx="1815084"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BROWSERS AND DESKTOPS</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Browsers count as protected only when four enterprise conditions hold</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We record them as “Validated” from a coverage report, not as “fixed” by assumption</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Sources: Google, Mozilla and Microsoft (MSRC) statements; BleepingComputer, CSO Online, Technobezz. Release and package facts checked directly on 26–27 Oct. Detail: README.md, Situation as at 27 October. Not covered: macOS curl result from lilting.ch test, 21 Oct.</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937760" cy="914400"/>
        </p:xfrm>
        <a:graphic>
          <a:graphicData uri="http://schemas.openxmlformats.org/drawingml/2006/table">
            <a:tbl>
              <a:tblPr/>
              <a:tblGrid>
                <a:gridCol w="1417320"/>
                <a:gridCol w="2377440"/>
                <a:gridCol w="1143000"/>
              </a:tblGrid>
              <a:tr h="365760">
                <a:tc>
                  <a:txBody>
                    <a:bodyPr/>
                    <a:lstStyle/>
                    <a:p>
                      <a:pPr indent="0" marL="0">
                        <a:buNone/>
                      </a:pPr>
                      <a:r>
                        <a:rPr lang="en-US" sz="1300" b="1" dirty="0">
                          <a:solidFill>
                            <a:schemeClr val="bg1"/>
                          </a:solidFill>
                        </a:rPr>
                        <a:t>Platform</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Mechanism</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Date</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r>
              <a:tr h="365760">
                <a:tc>
                  <a:txBody>
                    <a:bodyPr/>
                    <a:lstStyle/>
                    <a:p>
                      <a:pPr indent="0" marL="0">
                        <a:buNone/>
                      </a:pPr>
                      <a:r>
                        <a:rPr lang="en-US" sz="1300" dirty="0">
                          <a:solidFill>
                            <a:schemeClr val="tx1"/>
                          </a:solidFill>
                        </a:rPr>
                        <a:t>Chrome</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CRLSet block</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17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Firefox</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OneCRL block</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17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Apple</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 block</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19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Android</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Google Play services</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 19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Windows</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Disallowed list; trust-list removal</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 / 26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Edge</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CRLSet; root removal (availability)</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20 / 27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Chrome</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Root removal (availability)</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27 Oct</a:t>
                      </a:r>
                      <a:endParaRPr lang="en-US" sz="13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bl>
          </a:graphicData>
        </a:graphic>
      </p:graphicFrame>
      <p:sp>
        <p:nvSpPr>
          <p:cNvPr id="8" name="Card"/>
          <p:cNvSpPr/>
          <p:nvPr/>
        </p:nvSpPr>
        <p:spPr>
          <a:xfrm>
            <a:off x="5715000" y="1965960"/>
            <a:ext cx="2895448" cy="1417320"/>
          </a:xfrm>
          <a:prstGeom prst="rect">
            <a:avLst/>
          </a:prstGeom>
          <a:solidFill>
            <a:schemeClr val="bg2"/>
          </a:solidFill>
          <a:ln/>
        </p:spPr>
      </p:sp>
      <p:sp>
        <p:nvSpPr>
          <p:cNvPr id="9" name="Shape 6"/>
          <p:cNvSpPr/>
          <p:nvPr/>
        </p:nvSpPr>
        <p:spPr>
          <a:xfrm>
            <a:off x="5879592" y="2121408"/>
            <a:ext cx="384048" cy="384048"/>
          </a:xfrm>
          <a:prstGeom prst="ellipse">
            <a:avLst/>
          </a:prstGeom>
          <a:solidFill>
            <a:schemeClr val="accent2"/>
          </a:solidFill>
          <a:ln/>
        </p:spPr>
      </p:sp>
      <p:sp>
        <p:nvSpPr>
          <p:cNvPr id="10" name="Text 7"/>
          <p:cNvSpPr txBox="1"/>
          <p:nvPr/>
        </p:nvSpPr>
        <p:spPr>
          <a:xfrm>
            <a:off x="5879592" y="21214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Text 8"/>
          <p:cNvSpPr txBox="1"/>
          <p:nvPr/>
        </p:nvSpPr>
        <p:spPr>
          <a:xfrm>
            <a:off x="6373368" y="2103120"/>
            <a:ext cx="2072488" cy="411480"/>
          </a:xfrm>
          <a:prstGeom prst="rect">
            <a:avLst/>
          </a:prstGeom>
          <a:noFill/>
          <a:ln/>
        </p:spPr>
        <p:txBody>
          <a:bodyPr wrap="square" lIns="0" tIns="0" rIns="0" bIns="0" rtlCol="0" anchor="ctr"/>
          <a:lstStyle/>
          <a:p>
            <a:pPr indent="0" marL="0">
              <a:buNone/>
            </a:pPr>
            <a:r>
              <a:rPr lang="en-US" sz="1500" b="1" dirty="0">
                <a:solidFill>
                  <a:schemeClr val="tx1"/>
                </a:solidFill>
              </a:rPr>
              <a:t>Reachability</a:t>
            </a:r>
            <a:endParaRPr lang="en-US" sz="1500" dirty="0"/>
          </a:p>
        </p:txBody>
      </p:sp>
      <p:sp>
        <p:nvSpPr>
          <p:cNvPr id="12" name="Text 9"/>
          <p:cNvSpPr txBox="1"/>
          <p:nvPr/>
        </p:nvSpPr>
        <p:spPr>
          <a:xfrm>
            <a:off x="5879592" y="2569464"/>
            <a:ext cx="2566264" cy="758952"/>
          </a:xfrm>
          <a:prstGeom prst="rect">
            <a:avLst/>
          </a:prstGeom>
          <a:noFill/>
          <a:ln/>
        </p:spPr>
        <p:txBody>
          <a:bodyPr wrap="square" lIns="0" tIns="0" rIns="0" bIns="0" rtlCol="0" anchor="t"/>
          <a:lstStyle/>
          <a:p>
            <a:pPr indent="0" marL="0">
              <a:buNone/>
            </a:pPr>
            <a:r>
              <a:rPr lang="en-US" sz="1200" dirty="0">
                <a:solidFill>
                  <a:schemeClr val="tx2"/>
                </a:solidFill>
              </a:rPr>
              <a:t>Devices online since 20 Oct; nothing blocks browser component updates, Remote Settings or Windows root auto-update.</a:t>
            </a:r>
            <a:endParaRPr lang="en-US" sz="1200" dirty="0"/>
          </a:p>
        </p:txBody>
      </p:sp>
      <p:sp>
        <p:nvSpPr>
          <p:cNvPr id="13" name="Card"/>
          <p:cNvSpPr/>
          <p:nvPr/>
        </p:nvSpPr>
        <p:spPr>
          <a:xfrm>
            <a:off x="8839048" y="1965960"/>
            <a:ext cx="2895448" cy="1417320"/>
          </a:xfrm>
          <a:prstGeom prst="rect">
            <a:avLst/>
          </a:prstGeom>
          <a:solidFill>
            <a:schemeClr val="bg2"/>
          </a:solidFill>
          <a:ln/>
        </p:spPr>
      </p:sp>
      <p:sp>
        <p:nvSpPr>
          <p:cNvPr id="14" name="Shape 11"/>
          <p:cNvSpPr/>
          <p:nvPr/>
        </p:nvSpPr>
        <p:spPr>
          <a:xfrm>
            <a:off x="9003640" y="2121408"/>
            <a:ext cx="384048" cy="384048"/>
          </a:xfrm>
          <a:prstGeom prst="ellipse">
            <a:avLst/>
          </a:prstGeom>
          <a:solidFill>
            <a:schemeClr val="accent2"/>
          </a:solidFill>
          <a:ln/>
        </p:spPr>
      </p:sp>
      <p:sp>
        <p:nvSpPr>
          <p:cNvPr id="15" name="Text 12"/>
          <p:cNvSpPr txBox="1"/>
          <p:nvPr/>
        </p:nvSpPr>
        <p:spPr>
          <a:xfrm>
            <a:off x="9003640" y="21214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6" name="Text 13"/>
          <p:cNvSpPr txBox="1"/>
          <p:nvPr/>
        </p:nvSpPr>
        <p:spPr>
          <a:xfrm>
            <a:off x="9497416" y="2103120"/>
            <a:ext cx="2072488" cy="411480"/>
          </a:xfrm>
          <a:prstGeom prst="rect">
            <a:avLst/>
          </a:prstGeom>
          <a:noFill/>
          <a:ln/>
        </p:spPr>
        <p:txBody>
          <a:bodyPr wrap="square" lIns="0" tIns="0" rIns="0" bIns="0" rtlCol="0" anchor="ctr"/>
          <a:lstStyle/>
          <a:p>
            <a:pPr indent="0" marL="0">
              <a:buNone/>
            </a:pPr>
            <a:r>
              <a:rPr lang="en-US" sz="1500" b="1" dirty="0">
                <a:solidFill>
                  <a:schemeClr val="tx1"/>
                </a:solidFill>
              </a:rPr>
              <a:t>Currency</a:t>
            </a:r>
            <a:endParaRPr lang="en-US" sz="1500" dirty="0"/>
          </a:p>
        </p:txBody>
      </p:sp>
      <p:sp>
        <p:nvSpPr>
          <p:cNvPr id="17" name="Text 14"/>
          <p:cNvSpPr txBox="1"/>
          <p:nvPr/>
        </p:nvSpPr>
        <p:spPr>
          <a:xfrm>
            <a:off x="9003640" y="2569464"/>
            <a:ext cx="2566264" cy="758952"/>
          </a:xfrm>
          <a:prstGeom prst="rect">
            <a:avLst/>
          </a:prstGeom>
          <a:noFill/>
          <a:ln/>
        </p:spPr>
        <p:txBody>
          <a:bodyPr wrap="square" lIns="0" tIns="0" rIns="0" bIns="0" rtlCol="0" anchor="t"/>
          <a:lstStyle/>
          <a:p>
            <a:pPr indent="0" marL="0">
              <a:buNone/>
            </a:pPr>
            <a:r>
              <a:rPr lang="en-US" sz="1200" dirty="0">
                <a:solidFill>
                  <a:schemeClr val="tx2"/>
                </a:solidFill>
              </a:rPr>
              <a:t>Supported browser and OS versions; Android Play services current.</a:t>
            </a:r>
            <a:endParaRPr lang="en-US" sz="1200" dirty="0"/>
          </a:p>
        </p:txBody>
      </p:sp>
      <p:sp>
        <p:nvSpPr>
          <p:cNvPr id="18" name="Card"/>
          <p:cNvSpPr/>
          <p:nvPr/>
        </p:nvSpPr>
        <p:spPr>
          <a:xfrm>
            <a:off x="5715000" y="3566160"/>
            <a:ext cx="2895448" cy="1417320"/>
          </a:xfrm>
          <a:prstGeom prst="rect">
            <a:avLst/>
          </a:prstGeom>
          <a:solidFill>
            <a:schemeClr val="bg2"/>
          </a:solidFill>
          <a:ln/>
        </p:spPr>
      </p:sp>
      <p:sp>
        <p:nvSpPr>
          <p:cNvPr id="19" name="Shape 16"/>
          <p:cNvSpPr/>
          <p:nvPr/>
        </p:nvSpPr>
        <p:spPr>
          <a:xfrm>
            <a:off x="5879592" y="3721608"/>
            <a:ext cx="384048" cy="384048"/>
          </a:xfrm>
          <a:prstGeom prst="ellipse">
            <a:avLst/>
          </a:prstGeom>
          <a:solidFill>
            <a:schemeClr val="accent2"/>
          </a:solidFill>
          <a:ln/>
        </p:spPr>
      </p:sp>
      <p:sp>
        <p:nvSpPr>
          <p:cNvPr id="20" name="Text 17"/>
          <p:cNvSpPr txBox="1"/>
          <p:nvPr/>
        </p:nvSpPr>
        <p:spPr>
          <a:xfrm>
            <a:off x="5879592" y="37216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 18"/>
          <p:cNvSpPr txBox="1"/>
          <p:nvPr/>
        </p:nvSpPr>
        <p:spPr>
          <a:xfrm>
            <a:off x="6373368" y="3703320"/>
            <a:ext cx="2072488" cy="411480"/>
          </a:xfrm>
          <a:prstGeom prst="rect">
            <a:avLst/>
          </a:prstGeom>
          <a:noFill/>
          <a:ln/>
        </p:spPr>
        <p:txBody>
          <a:bodyPr wrap="square" lIns="0" tIns="0" rIns="0" bIns="0" rtlCol="0" anchor="ctr"/>
          <a:lstStyle/>
          <a:p>
            <a:pPr indent="0" marL="0">
              <a:buNone/>
            </a:pPr>
            <a:r>
              <a:rPr lang="en-US" sz="1500" b="1" dirty="0">
                <a:solidFill>
                  <a:schemeClr val="tx1"/>
                </a:solidFill>
              </a:rPr>
              <a:t>No interception</a:t>
            </a:r>
            <a:endParaRPr lang="en-US" sz="1500" dirty="0"/>
          </a:p>
        </p:txBody>
      </p:sp>
      <p:sp>
        <p:nvSpPr>
          <p:cNvPr id="22" name="Text 19"/>
          <p:cNvSpPr txBox="1"/>
          <p:nvPr/>
        </p:nvSpPr>
        <p:spPr>
          <a:xfrm>
            <a:off x="5879592" y="4169664"/>
            <a:ext cx="2566264" cy="758952"/>
          </a:xfrm>
          <a:prstGeom prst="rect">
            <a:avLst/>
          </a:prstGeom>
          <a:noFill/>
          <a:ln/>
        </p:spPr>
        <p:txBody>
          <a:bodyPr wrap="square" lIns="0" tIns="0" rIns="0" bIns="0" rtlCol="0" anchor="t"/>
          <a:lstStyle/>
          <a:p>
            <a:pPr indent="0" marL="0">
              <a:buNone/>
            </a:pPr>
            <a:r>
              <a:rPr lang="en-US" sz="1200" dirty="0">
                <a:solidFill>
                  <a:schemeClr val="tx2"/>
                </a:solidFill>
              </a:rPr>
              <a:t>Traffic not decrypted by a TLS-inspection proxy, or the proxy has passed PB-09.</a:t>
            </a:r>
            <a:endParaRPr lang="en-US" sz="1200" dirty="0"/>
          </a:p>
        </p:txBody>
      </p:sp>
      <p:sp>
        <p:nvSpPr>
          <p:cNvPr id="23" name="Card"/>
          <p:cNvSpPr/>
          <p:nvPr/>
        </p:nvSpPr>
        <p:spPr>
          <a:xfrm>
            <a:off x="8839048" y="3566160"/>
            <a:ext cx="2895448" cy="1417320"/>
          </a:xfrm>
          <a:prstGeom prst="rect">
            <a:avLst/>
          </a:prstGeom>
          <a:solidFill>
            <a:schemeClr val="bg2"/>
          </a:solidFill>
          <a:ln/>
        </p:spPr>
      </p:sp>
      <p:sp>
        <p:nvSpPr>
          <p:cNvPr id="24" name="Shape 21"/>
          <p:cNvSpPr/>
          <p:nvPr/>
        </p:nvSpPr>
        <p:spPr>
          <a:xfrm>
            <a:off x="9003640" y="3721608"/>
            <a:ext cx="384048" cy="384048"/>
          </a:xfrm>
          <a:prstGeom prst="ellipse">
            <a:avLst/>
          </a:prstGeom>
          <a:solidFill>
            <a:schemeClr val="accent2"/>
          </a:solidFill>
          <a:ln/>
        </p:spPr>
      </p:sp>
      <p:sp>
        <p:nvSpPr>
          <p:cNvPr id="25" name="Text 22"/>
          <p:cNvSpPr txBox="1"/>
          <p:nvPr/>
        </p:nvSpPr>
        <p:spPr>
          <a:xfrm>
            <a:off x="9003640" y="37216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6" name="Text 23"/>
          <p:cNvSpPr txBox="1"/>
          <p:nvPr/>
        </p:nvSpPr>
        <p:spPr>
          <a:xfrm>
            <a:off x="9497416" y="3703320"/>
            <a:ext cx="2072488" cy="411480"/>
          </a:xfrm>
          <a:prstGeom prst="rect">
            <a:avLst/>
          </a:prstGeom>
          <a:noFill/>
          <a:ln/>
        </p:spPr>
        <p:txBody>
          <a:bodyPr wrap="square" lIns="0" tIns="0" rIns="0" bIns="0" rtlCol="0" anchor="ctr"/>
          <a:lstStyle/>
          <a:p>
            <a:pPr indent="0" marL="0">
              <a:buNone/>
            </a:pPr>
            <a:r>
              <a:rPr lang="en-US" sz="1500" b="1" dirty="0">
                <a:solidFill>
                  <a:schemeClr val="tx1"/>
                </a:solidFill>
              </a:rPr>
              <a:t>Image hygiene</a:t>
            </a:r>
            <a:endParaRPr lang="en-US" sz="1500" dirty="0"/>
          </a:p>
        </p:txBody>
      </p:sp>
      <p:sp>
        <p:nvSpPr>
          <p:cNvPr id="27" name="Text 24"/>
          <p:cNvSpPr txBox="1"/>
          <p:nvPr/>
        </p:nvSpPr>
        <p:spPr>
          <a:xfrm>
            <a:off x="9003640" y="4169664"/>
            <a:ext cx="2566264" cy="758952"/>
          </a:xfrm>
          <a:prstGeom prst="rect">
            <a:avLst/>
          </a:prstGeom>
          <a:noFill/>
          <a:ln/>
        </p:spPr>
        <p:txBody>
          <a:bodyPr wrap="square" lIns="0" tIns="0" rIns="0" bIns="0" rtlCol="0" anchor="t"/>
          <a:lstStyle/>
          <a:p>
            <a:pPr indent="0" marL="0">
              <a:buNone/>
            </a:pPr>
            <a:r>
              <a:rPr lang="en-US" sz="1200" dirty="0">
                <a:solidFill>
                  <a:schemeClr val="tx2"/>
                </a:solidFill>
              </a:rPr>
              <a:t>VDI golden images, kiosks and long-offline devices refreshed or checked.</a:t>
            </a:r>
            <a:endParaRPr lang="en-US" sz="1200" dirty="0"/>
          </a:p>
        </p:txBody>
      </p:sp>
      <p:sp>
        <p:nvSpPr>
          <p:cNvPr id="28" name="Not covered band"/>
          <p:cNvSpPr/>
          <p:nvPr/>
        </p:nvSpPr>
        <p:spPr>
          <a:xfrm>
            <a:off x="457200" y="5120640"/>
            <a:ext cx="11277295" cy="960120"/>
          </a:xfrm>
          <a:prstGeom prst="rect">
            <a:avLst/>
          </a:prstGeom>
          <a:solidFill>
            <a:schemeClr val="accent6"/>
          </a:solidFill>
          <a:ln/>
        </p:spPr>
      </p:sp>
      <p:sp>
        <p:nvSpPr>
          <p:cNvPr id="29" name="Text 26"/>
          <p:cNvSpPr txBox="1"/>
          <p:nvPr/>
        </p:nvSpPr>
        <p:spPr>
          <a:xfrm>
            <a:off x="731520" y="5138928"/>
            <a:ext cx="10728655" cy="914400"/>
          </a:xfrm>
          <a:prstGeom prst="rect">
            <a:avLst/>
          </a:prstGeom>
          <a:noFill/>
          <a:ln/>
        </p:spPr>
        <p:txBody>
          <a:bodyPr wrap="square" lIns="0" tIns="0" rIns="0" bIns="0" rtlCol="0" anchor="ctr"/>
          <a:lstStyle/>
          <a:p>
            <a:pPr indent="0" marL="0">
              <a:buNone/>
            </a:pPr>
            <a:r>
              <a:rPr lang="en-US" sz="1400" b="1" dirty="0">
                <a:solidFill>
                  <a:schemeClr val="accent1"/>
                </a:solidFill>
              </a:rPr>
              <a:t>Not covered by the proviso: </a:t>
            </a:r>
            <a:pPr indent="0" marL="0">
              <a:buNone/>
            </a:pPr>
            <a:r>
              <a:rPr lang="en-US" sz="1400" dirty="0">
                <a:solidFill>
                  <a:schemeClr val="tx1"/>
                </a:solidFill>
              </a:rPr>
              <a:t>other software on the same desktop. That includes CLI tools (macOS's built-in curl still accepted the chain after Apple's block), Java, Python, Node and Go apps, Electron apps, VPN/ZTNA and management agents, and developer toolchains. These belong to the long tail.</a:t>
            </a:r>
            <a:endParaRPr lang="en-US" sz="14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ill"/>
          <p:cNvSpPr/>
          <p:nvPr/>
        </p:nvSpPr>
        <p:spPr>
          <a:xfrm>
            <a:off x="457200" y="292608"/>
            <a:ext cx="1193292" cy="256032"/>
          </a:xfrm>
          <a:prstGeom prst="roundRect">
            <a:avLst>
              <a:gd name="adj" fmla="val 50000"/>
            </a:avLst>
          </a:prstGeom>
          <a:solidFill>
            <a:schemeClr val="bg2"/>
          </a:solidFill>
          <a:ln/>
        </p:spPr>
      </p:sp>
      <p:sp>
        <p:nvSpPr>
          <p:cNvPr id="3" name="Eyebrow"/>
          <p:cNvSpPr txBox="1"/>
          <p:nvPr/>
        </p:nvSpPr>
        <p:spPr>
          <a:xfrm>
            <a:off x="457200" y="292608"/>
            <a:ext cx="119329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THE LONG TAIL</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The long tail is where the remaining work and risk sit</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Phase 1 confirms vendor coverage. Phase 2 finds, fixes or contains everything that keeps its own trust list</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Discovery uses egress telemetry we already hold. No CBOM, new scanner or full certificate inventory is required (pack principle retained).</a:t>
            </a:r>
            <a:endParaRPr lang="en-US" sz="1000" dirty="0"/>
          </a:p>
        </p:txBody>
      </p:sp>
      <p:sp>
        <p:nvSpPr>
          <p:cNvPr id="7" name="Phase 1"/>
          <p:cNvSpPr/>
          <p:nvPr/>
        </p:nvSpPr>
        <p:spPr>
          <a:xfrm>
            <a:off x="457200" y="1920240"/>
            <a:ext cx="3291840" cy="502920"/>
          </a:xfrm>
          <a:prstGeom prst="rect">
            <a:avLst/>
          </a:prstGeom>
          <a:solidFill>
            <a:schemeClr val="accent3"/>
          </a:solidFill>
          <a:ln/>
        </p:spPr>
      </p:sp>
      <p:sp>
        <p:nvSpPr>
          <p:cNvPr id="8" name="Text 6"/>
          <p:cNvSpPr txBox="1"/>
          <p:nvPr/>
        </p:nvSpPr>
        <p:spPr>
          <a:xfrm>
            <a:off x="594360" y="1920240"/>
            <a:ext cx="3017520" cy="502920"/>
          </a:xfrm>
          <a:prstGeom prst="rect">
            <a:avLst/>
          </a:prstGeom>
          <a:noFill/>
          <a:ln/>
        </p:spPr>
        <p:txBody>
          <a:bodyPr wrap="square" lIns="0" tIns="0" rIns="0" bIns="0" rtlCol="0" anchor="ctr"/>
          <a:lstStyle/>
          <a:p>
            <a:pPr indent="0" marL="0">
              <a:buNone/>
            </a:pPr>
            <a:r>
              <a:rPr lang="en-US" sz="1300" b="1" dirty="0">
                <a:solidFill>
                  <a:schemeClr val="bg1"/>
                </a:solidFill>
              </a:rPr>
              <a:t>Phase 1 · Vendor-protected: confirm coverage</a:t>
            </a:r>
            <a:endParaRPr lang="en-US" sz="1300" dirty="0"/>
          </a:p>
        </p:txBody>
      </p:sp>
      <p:sp>
        <p:nvSpPr>
          <p:cNvPr id="9" name="Phase 2"/>
          <p:cNvSpPr/>
          <p:nvPr/>
        </p:nvSpPr>
        <p:spPr>
          <a:xfrm>
            <a:off x="3931920" y="1920240"/>
            <a:ext cx="3291840" cy="502920"/>
          </a:xfrm>
          <a:prstGeom prst="rect">
            <a:avLst/>
          </a:prstGeom>
          <a:solidFill>
            <a:schemeClr val="accent1"/>
          </a:solidFill>
          <a:ln/>
        </p:spPr>
      </p:sp>
      <p:sp>
        <p:nvSpPr>
          <p:cNvPr id="10" name="Text 8"/>
          <p:cNvSpPr txBox="1"/>
          <p:nvPr/>
        </p:nvSpPr>
        <p:spPr>
          <a:xfrm>
            <a:off x="4069080" y="1920240"/>
            <a:ext cx="3017520" cy="502920"/>
          </a:xfrm>
          <a:prstGeom prst="rect">
            <a:avLst/>
          </a:prstGeom>
          <a:noFill/>
          <a:ln/>
        </p:spPr>
        <p:txBody>
          <a:bodyPr wrap="square" lIns="0" tIns="0" rIns="0" bIns="0" rtlCol="0" anchor="ctr"/>
          <a:lstStyle/>
          <a:p>
            <a:pPr indent="0" marL="0">
              <a:buNone/>
            </a:pPr>
            <a:r>
              <a:rPr lang="en-US" sz="1300" b="1" dirty="0">
                <a:solidFill>
                  <a:schemeClr val="bg1"/>
                </a:solidFill>
              </a:rPr>
              <a:t>Phase 2 · Long tail: find, fix or contain, prove</a:t>
            </a:r>
            <a:endParaRPr lang="en-US" sz="1300" dirty="0"/>
          </a:p>
        </p:txBody>
      </p:sp>
      <p:sp>
        <p:nvSpPr>
          <p:cNvPr id="11" name="Card"/>
          <p:cNvSpPr/>
          <p:nvPr/>
        </p:nvSpPr>
        <p:spPr>
          <a:xfrm>
            <a:off x="457200" y="2606040"/>
            <a:ext cx="3291840" cy="548640"/>
          </a:xfrm>
          <a:prstGeom prst="rect">
            <a:avLst/>
          </a:prstGeom>
          <a:solidFill>
            <a:schemeClr val="bg2"/>
          </a:solidFill>
          <a:ln/>
        </p:spPr>
      </p:sp>
      <p:sp>
        <p:nvSpPr>
          <p:cNvPr id="12" name="Text 10"/>
          <p:cNvSpPr txBox="1"/>
          <p:nvPr/>
        </p:nvSpPr>
        <p:spPr>
          <a:xfrm>
            <a:off x="640080" y="2606040"/>
            <a:ext cx="3017520" cy="548640"/>
          </a:xfrm>
          <a:prstGeom prst="rect">
            <a:avLst/>
          </a:prstGeom>
          <a:noFill/>
          <a:ln/>
        </p:spPr>
        <p:txBody>
          <a:bodyPr wrap="square" lIns="0" tIns="0" rIns="0" bIns="0" rtlCol="0" anchor="ctr"/>
          <a:lstStyle/>
          <a:p>
            <a:pPr indent="0" marL="0">
              <a:buNone/>
            </a:pPr>
            <a:r>
              <a:rPr lang="en-US" sz="1400" dirty="0">
                <a:solidFill>
                  <a:schemeClr val="tx1"/>
                </a:solidFill>
              </a:rPr>
              <a:t>Server-side API clients</a:t>
            </a:r>
            <a:endParaRPr lang="en-US" sz="1400" dirty="0"/>
          </a:p>
        </p:txBody>
      </p:sp>
      <p:sp>
        <p:nvSpPr>
          <p:cNvPr id="13" name="Card"/>
          <p:cNvSpPr/>
          <p:nvPr/>
        </p:nvSpPr>
        <p:spPr>
          <a:xfrm>
            <a:off x="3931920" y="2606040"/>
            <a:ext cx="3291840" cy="548640"/>
          </a:xfrm>
          <a:prstGeom prst="rect">
            <a:avLst/>
          </a:prstGeom>
          <a:solidFill>
            <a:schemeClr val="bg2"/>
          </a:solidFill>
          <a:ln/>
        </p:spPr>
      </p:sp>
      <p:sp>
        <p:nvSpPr>
          <p:cNvPr id="14" name="Text 12"/>
          <p:cNvSpPr txBox="1"/>
          <p:nvPr/>
        </p:nvSpPr>
        <p:spPr>
          <a:xfrm>
            <a:off x="4114800" y="2606040"/>
            <a:ext cx="3017520" cy="548640"/>
          </a:xfrm>
          <a:prstGeom prst="rect">
            <a:avLst/>
          </a:prstGeom>
          <a:noFill/>
          <a:ln/>
        </p:spPr>
        <p:txBody>
          <a:bodyPr wrap="square" lIns="0" tIns="0" rIns="0" bIns="0" rtlCol="0" anchor="ctr"/>
          <a:lstStyle/>
          <a:p>
            <a:pPr indent="0" marL="0">
              <a:buNone/>
            </a:pPr>
            <a:r>
              <a:rPr lang="en-US" sz="1400" dirty="0">
                <a:solidFill>
                  <a:schemeClr val="tx1"/>
                </a:solidFill>
              </a:rPr>
              <a:t>Runtimes with own bundles</a:t>
            </a:r>
            <a:endParaRPr lang="en-US" sz="1400" dirty="0"/>
          </a:p>
        </p:txBody>
      </p:sp>
      <p:sp>
        <p:nvSpPr>
          <p:cNvPr id="15" name="Card"/>
          <p:cNvSpPr/>
          <p:nvPr/>
        </p:nvSpPr>
        <p:spPr>
          <a:xfrm>
            <a:off x="457200" y="3273552"/>
            <a:ext cx="3291840" cy="548640"/>
          </a:xfrm>
          <a:prstGeom prst="rect">
            <a:avLst/>
          </a:prstGeom>
          <a:solidFill>
            <a:schemeClr val="bg2"/>
          </a:solidFill>
          <a:ln/>
        </p:spPr>
      </p:sp>
      <p:sp>
        <p:nvSpPr>
          <p:cNvPr id="16" name="Text 14"/>
          <p:cNvSpPr txBox="1"/>
          <p:nvPr/>
        </p:nvSpPr>
        <p:spPr>
          <a:xfrm>
            <a:off x="640080" y="3273552"/>
            <a:ext cx="3017520" cy="548640"/>
          </a:xfrm>
          <a:prstGeom prst="rect">
            <a:avLst/>
          </a:prstGeom>
          <a:noFill/>
          <a:ln/>
        </p:spPr>
        <p:txBody>
          <a:bodyPr wrap="square" lIns="0" tIns="0" rIns="0" bIns="0" rtlCol="0" anchor="ctr"/>
          <a:lstStyle/>
          <a:p>
            <a:pPr indent="0" marL="0">
              <a:buNone/>
            </a:pPr>
            <a:r>
              <a:rPr lang="en-US" sz="1400" dirty="0">
                <a:solidFill>
                  <a:schemeClr val="tx1"/>
                </a:solidFill>
              </a:rPr>
              <a:t>Containers and serverless</a:t>
            </a:r>
            <a:endParaRPr lang="en-US" sz="1400" dirty="0"/>
          </a:p>
        </p:txBody>
      </p:sp>
      <p:sp>
        <p:nvSpPr>
          <p:cNvPr id="17" name="Card"/>
          <p:cNvSpPr/>
          <p:nvPr/>
        </p:nvSpPr>
        <p:spPr>
          <a:xfrm>
            <a:off x="3931920" y="3273552"/>
            <a:ext cx="3291840" cy="548640"/>
          </a:xfrm>
          <a:prstGeom prst="rect">
            <a:avLst/>
          </a:prstGeom>
          <a:solidFill>
            <a:schemeClr val="bg2"/>
          </a:solidFill>
          <a:ln/>
        </p:spPr>
      </p:sp>
      <p:sp>
        <p:nvSpPr>
          <p:cNvPr id="18" name="Text 16"/>
          <p:cNvSpPr txBox="1"/>
          <p:nvPr/>
        </p:nvSpPr>
        <p:spPr>
          <a:xfrm>
            <a:off x="4114800" y="3273552"/>
            <a:ext cx="3017520" cy="548640"/>
          </a:xfrm>
          <a:prstGeom prst="rect">
            <a:avLst/>
          </a:prstGeom>
          <a:noFill/>
          <a:ln/>
        </p:spPr>
        <p:txBody>
          <a:bodyPr wrap="square" lIns="0" tIns="0" rIns="0" bIns="0" rtlCol="0" anchor="ctr"/>
          <a:lstStyle/>
          <a:p>
            <a:pPr indent="0" marL="0">
              <a:buNone/>
            </a:pPr>
            <a:r>
              <a:rPr lang="en-US" sz="1400" dirty="0">
                <a:solidFill>
                  <a:schemeClr val="tx1"/>
                </a:solidFill>
              </a:rPr>
              <a:t>CI/CD and artifact proxies</a:t>
            </a:r>
            <a:endParaRPr lang="en-US" sz="1400" dirty="0"/>
          </a:p>
        </p:txBody>
      </p:sp>
      <p:sp>
        <p:nvSpPr>
          <p:cNvPr id="19" name="Card"/>
          <p:cNvSpPr/>
          <p:nvPr/>
        </p:nvSpPr>
        <p:spPr>
          <a:xfrm>
            <a:off x="457200" y="3941064"/>
            <a:ext cx="3291840" cy="548640"/>
          </a:xfrm>
          <a:prstGeom prst="rect">
            <a:avLst/>
          </a:prstGeom>
          <a:solidFill>
            <a:schemeClr val="bg2"/>
          </a:solidFill>
          <a:ln/>
        </p:spPr>
      </p:sp>
      <p:sp>
        <p:nvSpPr>
          <p:cNvPr id="20" name="Text 18"/>
          <p:cNvSpPr txBox="1"/>
          <p:nvPr/>
        </p:nvSpPr>
        <p:spPr>
          <a:xfrm>
            <a:off x="640080" y="3941064"/>
            <a:ext cx="3017520" cy="548640"/>
          </a:xfrm>
          <a:prstGeom prst="rect">
            <a:avLst/>
          </a:prstGeom>
          <a:noFill/>
          <a:ln/>
        </p:spPr>
        <p:txBody>
          <a:bodyPr wrap="square" lIns="0" tIns="0" rIns="0" bIns="0" rtlCol="0" anchor="ctr"/>
          <a:lstStyle/>
          <a:p>
            <a:pPr indent="0" marL="0">
              <a:buNone/>
            </a:pPr>
            <a:r>
              <a:rPr lang="en-US" sz="1400" dirty="0">
                <a:solidFill>
                  <a:schemeClr val="tx1"/>
                </a:solidFill>
              </a:rPr>
              <a:t>Desktop non-browser software</a:t>
            </a:r>
            <a:endParaRPr lang="en-US" sz="1400" dirty="0"/>
          </a:p>
        </p:txBody>
      </p:sp>
      <p:sp>
        <p:nvSpPr>
          <p:cNvPr id="21" name="Card"/>
          <p:cNvSpPr/>
          <p:nvPr/>
        </p:nvSpPr>
        <p:spPr>
          <a:xfrm>
            <a:off x="3931920" y="3941064"/>
            <a:ext cx="3291840" cy="548640"/>
          </a:xfrm>
          <a:prstGeom prst="rect">
            <a:avLst/>
          </a:prstGeom>
          <a:solidFill>
            <a:schemeClr val="bg2"/>
          </a:solidFill>
          <a:ln/>
        </p:spPr>
      </p:sp>
      <p:sp>
        <p:nvSpPr>
          <p:cNvPr id="22" name="Text 20"/>
          <p:cNvSpPr txBox="1"/>
          <p:nvPr/>
        </p:nvSpPr>
        <p:spPr>
          <a:xfrm>
            <a:off x="4114800" y="3941064"/>
            <a:ext cx="3017520" cy="548640"/>
          </a:xfrm>
          <a:prstGeom prst="rect">
            <a:avLst/>
          </a:prstGeom>
          <a:noFill/>
          <a:ln/>
        </p:spPr>
        <p:txBody>
          <a:bodyPr wrap="square" lIns="0" tIns="0" rIns="0" bIns="0" rtlCol="0" anchor="ctr"/>
          <a:lstStyle/>
          <a:p>
            <a:pPr indent="0" marL="0">
              <a:buNone/>
            </a:pPr>
            <a:r>
              <a:rPr lang="en-US" sz="1400" dirty="0">
                <a:solidFill>
                  <a:schemeClr val="tx1"/>
                </a:solidFill>
              </a:rPr>
              <a:t>Network and security appliances</a:t>
            </a:r>
            <a:endParaRPr lang="en-US" sz="1400" dirty="0"/>
          </a:p>
        </p:txBody>
      </p:sp>
      <p:sp>
        <p:nvSpPr>
          <p:cNvPr id="23" name="Card"/>
          <p:cNvSpPr/>
          <p:nvPr/>
        </p:nvSpPr>
        <p:spPr>
          <a:xfrm>
            <a:off x="457200" y="4608576"/>
            <a:ext cx="3291840" cy="548640"/>
          </a:xfrm>
          <a:prstGeom prst="rect">
            <a:avLst/>
          </a:prstGeom>
          <a:solidFill>
            <a:schemeClr val="bg2"/>
          </a:solidFill>
          <a:ln/>
        </p:spPr>
      </p:sp>
      <p:sp>
        <p:nvSpPr>
          <p:cNvPr id="24" name="Text 22"/>
          <p:cNvSpPr txBox="1"/>
          <p:nvPr/>
        </p:nvSpPr>
        <p:spPr>
          <a:xfrm>
            <a:off x="640080" y="4608576"/>
            <a:ext cx="3017520" cy="548640"/>
          </a:xfrm>
          <a:prstGeom prst="rect">
            <a:avLst/>
          </a:prstGeom>
          <a:noFill/>
          <a:ln/>
        </p:spPr>
        <p:txBody>
          <a:bodyPr wrap="square" lIns="0" tIns="0" rIns="0" bIns="0" rtlCol="0" anchor="ctr"/>
          <a:lstStyle/>
          <a:p>
            <a:pPr indent="0" marL="0">
              <a:buNone/>
            </a:pPr>
            <a:r>
              <a:rPr lang="en-US" sz="1400" dirty="0">
                <a:solidFill>
                  <a:schemeClr val="tx1"/>
                </a:solidFill>
              </a:rPr>
              <a:t>VPN, ZTNA and agents</a:t>
            </a:r>
            <a:endParaRPr lang="en-US" sz="1400" dirty="0"/>
          </a:p>
        </p:txBody>
      </p:sp>
      <p:sp>
        <p:nvSpPr>
          <p:cNvPr id="25" name="Card"/>
          <p:cNvSpPr/>
          <p:nvPr/>
        </p:nvSpPr>
        <p:spPr>
          <a:xfrm>
            <a:off x="3931920" y="4608576"/>
            <a:ext cx="3291840" cy="548640"/>
          </a:xfrm>
          <a:prstGeom prst="rect">
            <a:avLst/>
          </a:prstGeom>
          <a:solidFill>
            <a:schemeClr val="bg2"/>
          </a:solidFill>
          <a:ln/>
        </p:spPr>
      </p:sp>
      <p:sp>
        <p:nvSpPr>
          <p:cNvPr id="26" name="Text 24"/>
          <p:cNvSpPr txBox="1"/>
          <p:nvPr/>
        </p:nvSpPr>
        <p:spPr>
          <a:xfrm>
            <a:off x="4114800" y="4608576"/>
            <a:ext cx="3017520" cy="548640"/>
          </a:xfrm>
          <a:prstGeom prst="rect">
            <a:avLst/>
          </a:prstGeom>
          <a:noFill/>
          <a:ln/>
        </p:spPr>
        <p:txBody>
          <a:bodyPr wrap="square" lIns="0" tIns="0" rIns="0" bIns="0" rtlCol="0" anchor="ctr"/>
          <a:lstStyle/>
          <a:p>
            <a:pPr indent="0" marL="0">
              <a:buNone/>
            </a:pPr>
            <a:r>
              <a:rPr lang="en-US" sz="1400" dirty="0">
                <a:solidFill>
                  <a:schemeClr val="tx1"/>
                </a:solidFill>
              </a:rPr>
              <a:t>OT, IoT and facilities</a:t>
            </a:r>
            <a:endParaRPr lang="en-US" sz="1400" dirty="0"/>
          </a:p>
        </p:txBody>
      </p:sp>
      <p:sp>
        <p:nvSpPr>
          <p:cNvPr id="27" name="Card"/>
          <p:cNvSpPr/>
          <p:nvPr/>
        </p:nvSpPr>
        <p:spPr>
          <a:xfrm>
            <a:off x="457200" y="5276088"/>
            <a:ext cx="3291840" cy="548640"/>
          </a:xfrm>
          <a:prstGeom prst="rect">
            <a:avLst/>
          </a:prstGeom>
          <a:solidFill>
            <a:schemeClr val="bg2"/>
          </a:solidFill>
          <a:ln/>
        </p:spPr>
      </p:sp>
      <p:sp>
        <p:nvSpPr>
          <p:cNvPr id="28" name="Text 26"/>
          <p:cNvSpPr txBox="1"/>
          <p:nvPr/>
        </p:nvSpPr>
        <p:spPr>
          <a:xfrm>
            <a:off x="640080" y="5276088"/>
            <a:ext cx="3017520" cy="548640"/>
          </a:xfrm>
          <a:prstGeom prst="rect">
            <a:avLst/>
          </a:prstGeom>
          <a:noFill/>
          <a:ln/>
        </p:spPr>
        <p:txBody>
          <a:bodyPr wrap="square" lIns="0" tIns="0" rIns="0" bIns="0" rtlCol="0" anchor="ctr"/>
          <a:lstStyle/>
          <a:p>
            <a:pPr indent="0" marL="0">
              <a:buNone/>
            </a:pPr>
            <a:r>
              <a:rPr lang="en-US" sz="1400" dirty="0">
                <a:solidFill>
                  <a:schemeClr val="tx1"/>
                </a:solidFill>
              </a:rPr>
              <a:t>In-house mobile apps</a:t>
            </a:r>
            <a:endParaRPr lang="en-US" sz="1400" dirty="0"/>
          </a:p>
        </p:txBody>
      </p:sp>
      <p:sp>
        <p:nvSpPr>
          <p:cNvPr id="29" name="Card"/>
          <p:cNvSpPr/>
          <p:nvPr/>
        </p:nvSpPr>
        <p:spPr>
          <a:xfrm>
            <a:off x="3931920" y="5276088"/>
            <a:ext cx="3291840" cy="548640"/>
          </a:xfrm>
          <a:prstGeom prst="rect">
            <a:avLst/>
          </a:prstGeom>
          <a:solidFill>
            <a:schemeClr val="bg2"/>
          </a:solidFill>
          <a:ln/>
        </p:spPr>
      </p:sp>
      <p:sp>
        <p:nvSpPr>
          <p:cNvPr id="30" name="Text 28"/>
          <p:cNvSpPr txBox="1"/>
          <p:nvPr/>
        </p:nvSpPr>
        <p:spPr>
          <a:xfrm>
            <a:off x="4114800" y="5276088"/>
            <a:ext cx="3017520" cy="548640"/>
          </a:xfrm>
          <a:prstGeom prst="rect">
            <a:avLst/>
          </a:prstGeom>
          <a:noFill/>
          <a:ln/>
        </p:spPr>
        <p:txBody>
          <a:bodyPr wrap="square" lIns="0" tIns="0" rIns="0" bIns="0" rtlCol="0" anchor="ctr"/>
          <a:lstStyle/>
          <a:p>
            <a:pPr indent="0" marL="0">
              <a:buNone/>
            </a:pPr>
            <a:r>
              <a:rPr lang="en-US" sz="1400" dirty="0">
                <a:solidFill>
                  <a:schemeClr val="tx1"/>
                </a:solidFill>
              </a:rPr>
              <a:t>Suppliers, SaaS and inbound mTLS</a:t>
            </a:r>
            <a:endParaRPr lang="en-US" sz="1400" dirty="0"/>
          </a:p>
        </p:txBody>
      </p:sp>
      <p:sp>
        <p:nvSpPr>
          <p:cNvPr id="31" name="Discovery panel"/>
          <p:cNvSpPr/>
          <p:nvPr/>
        </p:nvSpPr>
        <p:spPr>
          <a:xfrm>
            <a:off x="7543800" y="1920240"/>
            <a:ext cx="4190695" cy="4114800"/>
          </a:xfrm>
          <a:prstGeom prst="rect">
            <a:avLst/>
          </a:prstGeom>
          <a:solidFill>
            <a:schemeClr val="tx1"/>
          </a:solidFill>
          <a:ln/>
        </p:spPr>
      </p:sp>
      <p:sp>
        <p:nvSpPr>
          <p:cNvPr id="32" name="Text 30"/>
          <p:cNvSpPr txBox="1"/>
          <p:nvPr/>
        </p:nvSpPr>
        <p:spPr>
          <a:xfrm>
            <a:off x="7818120" y="2057400"/>
            <a:ext cx="3642055"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Find it without a CBOM</a:t>
            </a:r>
            <a:endParaRPr lang="en-US" sz="1800" dirty="0"/>
          </a:p>
        </p:txBody>
      </p:sp>
      <p:sp>
        <p:nvSpPr>
          <p:cNvPr id="33" name="Text 31"/>
          <p:cNvSpPr txBox="1"/>
          <p:nvPr/>
        </p:nvSpPr>
        <p:spPr>
          <a:xfrm>
            <a:off x="7818120" y="2606040"/>
            <a:ext cx="365760" cy="365760"/>
          </a:xfrm>
          <a:prstGeom prst="rect">
            <a:avLst/>
          </a:prstGeom>
          <a:noFill/>
          <a:ln/>
        </p:spPr>
        <p:txBody>
          <a:bodyPr wrap="square" lIns="0" tIns="0" rIns="0" bIns="0" rtlCol="0" anchor="ctr"/>
          <a:lstStyle/>
          <a:p>
            <a:pPr indent="0" marL="0">
              <a:buNone/>
            </a:pPr>
            <a:r>
              <a:rPr lang="en-US" sz="1800" b="1" dirty="0">
                <a:solidFill>
                  <a:srgbClr val="F2B8AD"/>
                </a:solidFill>
              </a:rPr>
              <a:t>1</a:t>
            </a:r>
            <a:endParaRPr lang="en-US" sz="1800" dirty="0"/>
          </a:p>
        </p:txBody>
      </p:sp>
      <p:sp>
        <p:nvSpPr>
          <p:cNvPr id="34" name="Text 32"/>
          <p:cNvSpPr txBox="1"/>
          <p:nvPr/>
        </p:nvSpPr>
        <p:spPr>
          <a:xfrm>
            <a:off x="8229600" y="2606040"/>
            <a:ext cx="3276295" cy="777240"/>
          </a:xfrm>
          <a:prstGeom prst="rect">
            <a:avLst/>
          </a:prstGeom>
          <a:noFill/>
          <a:ln/>
        </p:spPr>
        <p:txBody>
          <a:bodyPr wrap="square" lIns="0" tIns="0" rIns="0" bIns="0" rtlCol="0" anchor="t"/>
          <a:lstStyle/>
          <a:p>
            <a:pPr indent="0" marL="0">
              <a:buNone/>
            </a:pPr>
            <a:r>
              <a:rPr lang="en-US" sz="1400" b="1" dirty="0">
                <a:solidFill>
                  <a:schemeClr val="bg1"/>
                </a:solidFill>
              </a:rPr>
              <a:t>Egress telemetry</a:t>
            </a:r>
            <a:endParaRPr lang="en-US" sz="1400" dirty="0"/>
          </a:p>
          <a:p>
            <a:pPr indent="0" marL="0">
              <a:buNone/>
            </a:pPr>
            <a:r>
              <a:rPr lang="en-US" sz="1200" dirty="0">
                <a:solidFill>
                  <a:srgbClr val="CADCFC"/>
                </a:solidFill>
              </a:rPr>
              <a:t>30 days of outbound TLS from proxy, firewall, NAT and cloud egress logs, by source.</a:t>
            </a:r>
            <a:endParaRPr lang="en-US" sz="1400" dirty="0"/>
          </a:p>
        </p:txBody>
      </p:sp>
      <p:sp>
        <p:nvSpPr>
          <p:cNvPr id="35" name="Text 33"/>
          <p:cNvSpPr txBox="1"/>
          <p:nvPr/>
        </p:nvSpPr>
        <p:spPr>
          <a:xfrm>
            <a:off x="7818120" y="3447288"/>
            <a:ext cx="365760" cy="365760"/>
          </a:xfrm>
          <a:prstGeom prst="rect">
            <a:avLst/>
          </a:prstGeom>
          <a:noFill/>
          <a:ln/>
        </p:spPr>
        <p:txBody>
          <a:bodyPr wrap="square" lIns="0" tIns="0" rIns="0" bIns="0" rtlCol="0" anchor="ctr"/>
          <a:lstStyle/>
          <a:p>
            <a:pPr indent="0" marL="0">
              <a:buNone/>
            </a:pPr>
            <a:r>
              <a:rPr lang="en-US" sz="1800" b="1" dirty="0">
                <a:solidFill>
                  <a:srgbClr val="F2B8AD"/>
                </a:solidFill>
              </a:rPr>
              <a:t>2</a:t>
            </a:r>
            <a:endParaRPr lang="en-US" sz="1800" dirty="0"/>
          </a:p>
        </p:txBody>
      </p:sp>
      <p:sp>
        <p:nvSpPr>
          <p:cNvPr id="36" name="Text 34"/>
          <p:cNvSpPr txBox="1"/>
          <p:nvPr/>
        </p:nvSpPr>
        <p:spPr>
          <a:xfrm>
            <a:off x="8229600" y="3447288"/>
            <a:ext cx="3276295" cy="777240"/>
          </a:xfrm>
          <a:prstGeom prst="rect">
            <a:avLst/>
          </a:prstGeom>
          <a:noFill/>
          <a:ln/>
        </p:spPr>
        <p:txBody>
          <a:bodyPr wrap="square" lIns="0" tIns="0" rIns="0" bIns="0" rtlCol="0" anchor="t"/>
          <a:lstStyle/>
          <a:p>
            <a:pPr indent="0" marL="0">
              <a:buNone/>
            </a:pPr>
            <a:r>
              <a:rPr lang="en-US" sz="1400" b="1" dirty="0">
                <a:solidFill>
                  <a:schemeClr val="bg1"/>
                </a:solidFill>
              </a:rPr>
              <a:t>Map to owners</a:t>
            </a:r>
            <a:endParaRPr lang="en-US" sz="1400" dirty="0"/>
          </a:p>
          <a:p>
            <a:pPr indent="0" marL="0">
              <a:buNone/>
            </a:pPr>
            <a:r>
              <a:rPr lang="en-US" sz="1200" dirty="0">
                <a:solidFill>
                  <a:srgbClr val="CADCFC"/>
                </a:solidFill>
              </a:rPr>
              <a:t>Each source becomes a long-tail record (workbook sheet).</a:t>
            </a:r>
            <a:endParaRPr lang="en-US" sz="1400" dirty="0"/>
          </a:p>
        </p:txBody>
      </p:sp>
      <p:sp>
        <p:nvSpPr>
          <p:cNvPr id="37" name="Text 35"/>
          <p:cNvSpPr txBox="1"/>
          <p:nvPr/>
        </p:nvSpPr>
        <p:spPr>
          <a:xfrm>
            <a:off x="7818120" y="4288536"/>
            <a:ext cx="365760" cy="365760"/>
          </a:xfrm>
          <a:prstGeom prst="rect">
            <a:avLst/>
          </a:prstGeom>
          <a:noFill/>
          <a:ln/>
        </p:spPr>
        <p:txBody>
          <a:bodyPr wrap="square" lIns="0" tIns="0" rIns="0" bIns="0" rtlCol="0" anchor="ctr"/>
          <a:lstStyle/>
          <a:p>
            <a:pPr indent="0" marL="0">
              <a:buNone/>
            </a:pPr>
            <a:r>
              <a:rPr lang="en-US" sz="1800" b="1" dirty="0">
                <a:solidFill>
                  <a:srgbClr val="F2B8AD"/>
                </a:solidFill>
              </a:rPr>
              <a:t>3</a:t>
            </a:r>
            <a:endParaRPr lang="en-US" sz="1800" dirty="0"/>
          </a:p>
        </p:txBody>
      </p:sp>
      <p:sp>
        <p:nvSpPr>
          <p:cNvPr id="38" name="Text 36"/>
          <p:cNvSpPr txBox="1"/>
          <p:nvPr/>
        </p:nvSpPr>
        <p:spPr>
          <a:xfrm>
            <a:off x="8229600" y="4288536"/>
            <a:ext cx="3276295" cy="777240"/>
          </a:xfrm>
          <a:prstGeom prst="rect">
            <a:avLst/>
          </a:prstGeom>
          <a:noFill/>
          <a:ln/>
        </p:spPr>
        <p:txBody>
          <a:bodyPr wrap="square" lIns="0" tIns="0" rIns="0" bIns="0" rtlCol="0" anchor="t"/>
          <a:lstStyle/>
          <a:p>
            <a:pPr indent="0" marL="0">
              <a:buNone/>
            </a:pPr>
            <a:r>
              <a:rPr lang="en-US" sz="1400" b="1" dirty="0">
                <a:solidFill>
                  <a:schemeClr val="bg1"/>
                </a:solidFill>
              </a:rPr>
              <a:t>Direct-to-internet = finding</a:t>
            </a:r>
            <a:endParaRPr lang="en-US" sz="1400" dirty="0"/>
          </a:p>
          <a:p>
            <a:pPr indent="0" marL="0">
              <a:buNone/>
            </a:pPr>
            <a:r>
              <a:rPr lang="en-US" sz="1200" dirty="0">
                <a:solidFill>
                  <a:srgbClr val="CADCFC"/>
                </a:solidFill>
              </a:rPr>
              <a:t>TLS that bypasses the proxy has no shared control.</a:t>
            </a:r>
            <a:endParaRPr lang="en-US" sz="1400" dirty="0"/>
          </a:p>
        </p:txBody>
      </p:sp>
      <p:sp>
        <p:nvSpPr>
          <p:cNvPr id="39" name="Text 37"/>
          <p:cNvSpPr txBox="1"/>
          <p:nvPr/>
        </p:nvSpPr>
        <p:spPr>
          <a:xfrm>
            <a:off x="7818120" y="5129784"/>
            <a:ext cx="365760" cy="365760"/>
          </a:xfrm>
          <a:prstGeom prst="rect">
            <a:avLst/>
          </a:prstGeom>
          <a:noFill/>
          <a:ln/>
        </p:spPr>
        <p:txBody>
          <a:bodyPr wrap="square" lIns="0" tIns="0" rIns="0" bIns="0" rtlCol="0" anchor="ctr"/>
          <a:lstStyle/>
          <a:p>
            <a:pPr indent="0" marL="0">
              <a:buNone/>
            </a:pPr>
            <a:r>
              <a:rPr lang="en-US" sz="1800" b="1" dirty="0">
                <a:solidFill>
                  <a:srgbClr val="F2B8AD"/>
                </a:solidFill>
              </a:rPr>
              <a:t>4</a:t>
            </a:r>
            <a:endParaRPr lang="en-US" sz="1800" dirty="0"/>
          </a:p>
        </p:txBody>
      </p:sp>
      <p:sp>
        <p:nvSpPr>
          <p:cNvPr id="40" name="Text 38"/>
          <p:cNvSpPr txBox="1"/>
          <p:nvPr/>
        </p:nvSpPr>
        <p:spPr>
          <a:xfrm>
            <a:off x="8229600" y="5129784"/>
            <a:ext cx="3276295" cy="777240"/>
          </a:xfrm>
          <a:prstGeom prst="rect">
            <a:avLst/>
          </a:prstGeom>
          <a:noFill/>
          <a:ln/>
        </p:spPr>
        <p:txBody>
          <a:bodyPr wrap="square" lIns="0" tIns="0" rIns="0" bIns="0" rtlCol="0" anchor="t"/>
          <a:lstStyle/>
          <a:p>
            <a:pPr indent="0" marL="0">
              <a:buNone/>
            </a:pPr>
            <a:r>
              <a:rPr lang="en-US" sz="1400" b="1" dirty="0">
                <a:solidFill>
                  <a:schemeClr val="bg1"/>
                </a:solidFill>
              </a:rPr>
              <a:t>Add inventories</a:t>
            </a:r>
            <a:endParaRPr lang="en-US" sz="1400" dirty="0"/>
          </a:p>
          <a:p>
            <a:pPr indent="0" marL="0">
              <a:buNone/>
            </a:pPr>
            <a:r>
              <a:rPr lang="en-US" sz="1200" dirty="0">
                <a:solidFill>
                  <a:srgbClr val="CADCFC"/>
                </a:solidFill>
              </a:rPr>
              <a:t>Software inventory, container registry, supplier register.</a:t>
            </a:r>
            <a:endParaRPr lang="en-US" sz="14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ill"/>
          <p:cNvSpPr/>
          <p:nvPr/>
        </p:nvSpPr>
        <p:spPr>
          <a:xfrm>
            <a:off x="457200" y="292608"/>
            <a:ext cx="1970532" cy="256032"/>
          </a:xfrm>
          <a:prstGeom prst="roundRect">
            <a:avLst>
              <a:gd name="adj" fmla="val 50000"/>
            </a:avLst>
          </a:prstGeom>
          <a:solidFill>
            <a:schemeClr val="bg2"/>
          </a:solidFill>
          <a:ln/>
        </p:spPr>
      </p:sp>
      <p:sp>
        <p:nvSpPr>
          <p:cNvPr id="3" name="Eyebrow"/>
          <p:cNvSpPr txBox="1"/>
          <p:nvPr/>
        </p:nvSpPr>
        <p:spPr>
          <a:xfrm>
            <a:off x="457200" y="292608"/>
            <a:ext cx="197053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PRIORITISATION · 1 OF 2</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Every system gets two ratings: how bad a forged certificate would be, and whether it would be accepted</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Priority combines the two (next slide). Full definitions: RISK_TIERS.md sections 2 and 3</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Behind a TLS-inspection proxy, rate the path by the proxy's susceptibility: the proxy makes the trust decision. Version 1 tiers map to impact: Tier 1 → H, Tier 2/3 → M, Tier 4 → L.</a:t>
            </a:r>
            <a:endParaRPr lang="en-US" sz="1000" dirty="0"/>
          </a:p>
        </p:txBody>
      </p:sp>
      <p:sp>
        <p:nvSpPr>
          <p:cNvPr id="7" name="Card"/>
          <p:cNvSpPr/>
          <p:nvPr/>
        </p:nvSpPr>
        <p:spPr>
          <a:xfrm>
            <a:off x="457200" y="1920240"/>
            <a:ext cx="4343400" cy="4160520"/>
          </a:xfrm>
          <a:prstGeom prst="rect">
            <a:avLst/>
          </a:prstGeom>
          <a:solidFill>
            <a:schemeClr val="bg2"/>
          </a:solidFill>
          <a:ln/>
        </p:spPr>
      </p:sp>
      <p:sp>
        <p:nvSpPr>
          <p:cNvPr id="8" name="Text 6"/>
          <p:cNvSpPr txBox="1"/>
          <p:nvPr/>
        </p:nvSpPr>
        <p:spPr>
          <a:xfrm>
            <a:off x="685800" y="2011680"/>
            <a:ext cx="3886200" cy="34747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① Impact</a:t>
            </a:r>
            <a:endParaRPr lang="en-US" sz="1700" dirty="0"/>
          </a:p>
        </p:txBody>
      </p:sp>
      <p:sp>
        <p:nvSpPr>
          <p:cNvPr id="9" name="Text 7"/>
          <p:cNvSpPr txBox="1"/>
          <p:nvPr/>
        </p:nvSpPr>
        <p:spPr>
          <a:xfrm>
            <a:off x="685800" y="2359152"/>
            <a:ext cx="3886200" cy="457200"/>
          </a:xfrm>
          <a:prstGeom prst="rect">
            <a:avLst/>
          </a:prstGeom>
          <a:noFill/>
          <a:ln/>
        </p:spPr>
        <p:txBody>
          <a:bodyPr wrap="square" lIns="0" tIns="0" rIns="0" bIns="0" rtlCol="0" anchor="ctr"/>
          <a:lstStyle/>
          <a:p>
            <a:pPr indent="0" marL="0">
              <a:buNone/>
            </a:pPr>
            <a:r>
              <a:rPr lang="en-US" sz="1200" i="1" dirty="0">
                <a:solidFill>
                  <a:schemeClr val="tx2"/>
                </a:solidFill>
              </a:rPr>
              <a:t>If this system accepted a forged certificate, what could an attacker do?</a:t>
            </a:r>
            <a:endParaRPr lang="en-US" sz="1200" dirty="0"/>
          </a:p>
        </p:txBody>
      </p:sp>
      <p:sp>
        <p:nvSpPr>
          <p:cNvPr id="10" name="Shape 8"/>
          <p:cNvSpPr/>
          <p:nvPr/>
        </p:nvSpPr>
        <p:spPr>
          <a:xfrm>
            <a:off x="685800" y="2907792"/>
            <a:ext cx="457200" cy="457200"/>
          </a:xfrm>
          <a:prstGeom prst="roundRect">
            <a:avLst>
              <a:gd name="adj" fmla="val 12000"/>
            </a:avLst>
          </a:prstGeom>
          <a:solidFill>
            <a:schemeClr val="tx1"/>
          </a:solidFill>
          <a:ln/>
        </p:spPr>
      </p:sp>
      <p:sp>
        <p:nvSpPr>
          <p:cNvPr id="11" name="Text 9"/>
          <p:cNvSpPr txBox="1"/>
          <p:nvPr/>
        </p:nvSpPr>
        <p:spPr>
          <a:xfrm>
            <a:off x="685800" y="29077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H</a:t>
            </a:r>
            <a:endParaRPr lang="en-US" sz="1800" dirty="0"/>
          </a:p>
        </p:txBody>
      </p:sp>
      <p:sp>
        <p:nvSpPr>
          <p:cNvPr id="12" name="Text 10"/>
          <p:cNvSpPr txBox="1"/>
          <p:nvPr/>
        </p:nvSpPr>
        <p:spPr>
          <a:xfrm>
            <a:off x="1280160" y="2871216"/>
            <a:ext cx="3337560" cy="932688"/>
          </a:xfrm>
          <a:prstGeom prst="rect">
            <a:avLst/>
          </a:prstGeom>
          <a:noFill/>
          <a:ln/>
        </p:spPr>
        <p:txBody>
          <a:bodyPr wrap="square" lIns="0" tIns="0" rIns="0" bIns="0" rtlCol="0" anchor="t"/>
          <a:lstStyle/>
          <a:p>
            <a:pPr indent="0" marL="0">
              <a:buNone/>
            </a:pPr>
            <a:r>
              <a:rPr lang="en-US" sz="1300" b="1" dirty="0">
                <a:solidFill>
                  <a:schemeClr val="tx1"/>
                </a:solidFill>
              </a:rPr>
              <a:t>Credentials, sensitive data, privileged actions, code execution or many systems</a:t>
            </a:r>
            <a:endParaRPr lang="en-US" sz="1300" dirty="0"/>
          </a:p>
          <a:p>
            <a:pPr indent="0" marL="0">
              <a:buNone/>
            </a:pPr>
            <a:r>
              <a:rPr lang="en-US" sz="1200" dirty="0">
                <a:solidFill>
                  <a:schemeClr val="tx2"/>
                </a:solidFill>
              </a:rPr>
              <a:t>e.g. payment and identity integrations, build pipelines, inspection proxies, admin tooling</a:t>
            </a:r>
            <a:endParaRPr lang="en-US" sz="1300" dirty="0"/>
          </a:p>
        </p:txBody>
      </p:sp>
      <p:sp>
        <p:nvSpPr>
          <p:cNvPr id="13" name="Shape 11"/>
          <p:cNvSpPr/>
          <p:nvPr/>
        </p:nvSpPr>
        <p:spPr>
          <a:xfrm>
            <a:off x="685800" y="3931920"/>
            <a:ext cx="457200" cy="457200"/>
          </a:xfrm>
          <a:prstGeom prst="roundRect">
            <a:avLst>
              <a:gd name="adj" fmla="val 12000"/>
            </a:avLst>
          </a:prstGeom>
          <a:solidFill>
            <a:schemeClr val="tx1"/>
          </a:solidFill>
          <a:ln/>
        </p:spPr>
      </p:sp>
      <p:sp>
        <p:nvSpPr>
          <p:cNvPr id="14" name="Text 12"/>
          <p:cNvSpPr txBox="1"/>
          <p:nvPr/>
        </p:nvSpPr>
        <p:spPr>
          <a:xfrm>
            <a:off x="685800" y="39319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M</a:t>
            </a:r>
            <a:endParaRPr lang="en-US" sz="1800" dirty="0"/>
          </a:p>
        </p:txBody>
      </p:sp>
      <p:sp>
        <p:nvSpPr>
          <p:cNvPr id="15" name="Text 13"/>
          <p:cNvSpPr txBox="1"/>
          <p:nvPr/>
        </p:nvSpPr>
        <p:spPr>
          <a:xfrm>
            <a:off x="1280160" y="3895344"/>
            <a:ext cx="3337560" cy="932688"/>
          </a:xfrm>
          <a:prstGeom prst="rect">
            <a:avLst/>
          </a:prstGeom>
          <a:noFill/>
          <a:ln/>
        </p:spPr>
        <p:txBody>
          <a:bodyPr wrap="square" lIns="0" tIns="0" rIns="0" bIns="0" rtlCol="0" anchor="t"/>
          <a:lstStyle/>
          <a:p>
            <a:pPr indent="0" marL="0">
              <a:buNone/>
            </a:pPr>
            <a:r>
              <a:rPr lang="en-US" sz="1300" b="1" dirty="0">
                <a:solidFill>
                  <a:schemeClr val="tx1"/>
                </a:solidFill>
              </a:rPr>
              <a:t>Business data or service integrity, with a limited blast radius</a:t>
            </a:r>
            <a:endParaRPr lang="en-US" sz="1300" dirty="0"/>
          </a:p>
          <a:p>
            <a:pPr indent="0" marL="0">
              <a:buNone/>
            </a:pPr>
            <a:r>
              <a:rPr lang="en-US" sz="1200" dirty="0">
                <a:solidFill>
                  <a:schemeClr val="tx2"/>
                </a:solidFill>
              </a:rPr>
              <a:t>e.g. general API clients, internal service-to-service TLS, desktops</a:t>
            </a:r>
            <a:endParaRPr lang="en-US" sz="1300" dirty="0"/>
          </a:p>
        </p:txBody>
      </p:sp>
      <p:sp>
        <p:nvSpPr>
          <p:cNvPr id="16" name="Shape 14"/>
          <p:cNvSpPr/>
          <p:nvPr/>
        </p:nvSpPr>
        <p:spPr>
          <a:xfrm>
            <a:off x="685800" y="4956048"/>
            <a:ext cx="457200" cy="457200"/>
          </a:xfrm>
          <a:prstGeom prst="roundRect">
            <a:avLst>
              <a:gd name="adj" fmla="val 12000"/>
            </a:avLst>
          </a:prstGeom>
          <a:solidFill>
            <a:schemeClr val="tx1"/>
          </a:solidFill>
          <a:ln/>
        </p:spPr>
      </p:sp>
      <p:sp>
        <p:nvSpPr>
          <p:cNvPr id="17" name="Text 15"/>
          <p:cNvSpPr txBox="1"/>
          <p:nvPr/>
        </p:nvSpPr>
        <p:spPr>
          <a:xfrm>
            <a:off x="685800" y="49560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L</a:t>
            </a:r>
            <a:endParaRPr lang="en-US" sz="1800" dirty="0"/>
          </a:p>
        </p:txBody>
      </p:sp>
      <p:sp>
        <p:nvSpPr>
          <p:cNvPr id="18" name="Text 16"/>
          <p:cNvSpPr txBox="1"/>
          <p:nvPr/>
        </p:nvSpPr>
        <p:spPr>
          <a:xfrm>
            <a:off x="1280160" y="4919472"/>
            <a:ext cx="3337560" cy="932688"/>
          </a:xfrm>
          <a:prstGeom prst="rect">
            <a:avLst/>
          </a:prstGeom>
          <a:noFill/>
          <a:ln/>
        </p:spPr>
        <p:txBody>
          <a:bodyPr wrap="square" lIns="0" tIns="0" rIns="0" bIns="0" rtlCol="0" anchor="t"/>
          <a:lstStyle/>
          <a:p>
            <a:pPr indent="0" marL="0">
              <a:buNone/>
            </a:pPr>
            <a:r>
              <a:rPr lang="en-US" sz="1300" b="1" dirty="0">
                <a:solidFill>
                  <a:schemeClr val="tx1"/>
                </a:solidFill>
              </a:rPr>
              <a:t>Little consequence, or a demonstrably limited role</a:t>
            </a:r>
            <a:endParaRPr lang="en-US" sz="1300" dirty="0"/>
          </a:p>
          <a:p>
            <a:pPr indent="0" marL="0">
              <a:buNone/>
            </a:pPr>
            <a:r>
              <a:rPr lang="en-US" sz="1200" dirty="0">
                <a:solidFill>
                  <a:schemeClr val="tx2"/>
                </a:solidFill>
              </a:rPr>
              <a:t>e.g. serve-only websites, private-CA-only services</a:t>
            </a:r>
            <a:endParaRPr lang="en-US" sz="1300" dirty="0"/>
          </a:p>
        </p:txBody>
      </p:sp>
      <p:sp>
        <p:nvSpPr>
          <p:cNvPr id="19" name="Card"/>
          <p:cNvSpPr/>
          <p:nvPr/>
        </p:nvSpPr>
        <p:spPr>
          <a:xfrm>
            <a:off x="5074920" y="1920240"/>
            <a:ext cx="6659575" cy="4160520"/>
          </a:xfrm>
          <a:prstGeom prst="rect">
            <a:avLst/>
          </a:prstGeom>
          <a:solidFill>
            <a:schemeClr val="bg2"/>
          </a:solidFill>
          <a:ln/>
        </p:spPr>
      </p:sp>
      <p:sp>
        <p:nvSpPr>
          <p:cNvPr id="20" name="Text 18"/>
          <p:cNvSpPr txBox="1"/>
          <p:nvPr/>
        </p:nvSpPr>
        <p:spPr>
          <a:xfrm>
            <a:off x="5303520" y="2011680"/>
            <a:ext cx="6202375" cy="34747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② Verifier susceptibility</a:t>
            </a:r>
            <a:endParaRPr lang="en-US" sz="1700" dirty="0"/>
          </a:p>
        </p:txBody>
      </p:sp>
      <p:sp>
        <p:nvSpPr>
          <p:cNvPr id="21" name="Text 19"/>
          <p:cNvSpPr txBox="1"/>
          <p:nvPr/>
        </p:nvSpPr>
        <p:spPr>
          <a:xfrm>
            <a:off x="5303520" y="2359152"/>
            <a:ext cx="6202375" cy="274320"/>
          </a:xfrm>
          <a:prstGeom prst="rect">
            <a:avLst/>
          </a:prstGeom>
          <a:noFill/>
          <a:ln/>
        </p:spPr>
        <p:txBody>
          <a:bodyPr wrap="square" lIns="0" tIns="0" rIns="0" bIns="0" rtlCol="0" anchor="ctr"/>
          <a:lstStyle/>
          <a:p>
            <a:pPr indent="0" marL="0">
              <a:buNone/>
            </a:pPr>
            <a:r>
              <a:rPr lang="en-US" sz="1200" i="1" dirty="0">
                <a:solidFill>
                  <a:schemeClr val="tx2"/>
                </a:solidFill>
              </a:rPr>
              <a:t>Would the software that checks the certificate accept the forged chain today?</a:t>
            </a:r>
            <a:endParaRPr lang="en-US" sz="1200" dirty="0"/>
          </a:p>
        </p:txBody>
      </p:sp>
      <p:sp>
        <p:nvSpPr>
          <p:cNvPr id="22" name="Text 20"/>
          <p:cNvSpPr txBox="1"/>
          <p:nvPr/>
        </p:nvSpPr>
        <p:spPr>
          <a:xfrm>
            <a:off x="5852160" y="2651760"/>
            <a:ext cx="169164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Type</a:t>
            </a:r>
            <a:endParaRPr lang="en-US" sz="1000" dirty="0"/>
          </a:p>
        </p:txBody>
      </p:sp>
      <p:sp>
        <p:nvSpPr>
          <p:cNvPr id="23" name="Text 21"/>
          <p:cNvSpPr txBox="1"/>
          <p:nvPr/>
        </p:nvSpPr>
        <p:spPr>
          <a:xfrm>
            <a:off x="7680960" y="2651760"/>
            <a:ext cx="219456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Typical examples</a:t>
            </a:r>
            <a:endParaRPr lang="en-US" sz="1000" dirty="0"/>
          </a:p>
        </p:txBody>
      </p:sp>
      <p:sp>
        <p:nvSpPr>
          <p:cNvPr id="24" name="Text 22"/>
          <p:cNvSpPr txBox="1"/>
          <p:nvPr/>
        </p:nvSpPr>
        <p:spPr>
          <a:xfrm>
            <a:off x="10012680" y="2651760"/>
            <a:ext cx="1538935"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Status today</a:t>
            </a:r>
            <a:endParaRPr lang="en-US" sz="1000" dirty="0"/>
          </a:p>
        </p:txBody>
      </p:sp>
      <p:sp>
        <p:nvSpPr>
          <p:cNvPr id="25" name="Shape 23"/>
          <p:cNvSpPr/>
          <p:nvPr/>
        </p:nvSpPr>
        <p:spPr>
          <a:xfrm>
            <a:off x="5303520" y="2944368"/>
            <a:ext cx="411480" cy="411480"/>
          </a:xfrm>
          <a:prstGeom prst="ellipse">
            <a:avLst/>
          </a:prstGeom>
          <a:solidFill>
            <a:schemeClr val="accent3"/>
          </a:solidFill>
          <a:ln/>
        </p:spPr>
      </p:sp>
      <p:sp>
        <p:nvSpPr>
          <p:cNvPr id="26" name="Text 24"/>
          <p:cNvSpPr txBox="1"/>
          <p:nvPr/>
        </p:nvSpPr>
        <p:spPr>
          <a:xfrm>
            <a:off x="5303520" y="294436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27" name="Text 25"/>
          <p:cNvSpPr txBox="1"/>
          <p:nvPr/>
        </p:nvSpPr>
        <p:spPr>
          <a:xfrm>
            <a:off x="5852160" y="2907792"/>
            <a:ext cx="1691640" cy="530352"/>
          </a:xfrm>
          <a:prstGeom prst="rect">
            <a:avLst/>
          </a:prstGeom>
          <a:noFill/>
          <a:ln/>
        </p:spPr>
        <p:txBody>
          <a:bodyPr wrap="square" lIns="0" tIns="0" rIns="0" bIns="0" rtlCol="0" anchor="ctr"/>
          <a:lstStyle/>
          <a:p>
            <a:pPr indent="0" marL="0">
              <a:buNone/>
            </a:pPr>
            <a:r>
              <a:rPr lang="en-US" sz="1300" b="1" dirty="0">
                <a:solidFill>
                  <a:schemeClr val="tx1"/>
                </a:solidFill>
              </a:rPr>
              <a:t>Fix in place and tested</a:t>
            </a:r>
            <a:endParaRPr lang="en-US" sz="1300" dirty="0"/>
          </a:p>
        </p:txBody>
      </p:sp>
      <p:sp>
        <p:nvSpPr>
          <p:cNvPr id="28" name="Text 26"/>
          <p:cNvSpPr txBox="1"/>
          <p:nvPr/>
        </p:nvSpPr>
        <p:spPr>
          <a:xfrm>
            <a:off x="7680960" y="2907792"/>
            <a:ext cx="2194560" cy="530352"/>
          </a:xfrm>
          <a:prstGeom prst="rect">
            <a:avLst/>
          </a:prstGeom>
          <a:noFill/>
          <a:ln/>
        </p:spPr>
        <p:txBody>
          <a:bodyPr wrap="square" lIns="0" tIns="0" rIns="0" bIns="0" rtlCol="0" anchor="ctr"/>
          <a:lstStyle/>
          <a:p>
            <a:pPr indent="0" marL="0">
              <a:buNone/>
            </a:pPr>
            <a:r>
              <a:rPr lang="en-US" sz="1200" dirty="0">
                <a:solidFill>
                  <a:schemeClr val="tx2"/>
                </a:solidFill>
              </a:rPr>
              <a:t>Browsers; updated Windows, Apple and Android; a rebuilt Go binary</a:t>
            </a:r>
            <a:endParaRPr lang="en-US" sz="1200" dirty="0"/>
          </a:p>
        </p:txBody>
      </p:sp>
      <p:sp>
        <p:nvSpPr>
          <p:cNvPr id="29" name="Text 27"/>
          <p:cNvSpPr txBox="1"/>
          <p:nvPr/>
        </p:nvSpPr>
        <p:spPr>
          <a:xfrm>
            <a:off x="10012680" y="2907792"/>
            <a:ext cx="1538935" cy="530352"/>
          </a:xfrm>
          <a:prstGeom prst="rect">
            <a:avLst/>
          </a:prstGeom>
          <a:noFill/>
          <a:ln/>
        </p:spPr>
        <p:txBody>
          <a:bodyPr wrap="square" lIns="0" tIns="0" rIns="0" bIns="0" rtlCol="0" anchor="ctr"/>
          <a:lstStyle/>
          <a:p>
            <a:pPr indent="0" marL="0">
              <a:buNone/>
            </a:pPr>
            <a:r>
              <a:rPr lang="en-US" sz="1200" b="1" dirty="0">
                <a:solidFill>
                  <a:schemeClr val="accent3"/>
                </a:solidFill>
              </a:rPr>
              <a:t>Protected; confirm coverage</a:t>
            </a:r>
            <a:endParaRPr lang="en-US" sz="1200" dirty="0"/>
          </a:p>
        </p:txBody>
      </p:sp>
      <p:sp>
        <p:nvSpPr>
          <p:cNvPr id="30" name="Shape 28"/>
          <p:cNvSpPr/>
          <p:nvPr/>
        </p:nvSpPr>
        <p:spPr>
          <a:xfrm>
            <a:off x="5303520" y="3566160"/>
            <a:ext cx="411480" cy="411480"/>
          </a:xfrm>
          <a:prstGeom prst="ellipse">
            <a:avLst/>
          </a:prstGeom>
          <a:solidFill>
            <a:schemeClr val="accent2"/>
          </a:solidFill>
          <a:ln/>
        </p:spPr>
      </p:sp>
      <p:sp>
        <p:nvSpPr>
          <p:cNvPr id="31" name="Text 29"/>
          <p:cNvSpPr txBox="1"/>
          <p:nvPr/>
        </p:nvSpPr>
        <p:spPr>
          <a:xfrm>
            <a:off x="5303520" y="35661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32" name="Text 30"/>
          <p:cNvSpPr txBox="1"/>
          <p:nvPr/>
        </p:nvSpPr>
        <p:spPr>
          <a:xfrm>
            <a:off x="5852160" y="3529584"/>
            <a:ext cx="1691640" cy="530352"/>
          </a:xfrm>
          <a:prstGeom prst="rect">
            <a:avLst/>
          </a:prstGeom>
          <a:noFill/>
          <a:ln/>
        </p:spPr>
        <p:txBody>
          <a:bodyPr wrap="square" lIns="0" tIns="0" rIns="0" bIns="0" rtlCol="0" anchor="ctr"/>
          <a:lstStyle/>
          <a:p>
            <a:pPr indent="0" marL="0">
              <a:buNone/>
            </a:pPr>
            <a:r>
              <a:rPr lang="en-US" sz="1300" b="1" dirty="0">
                <a:solidFill>
                  <a:schemeClr val="tx1"/>
                </a:solidFill>
              </a:rPr>
              <a:t>OS store; patch not yet confirmed</a:t>
            </a:r>
            <a:endParaRPr lang="en-US" sz="1300" dirty="0"/>
          </a:p>
        </p:txBody>
      </p:sp>
      <p:sp>
        <p:nvSpPr>
          <p:cNvPr id="33" name="Text 31"/>
          <p:cNvSpPr txBox="1"/>
          <p:nvPr/>
        </p:nvSpPr>
        <p:spPr>
          <a:xfrm>
            <a:off x="7680960" y="3529584"/>
            <a:ext cx="2194560" cy="530352"/>
          </a:xfrm>
          <a:prstGeom prst="rect">
            <a:avLst/>
          </a:prstGeom>
          <a:noFill/>
          <a:ln/>
        </p:spPr>
        <p:txBody>
          <a:bodyPr wrap="square" lIns="0" tIns="0" rIns="0" bIns="0" rtlCol="0" anchor="ctr"/>
          <a:lstStyle/>
          <a:p>
            <a:pPr indent="0" marL="0">
              <a:buNone/>
            </a:pPr>
            <a:r>
              <a:rPr lang="en-US" sz="1200" dirty="0">
                <a:solidFill>
                  <a:schemeClr val="tx2"/>
                </a:solidFill>
              </a:rPr>
              <a:t>Windows .NET and PowerShell; Linux curl, PHP, Ruby, Go</a:t>
            </a:r>
            <a:endParaRPr lang="en-US" sz="1200" dirty="0"/>
          </a:p>
        </p:txBody>
      </p:sp>
      <p:sp>
        <p:nvSpPr>
          <p:cNvPr id="34" name="Text 32"/>
          <p:cNvSpPr txBox="1"/>
          <p:nvPr/>
        </p:nvSpPr>
        <p:spPr>
          <a:xfrm>
            <a:off x="10012680" y="3529584"/>
            <a:ext cx="1538935" cy="530352"/>
          </a:xfrm>
          <a:prstGeom prst="rect">
            <a:avLst/>
          </a:prstGeom>
          <a:noFill/>
          <a:ln/>
        </p:spPr>
        <p:txBody>
          <a:bodyPr wrap="square" lIns="0" tIns="0" rIns="0" bIns="0" rtlCol="0" anchor="ctr"/>
          <a:lstStyle/>
          <a:p>
            <a:pPr indent="0" marL="0">
              <a:buNone/>
            </a:pPr>
            <a:r>
              <a:rPr lang="en-US" sz="1200" b="1" dirty="0">
                <a:solidFill>
                  <a:schemeClr val="accent2"/>
                </a:solidFill>
              </a:rPr>
              <a:t>Safe once the OS update is confirmed</a:t>
            </a:r>
            <a:endParaRPr lang="en-US" sz="1200" dirty="0"/>
          </a:p>
        </p:txBody>
      </p:sp>
      <p:sp>
        <p:nvSpPr>
          <p:cNvPr id="35" name="Shape 33"/>
          <p:cNvSpPr/>
          <p:nvPr/>
        </p:nvSpPr>
        <p:spPr>
          <a:xfrm>
            <a:off x="5303520" y="4187952"/>
            <a:ext cx="411480" cy="411480"/>
          </a:xfrm>
          <a:prstGeom prst="ellipse">
            <a:avLst/>
          </a:prstGeom>
          <a:solidFill>
            <a:schemeClr val="accent4"/>
          </a:solidFill>
          <a:ln/>
        </p:spPr>
      </p:sp>
      <p:sp>
        <p:nvSpPr>
          <p:cNvPr id="36" name="Text 34"/>
          <p:cNvSpPr txBox="1"/>
          <p:nvPr/>
        </p:nvSpPr>
        <p:spPr>
          <a:xfrm>
            <a:off x="5303520" y="418795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37" name="Text 35"/>
          <p:cNvSpPr txBox="1"/>
          <p:nvPr/>
        </p:nvSpPr>
        <p:spPr>
          <a:xfrm>
            <a:off x="5852160" y="4151376"/>
            <a:ext cx="1691640" cy="530352"/>
          </a:xfrm>
          <a:prstGeom prst="rect">
            <a:avLst/>
          </a:prstGeom>
          <a:noFill/>
          <a:ln/>
        </p:spPr>
        <p:txBody>
          <a:bodyPr wrap="square" lIns="0" tIns="0" rIns="0" bIns="0" rtlCol="0" anchor="ctr"/>
          <a:lstStyle/>
          <a:p>
            <a:pPr indent="0" marL="0">
              <a:buNone/>
            </a:pPr>
            <a:r>
              <a:rPr lang="en-US" sz="1300" b="1" dirty="0">
                <a:solidFill>
                  <a:schemeClr val="tx1"/>
                </a:solidFill>
              </a:rPr>
              <a:t>Carries its own trust list</a:t>
            </a:r>
            <a:endParaRPr lang="en-US" sz="1300" dirty="0"/>
          </a:p>
        </p:txBody>
      </p:sp>
      <p:sp>
        <p:nvSpPr>
          <p:cNvPr id="38" name="Text 36"/>
          <p:cNvSpPr txBox="1"/>
          <p:nvPr/>
        </p:nvSpPr>
        <p:spPr>
          <a:xfrm>
            <a:off x="7680960" y="4151376"/>
            <a:ext cx="2194560" cy="530352"/>
          </a:xfrm>
          <a:prstGeom prst="rect">
            <a:avLst/>
          </a:prstGeom>
          <a:noFill/>
          <a:ln/>
        </p:spPr>
        <p:txBody>
          <a:bodyPr wrap="square" lIns="0" tIns="0" rIns="0" bIns="0" rtlCol="0" anchor="ctr"/>
          <a:lstStyle/>
          <a:p>
            <a:pPr indent="0" marL="0">
              <a:buNone/>
            </a:pPr>
            <a:r>
              <a:rPr lang="en-US" sz="1200" dirty="0">
                <a:solidFill>
                  <a:schemeClr val="tx2"/>
                </a:solidFill>
              </a:rPr>
              <a:t>Java cacerts, certifi, Node, Go/Rust binaries, containers</a:t>
            </a:r>
            <a:endParaRPr lang="en-US" sz="1200" dirty="0"/>
          </a:p>
        </p:txBody>
      </p:sp>
      <p:sp>
        <p:nvSpPr>
          <p:cNvPr id="39" name="Text 37"/>
          <p:cNvSpPr txBox="1"/>
          <p:nvPr/>
        </p:nvSpPr>
        <p:spPr>
          <a:xfrm>
            <a:off x="10012680" y="4151376"/>
            <a:ext cx="1538935" cy="530352"/>
          </a:xfrm>
          <a:prstGeom prst="rect">
            <a:avLst/>
          </a:prstGeom>
          <a:noFill/>
          <a:ln/>
        </p:spPr>
        <p:txBody>
          <a:bodyPr wrap="square" lIns="0" tIns="0" rIns="0" bIns="0" rtlCol="0" anchor="ctr"/>
          <a:lstStyle/>
          <a:p>
            <a:pPr indent="0" marL="0">
              <a:buNone/>
            </a:pPr>
            <a:r>
              <a:rPr lang="en-US" sz="1200" b="1" dirty="0">
                <a:solidFill>
                  <a:schemeClr val="accent4"/>
                </a:solidFill>
              </a:rPr>
              <a:t>Exposed until updated or rebuilt</a:t>
            </a:r>
            <a:endParaRPr lang="en-US" sz="1200" dirty="0"/>
          </a:p>
        </p:txBody>
      </p:sp>
      <p:sp>
        <p:nvSpPr>
          <p:cNvPr id="40" name="Shape 38"/>
          <p:cNvSpPr/>
          <p:nvPr/>
        </p:nvSpPr>
        <p:spPr>
          <a:xfrm>
            <a:off x="5303520" y="4809744"/>
            <a:ext cx="411480" cy="411480"/>
          </a:xfrm>
          <a:prstGeom prst="ellipse">
            <a:avLst/>
          </a:prstGeom>
          <a:solidFill>
            <a:schemeClr val="accent1"/>
          </a:solidFill>
          <a:ln/>
        </p:spPr>
      </p:sp>
      <p:sp>
        <p:nvSpPr>
          <p:cNvPr id="41" name="Text 39"/>
          <p:cNvSpPr txBox="1"/>
          <p:nvPr/>
        </p:nvSpPr>
        <p:spPr>
          <a:xfrm>
            <a:off x="5303520" y="4809744"/>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42" name="Text 40"/>
          <p:cNvSpPr txBox="1"/>
          <p:nvPr/>
        </p:nvSpPr>
        <p:spPr>
          <a:xfrm>
            <a:off x="5852160" y="4773168"/>
            <a:ext cx="1691640" cy="530352"/>
          </a:xfrm>
          <a:prstGeom prst="rect">
            <a:avLst/>
          </a:prstGeom>
          <a:noFill/>
          <a:ln/>
        </p:spPr>
        <p:txBody>
          <a:bodyPr wrap="square" lIns="0" tIns="0" rIns="0" bIns="0" rtlCol="0" anchor="ctr"/>
          <a:lstStyle/>
          <a:p>
            <a:pPr indent="0" marL="0">
              <a:buNone/>
            </a:pPr>
            <a:r>
              <a:rPr lang="en-US" sz="1300" b="1" dirty="0">
                <a:solidFill>
                  <a:schemeClr val="tx1"/>
                </a:solidFill>
              </a:rPr>
              <a:t>Vendor-controlled; no fix yet</a:t>
            </a:r>
            <a:endParaRPr lang="en-US" sz="1300" dirty="0"/>
          </a:p>
        </p:txBody>
      </p:sp>
      <p:sp>
        <p:nvSpPr>
          <p:cNvPr id="43" name="Text 41"/>
          <p:cNvSpPr txBox="1"/>
          <p:nvPr/>
        </p:nvSpPr>
        <p:spPr>
          <a:xfrm>
            <a:off x="7680960" y="4773168"/>
            <a:ext cx="2194560" cy="530352"/>
          </a:xfrm>
          <a:prstGeom prst="rect">
            <a:avLst/>
          </a:prstGeom>
          <a:noFill/>
          <a:ln/>
        </p:spPr>
        <p:txBody>
          <a:bodyPr wrap="square" lIns="0" tIns="0" rIns="0" bIns="0" rtlCol="0" anchor="ctr"/>
          <a:lstStyle/>
          <a:p>
            <a:pPr indent="0" marL="0">
              <a:buNone/>
            </a:pPr>
            <a:r>
              <a:rPr lang="en-US" sz="1200" dirty="0">
                <a:solidFill>
                  <a:schemeClr val="tx2"/>
                </a:solidFill>
              </a:rPr>
              <a:t>Appliances, agents, packaged products, OT/IoT, SaaS</a:t>
            </a:r>
            <a:endParaRPr lang="en-US" sz="1200" dirty="0"/>
          </a:p>
        </p:txBody>
      </p:sp>
      <p:sp>
        <p:nvSpPr>
          <p:cNvPr id="44" name="Text 42"/>
          <p:cNvSpPr txBox="1"/>
          <p:nvPr/>
        </p:nvSpPr>
        <p:spPr>
          <a:xfrm>
            <a:off x="10012680" y="4773168"/>
            <a:ext cx="1538935" cy="530352"/>
          </a:xfrm>
          <a:prstGeom prst="rect">
            <a:avLst/>
          </a:prstGeom>
          <a:noFill/>
          <a:ln/>
        </p:spPr>
        <p:txBody>
          <a:bodyPr wrap="square" lIns="0" tIns="0" rIns="0" bIns="0" rtlCol="0" anchor="ctr"/>
          <a:lstStyle/>
          <a:p>
            <a:pPr indent="0" marL="0">
              <a:buNone/>
            </a:pPr>
            <a:r>
              <a:rPr lang="en-US" sz="1200" b="1" dirty="0">
                <a:solidFill>
                  <a:schemeClr val="accent1"/>
                </a:solidFill>
              </a:rPr>
              <a:t>Exposed: needs a compensating control</a:t>
            </a:r>
            <a:endParaRPr lang="en-US" sz="1200" dirty="0"/>
          </a:p>
        </p:txBody>
      </p:sp>
      <p:sp>
        <p:nvSpPr>
          <p:cNvPr id="45" name="Shape 43"/>
          <p:cNvSpPr/>
          <p:nvPr/>
        </p:nvSpPr>
        <p:spPr>
          <a:xfrm>
            <a:off x="5303520" y="5431536"/>
            <a:ext cx="411480" cy="411480"/>
          </a:xfrm>
          <a:prstGeom prst="ellipse">
            <a:avLst/>
          </a:prstGeom>
          <a:solidFill>
            <a:schemeClr val="accent5"/>
          </a:solidFill>
          <a:ln/>
        </p:spPr>
      </p:sp>
      <p:sp>
        <p:nvSpPr>
          <p:cNvPr id="46" name="Text 44"/>
          <p:cNvSpPr txBox="1"/>
          <p:nvPr/>
        </p:nvSpPr>
        <p:spPr>
          <a:xfrm>
            <a:off x="5303520" y="5431536"/>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47" name="Text 45"/>
          <p:cNvSpPr txBox="1"/>
          <p:nvPr/>
        </p:nvSpPr>
        <p:spPr>
          <a:xfrm>
            <a:off x="5852160" y="5394960"/>
            <a:ext cx="1691640" cy="530352"/>
          </a:xfrm>
          <a:prstGeom prst="rect">
            <a:avLst/>
          </a:prstGeom>
          <a:noFill/>
          <a:ln/>
        </p:spPr>
        <p:txBody>
          <a:bodyPr wrap="square" lIns="0" tIns="0" rIns="0" bIns="0" rtlCol="0" anchor="ctr"/>
          <a:lstStyle/>
          <a:p>
            <a:pPr indent="0" marL="0">
              <a:buNone/>
            </a:pPr>
            <a:r>
              <a:rPr lang="en-US" sz="1300" b="1" dirty="0">
                <a:solidFill>
                  <a:schemeClr val="tx1"/>
                </a:solidFill>
              </a:rPr>
              <a:t>Unknown: not yet assessed</a:t>
            </a:r>
            <a:endParaRPr lang="en-US" sz="1300" dirty="0"/>
          </a:p>
        </p:txBody>
      </p:sp>
      <p:sp>
        <p:nvSpPr>
          <p:cNvPr id="48" name="Text 46"/>
          <p:cNvSpPr txBox="1"/>
          <p:nvPr/>
        </p:nvSpPr>
        <p:spPr>
          <a:xfrm>
            <a:off x="7680960" y="5394960"/>
            <a:ext cx="2194560" cy="530352"/>
          </a:xfrm>
          <a:prstGeom prst="rect">
            <a:avLst/>
          </a:prstGeom>
          <a:noFill/>
          <a:ln/>
        </p:spPr>
        <p:txBody>
          <a:bodyPr wrap="square" lIns="0" tIns="0" rIns="0" bIns="0" rtlCol="0" anchor="ctr"/>
          <a:lstStyle/>
          <a:p>
            <a:pPr indent="0" marL="0">
              <a:buNone/>
            </a:pPr>
            <a:r>
              <a:rPr lang="en-US" sz="1200" dirty="0">
                <a:solidFill>
                  <a:schemeClr val="tx2"/>
                </a:solidFill>
              </a:rPr>
              <a:t>Runtime or trust store not yet identified</a:t>
            </a:r>
            <a:endParaRPr lang="en-US" sz="1200" dirty="0"/>
          </a:p>
        </p:txBody>
      </p:sp>
      <p:sp>
        <p:nvSpPr>
          <p:cNvPr id="49" name="Text 47"/>
          <p:cNvSpPr txBox="1"/>
          <p:nvPr/>
        </p:nvSpPr>
        <p:spPr>
          <a:xfrm>
            <a:off x="10012680" y="5394960"/>
            <a:ext cx="1538935" cy="530352"/>
          </a:xfrm>
          <a:prstGeom prst="rect">
            <a:avLst/>
          </a:prstGeom>
          <a:noFill/>
          <a:ln/>
        </p:spPr>
        <p:txBody>
          <a:bodyPr wrap="square" lIns="0" tIns="0" rIns="0" bIns="0" rtlCol="0" anchor="ctr"/>
          <a:lstStyle/>
          <a:p>
            <a:pPr indent="0" marL="0">
              <a:buNone/>
            </a:pPr>
            <a:r>
              <a:rPr lang="en-US" sz="1200" b="1" dirty="0">
                <a:solidFill>
                  <a:schemeClr val="accent5"/>
                </a:solidFill>
              </a:rPr>
              <a:t>Assess first; unknown is not low</a:t>
            </a:r>
            <a:endParaRPr lang="en-US" sz="12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ill"/>
          <p:cNvSpPr/>
          <p:nvPr/>
        </p:nvSpPr>
        <p:spPr>
          <a:xfrm>
            <a:off x="457200" y="292608"/>
            <a:ext cx="1970532" cy="256032"/>
          </a:xfrm>
          <a:prstGeom prst="roundRect">
            <a:avLst>
              <a:gd name="adj" fmla="val 50000"/>
            </a:avLst>
          </a:prstGeom>
          <a:solidFill>
            <a:schemeClr val="bg2"/>
          </a:solidFill>
          <a:ln/>
        </p:spPr>
      </p:sp>
      <p:sp>
        <p:nvSpPr>
          <p:cNvPr id="3" name="Eyebrow"/>
          <p:cNvSpPr txBox="1"/>
          <p:nvPr/>
        </p:nvSpPr>
        <p:spPr>
          <a:xfrm>
            <a:off x="457200" y="292608"/>
            <a:ext cx="197053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PRIORITISATION · 2 OF 2</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Priority = impact × susceptibility: where common systems land</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Each cell shows the priority and a typical example. Work P1 first; column A only needs coverage confirmed</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Worked cases: RISK_TIERS.md sections 4 and 6. Windows are indicative pending decision D-03 (approval of the model: D-01).</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823960" cy="914400"/>
        </p:xfrm>
        <a:graphic>
          <a:graphicData uri="http://schemas.openxmlformats.org/drawingml/2006/table">
            <a:tbl>
              <a:tblPr/>
              <a:tblGrid>
                <a:gridCol w="1417320"/>
                <a:gridCol w="1481328"/>
                <a:gridCol w="1481328"/>
                <a:gridCol w="1481328"/>
                <a:gridCol w="1481328"/>
                <a:gridCol w="1481328"/>
              </a:tblGrid>
              <a:tr h="621792">
                <a:tc>
                  <a:txBody>
                    <a:bodyPr/>
                    <a:lstStyle/>
                    <a:p>
                      <a:pPr algn="ctr" indent="0" marL="0">
                        <a:buNone/>
                      </a:pPr>
                      <a:endParaRPr lang="en-US" sz="11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A · Fix in place and tested</a:t>
                      </a:r>
                      <a:endParaRPr lang="en-US" sz="11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B · OS store, patch unconfirmed</a:t>
                      </a:r>
                      <a:endParaRPr lang="en-US" sz="11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C · Own trust list</a:t>
                      </a:r>
                      <a:endParaRPr lang="en-US" sz="11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D · Vendor-controlled, no fix</a:t>
                      </a:r>
                      <a:endParaRPr lang="en-US" sz="11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Unknown · Not yet assessed</a:t>
                      </a:r>
                      <a:endParaRPr lang="en-US" sz="11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r>
              <a:tr h="1097280">
                <a:tc>
                  <a:txBody>
                    <a:bodyPr/>
                    <a:lstStyle/>
                    <a:p>
                      <a:pPr algn="ctr" indent="0" marL="0">
                        <a:buNone/>
                      </a:pPr>
                      <a:r>
                        <a:rPr lang="en-US" sz="2000" b="1" dirty="0">
                          <a:solidFill>
                            <a:schemeClr val="tx1"/>
                          </a:solidFill>
                        </a:rPr>
                        <a:t>H</a:t>
                      </a:r>
                      <a:endParaRPr lang="en-US" sz="1200" dirty="0"/>
                    </a:p>
                    <a:p>
                      <a:pPr algn="ctr" indent="0" marL="0">
                        <a:buNone/>
                      </a:pPr>
                      <a:r>
                        <a:rPr lang="en-US" sz="1100" dirty="0">
                          <a:solidFill>
                            <a:schemeClr val="tx2"/>
                          </a:solidFill>
                        </a:rPr>
                        <a:t>Credentials, data, code execution</a:t>
                      </a:r>
                      <a:endParaRPr lang="en-US" sz="12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rPr>
                        <a:t>P3</a:t>
                      </a:r>
                      <a:endParaRPr lang="en-US" sz="1200" dirty="0"/>
                    </a:p>
                    <a:p>
                      <a:pPr algn="ctr" indent="0" marL="0">
                        <a:buNone/>
                      </a:pPr>
                      <a:r>
                        <a:rPr lang="en-US" sz="1100" dirty="0">
                          <a:solidFill>
                            <a:schemeClr val="bg1"/>
                          </a:solidFill>
                        </a:rPr>
                        <a:t>Go payment service rebuilt on Go 1.27.3; test passed</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bg1"/>
                          </a:solidFill>
                        </a:rPr>
                        <a:t>P1</a:t>
                      </a:r>
                      <a:endParaRPr lang="en-US" sz="1200" dirty="0"/>
                    </a:p>
                    <a:p>
                      <a:pPr algn="ctr" indent="0" marL="0">
                        <a:buNone/>
                      </a:pPr>
                      <a:r>
                        <a:rPr lang="en-US" sz="1100" dirty="0">
                          <a:solidFill>
                            <a:schemeClr val="bg1"/>
                          </a:solidFill>
                        </a:rPr>
                        <a:t>Windows API validating JWTs; Microsoft updates unconfirmed</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P1</a:t>
                      </a:r>
                      <a:endParaRPr lang="en-US" sz="1200" dirty="0"/>
                    </a:p>
                    <a:p>
                      <a:pPr algn="ctr" indent="0" marL="0">
                        <a:buNone/>
                      </a:pPr>
                      <a:r>
                        <a:rPr lang="en-US" sz="1100" dirty="0">
                          <a:solidFill>
                            <a:schemeClr val="bg1"/>
                          </a:solidFill>
                        </a:rPr>
                        <a:t>Batch job sending customer data to SaaS (Java)</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P1</a:t>
                      </a:r>
                      <a:endParaRPr lang="en-US" sz="1200" dirty="0"/>
                    </a:p>
                    <a:p>
                      <a:pPr algn="ctr" indent="0" marL="0">
                        <a:buNone/>
                      </a:pPr>
                      <a:r>
                        <a:rPr lang="en-US" sz="1100" dirty="0">
                          <a:solidFill>
                            <a:schemeClr val="bg1"/>
                          </a:solidFill>
                        </a:rPr>
                        <a:t>Inspection proxy awaiting vendor fix: add exception</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P1 assess</a:t>
                      </a:r>
                      <a:endParaRPr lang="en-US" sz="1200" dirty="0"/>
                    </a:p>
                    <a:p>
                      <a:pPr algn="ctr" indent="0" marL="0">
                        <a:buNone/>
                      </a:pPr>
                      <a:r>
                        <a:rPr lang="en-US" sz="1100" dirty="0">
                          <a:solidFill>
                            <a:schemeClr val="bg1"/>
                          </a:solidFill>
                        </a:rPr>
                        <a:t>Payment API; runtime not yet identified</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r>
              <a:tr h="1097280">
                <a:tc>
                  <a:txBody>
                    <a:bodyPr/>
                    <a:lstStyle/>
                    <a:p>
                      <a:pPr algn="ctr" indent="0" marL="0">
                        <a:buNone/>
                      </a:pPr>
                      <a:r>
                        <a:rPr lang="en-US" sz="2000" b="1" dirty="0">
                          <a:solidFill>
                            <a:schemeClr val="tx1"/>
                          </a:solidFill>
                        </a:rPr>
                        <a:t>M</a:t>
                      </a:r>
                      <a:endParaRPr lang="en-US" sz="1200" dirty="0"/>
                    </a:p>
                    <a:p>
                      <a:pPr algn="ctr" indent="0" marL="0">
                        <a:buNone/>
                      </a:pPr>
                      <a:r>
                        <a:rPr lang="en-US" sz="1100" dirty="0">
                          <a:solidFill>
                            <a:schemeClr val="tx2"/>
                          </a:solidFill>
                        </a:rPr>
                        <a:t>Business data, limited reach</a:t>
                      </a:r>
                      <a:endParaRPr lang="en-US" sz="12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rPr>
                        <a:t>P4</a:t>
                      </a:r>
                      <a:endParaRPr lang="en-US" sz="1200" dirty="0"/>
                    </a:p>
                    <a:p>
                      <a:pPr algn="ctr" indent="0" marL="0">
                        <a:buNone/>
                      </a:pPr>
                      <a:r>
                        <a:rPr lang="en-US" sz="1100" dirty="0">
                          <a:solidFill>
                            <a:schemeClr val="bg1"/>
                          </a:solidFill>
                        </a:rPr>
                        <a:t>Managed browser, not TLS-inspected</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bg1"/>
                          </a:solidFill>
                        </a:rPr>
                        <a:t>P2</a:t>
                      </a:r>
                      <a:endParaRPr lang="en-US" sz="1200" dirty="0"/>
                    </a:p>
                    <a:p>
                      <a:pPr algn="ctr" indent="0" marL="0">
                        <a:buNone/>
                      </a:pPr>
                      <a:r>
                        <a:rPr lang="en-US" sz="1100" dirty="0">
                          <a:solidFill>
                            <a:schemeClr val="bg1"/>
                          </a:solidFill>
                        </a:rPr>
                        <a:t>Internal service using the Linux OS store</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600" b="1" dirty="0">
                          <a:solidFill>
                            <a:schemeClr val="bg1"/>
                          </a:solidFill>
                        </a:rPr>
                        <a:t>P2</a:t>
                      </a:r>
                      <a:endParaRPr lang="en-US" sz="1200" dirty="0"/>
                    </a:p>
                    <a:p>
                      <a:pPr algn="ctr" indent="0" marL="0">
                        <a:buNone/>
                      </a:pPr>
                      <a:r>
                        <a:rPr lang="en-US" sz="1100" dirty="0">
                          <a:solidFill>
                            <a:schemeClr val="bg1"/>
                          </a:solidFill>
                        </a:rPr>
                        <a:t>Internal service using certifi or Node roots</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600" b="1" dirty="0">
                          <a:solidFill>
                            <a:schemeClr val="bg1"/>
                          </a:solidFill>
                        </a:rPr>
                        <a:t>P2</a:t>
                      </a:r>
                      <a:endParaRPr lang="en-US" sz="1200" dirty="0"/>
                    </a:p>
                    <a:p>
                      <a:pPr algn="ctr" indent="0" marL="0">
                        <a:buNone/>
                      </a:pPr>
                      <a:r>
                        <a:rPr lang="en-US" sz="1100" dirty="0">
                          <a:solidFill>
                            <a:schemeClr val="bg1"/>
                          </a:solidFill>
                        </a:rPr>
                        <a:t>Appliance cloud connector; track vendor</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600" b="1" dirty="0">
                          <a:solidFill>
                            <a:schemeClr val="bg1"/>
                          </a:solidFill>
                        </a:rPr>
                        <a:t>P2 assess</a:t>
                      </a:r>
                      <a:endParaRPr lang="en-US" sz="1200" dirty="0"/>
                    </a:p>
                    <a:p>
                      <a:pPr algn="ctr" indent="0" marL="0">
                        <a:buNone/>
                      </a:pPr>
                      <a:r>
                        <a:rPr lang="en-US" sz="1100" dirty="0">
                          <a:solidFill>
                            <a:schemeClr val="bg1"/>
                          </a:solidFill>
                        </a:rPr>
                        <a:t>Internal app not yet assessed</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r>
              <a:tr h="1097280">
                <a:tc>
                  <a:txBody>
                    <a:bodyPr/>
                    <a:lstStyle/>
                    <a:p>
                      <a:pPr algn="ctr" indent="0" marL="0">
                        <a:buNone/>
                      </a:pPr>
                      <a:r>
                        <a:rPr lang="en-US" sz="2000" b="1" dirty="0">
                          <a:solidFill>
                            <a:schemeClr val="tx1"/>
                          </a:solidFill>
                        </a:rPr>
                        <a:t>L</a:t>
                      </a:r>
                      <a:endParaRPr lang="en-US" sz="1200" dirty="0"/>
                    </a:p>
                    <a:p>
                      <a:pPr algn="ctr" indent="0" marL="0">
                        <a:buNone/>
                      </a:pPr>
                      <a:r>
                        <a:rPr lang="en-US" sz="1100" dirty="0">
                          <a:solidFill>
                            <a:schemeClr val="tx2"/>
                          </a:solidFill>
                        </a:rPr>
                        <a:t>Low consequence</a:t>
                      </a:r>
                      <a:endParaRPr lang="en-US" sz="1200" dirty="0"/>
                    </a:p>
                  </a:txBody>
                  <a:tcPr marL="50800" marR="50800" marT="25400" marB="254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rPr>
                        <a:t>P4</a:t>
                      </a:r>
                      <a:endParaRPr lang="en-US" sz="1200" dirty="0"/>
                    </a:p>
                    <a:p>
                      <a:pPr algn="ctr" indent="0" marL="0">
                        <a:buNone/>
                      </a:pPr>
                      <a:r>
                        <a:rPr lang="en-US" sz="1100" dirty="0">
                          <a:solidFill>
                            <a:schemeClr val="bg1"/>
                          </a:solidFill>
                        </a:rPr>
                        <a:t>iPad kiosk on current iOS</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bg1"/>
                          </a:solidFill>
                        </a:rPr>
                        <a:t>P3</a:t>
                      </a:r>
                      <a:endParaRPr lang="en-US" sz="1200" dirty="0"/>
                    </a:p>
                    <a:p>
                      <a:pPr algn="ctr" indent="0" marL="0">
                        <a:buNone/>
                      </a:pPr>
                      <a:r>
                        <a:rPr lang="en-US" sz="1100" dirty="0">
                          <a:solidFill>
                            <a:schemeClr val="bg1"/>
                          </a:solidFill>
                        </a:rPr>
                        <a:t>Low-impact script using system curl</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bg1"/>
                          </a:solidFill>
                        </a:rPr>
                        <a:t>P3</a:t>
                      </a:r>
                      <a:endParaRPr lang="en-US" sz="1200" dirty="0"/>
                    </a:p>
                    <a:p>
                      <a:pPr algn="ctr" indent="0" marL="0">
                        <a:buNone/>
                      </a:pPr>
                      <a:r>
                        <a:rPr lang="en-US" sz="1100" dirty="0">
                          <a:solidFill>
                            <a:schemeClr val="bg1"/>
                          </a:solidFill>
                        </a:rPr>
                        <a:t>Low-impact tool with its own bundle</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bg1"/>
                          </a:solidFill>
                        </a:rPr>
                        <a:t>P3</a:t>
                      </a:r>
                      <a:endParaRPr lang="en-US" sz="1200" dirty="0"/>
                    </a:p>
                    <a:p>
                      <a:pPr algn="ctr" indent="0" marL="0">
                        <a:buNone/>
                      </a:pPr>
                      <a:r>
                        <a:rPr lang="en-US" sz="1100" dirty="0">
                          <a:solidFill>
                            <a:schemeClr val="bg1"/>
                          </a:solidFill>
                        </a:rPr>
                        <a:t>Printer firmware update check; track vendor</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bg1"/>
                          </a:solidFill>
                        </a:rPr>
                        <a:t>P3 assess</a:t>
                      </a:r>
                      <a:endParaRPr lang="en-US" sz="1200" dirty="0"/>
                    </a:p>
                    <a:p>
                      <a:pPr algn="ctr" indent="0" marL="0">
                        <a:buNone/>
                      </a:pPr>
                      <a:r>
                        <a:rPr lang="en-US" sz="1100" dirty="0">
                          <a:solidFill>
                            <a:schemeClr val="bg1"/>
                          </a:solidFill>
                        </a:rPr>
                        <a:t>Low-impact system not yet assessed</a:t>
                      </a:r>
                      <a:endParaRPr lang="en-US" sz="1200" dirty="0"/>
                    </a:p>
                  </a:txBody>
                  <a:tcPr marL="63500" marR="635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r>
            </a:tbl>
          </a:graphicData>
        </a:graphic>
      </p:graphicFrame>
      <p:sp>
        <p:nvSpPr>
          <p:cNvPr id="8" name="Text 5"/>
          <p:cNvSpPr txBox="1"/>
          <p:nvPr/>
        </p:nvSpPr>
        <p:spPr>
          <a:xfrm>
            <a:off x="9555480" y="1920240"/>
            <a:ext cx="2179015"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What the priority means</a:t>
            </a:r>
            <a:endParaRPr lang="en-US" sz="1500" dirty="0"/>
          </a:p>
        </p:txBody>
      </p:sp>
      <p:sp>
        <p:nvSpPr>
          <p:cNvPr id="9" name="Shape 6"/>
          <p:cNvSpPr/>
          <p:nvPr/>
        </p:nvSpPr>
        <p:spPr>
          <a:xfrm>
            <a:off x="9555480" y="2377440"/>
            <a:ext cx="640080" cy="502920"/>
          </a:xfrm>
          <a:prstGeom prst="roundRect">
            <a:avLst>
              <a:gd name="adj" fmla="val 14545"/>
            </a:avLst>
          </a:prstGeom>
          <a:solidFill>
            <a:schemeClr val="accent1"/>
          </a:solidFill>
          <a:ln/>
        </p:spPr>
      </p:sp>
      <p:sp>
        <p:nvSpPr>
          <p:cNvPr id="10" name="Text 7"/>
          <p:cNvSpPr txBox="1"/>
          <p:nvPr/>
        </p:nvSpPr>
        <p:spPr>
          <a:xfrm>
            <a:off x="9555480" y="2377440"/>
            <a:ext cx="640080" cy="502920"/>
          </a:xfrm>
          <a:prstGeom prst="rect">
            <a:avLst/>
          </a:prstGeom>
          <a:noFill/>
          <a:ln/>
        </p:spPr>
        <p:txBody>
          <a:bodyPr wrap="square" lIns="0" tIns="0" rIns="0" bIns="0" rtlCol="0" anchor="ctr"/>
          <a:lstStyle/>
          <a:p>
            <a:pPr algn="ctr" indent="0" marL="0">
              <a:buNone/>
            </a:pPr>
            <a:r>
              <a:rPr lang="en-US" sz="1500" b="1" dirty="0">
                <a:solidFill>
                  <a:schemeClr val="bg1"/>
                </a:solidFill>
              </a:rPr>
              <a:t>P1</a:t>
            </a:r>
            <a:endParaRPr lang="en-US" sz="1500" dirty="0"/>
          </a:p>
        </p:txBody>
      </p:sp>
      <p:sp>
        <p:nvSpPr>
          <p:cNvPr id="11" name="Text 8"/>
          <p:cNvSpPr txBox="1"/>
          <p:nvPr/>
        </p:nvSpPr>
        <p:spPr>
          <a:xfrm>
            <a:off x="10305288" y="2377440"/>
            <a:ext cx="1429207" cy="502920"/>
          </a:xfrm>
          <a:prstGeom prst="rect">
            <a:avLst/>
          </a:prstGeom>
          <a:noFill/>
          <a:ln/>
        </p:spPr>
        <p:txBody>
          <a:bodyPr wrap="square" lIns="0" tIns="0" rIns="0" bIns="0" rtlCol="0" anchor="ctr"/>
          <a:lstStyle/>
          <a:p>
            <a:pPr indent="0" marL="0">
              <a:buNone/>
            </a:pPr>
            <a:r>
              <a:rPr lang="en-US" sz="1200" dirty="0">
                <a:solidFill>
                  <a:schemeClr val="tx1"/>
                </a:solidFill>
              </a:rPr>
              <a:t>Contain in 72 h; close or except in 7 days</a:t>
            </a:r>
            <a:endParaRPr lang="en-US" sz="1200" dirty="0"/>
          </a:p>
        </p:txBody>
      </p:sp>
      <p:sp>
        <p:nvSpPr>
          <p:cNvPr id="12" name="Shape 9"/>
          <p:cNvSpPr/>
          <p:nvPr/>
        </p:nvSpPr>
        <p:spPr>
          <a:xfrm>
            <a:off x="9555480" y="3035808"/>
            <a:ext cx="640080" cy="502920"/>
          </a:xfrm>
          <a:prstGeom prst="roundRect">
            <a:avLst>
              <a:gd name="adj" fmla="val 14545"/>
            </a:avLst>
          </a:prstGeom>
          <a:solidFill>
            <a:schemeClr val="accent4"/>
          </a:solidFill>
          <a:ln/>
        </p:spPr>
      </p:sp>
      <p:sp>
        <p:nvSpPr>
          <p:cNvPr id="13" name="Text 10"/>
          <p:cNvSpPr txBox="1"/>
          <p:nvPr/>
        </p:nvSpPr>
        <p:spPr>
          <a:xfrm>
            <a:off x="9555480" y="3035808"/>
            <a:ext cx="640080" cy="502920"/>
          </a:xfrm>
          <a:prstGeom prst="rect">
            <a:avLst/>
          </a:prstGeom>
          <a:noFill/>
          <a:ln/>
        </p:spPr>
        <p:txBody>
          <a:bodyPr wrap="square" lIns="0" tIns="0" rIns="0" bIns="0" rtlCol="0" anchor="ctr"/>
          <a:lstStyle/>
          <a:p>
            <a:pPr algn="ctr" indent="0" marL="0">
              <a:buNone/>
            </a:pPr>
            <a:r>
              <a:rPr lang="en-US" sz="1500" b="1" dirty="0">
                <a:solidFill>
                  <a:schemeClr val="bg1"/>
                </a:solidFill>
              </a:rPr>
              <a:t>P2</a:t>
            </a:r>
            <a:endParaRPr lang="en-US" sz="1500" dirty="0"/>
          </a:p>
        </p:txBody>
      </p:sp>
      <p:sp>
        <p:nvSpPr>
          <p:cNvPr id="14" name="Text 11"/>
          <p:cNvSpPr txBox="1"/>
          <p:nvPr/>
        </p:nvSpPr>
        <p:spPr>
          <a:xfrm>
            <a:off x="10305288" y="3035808"/>
            <a:ext cx="1429207" cy="502920"/>
          </a:xfrm>
          <a:prstGeom prst="rect">
            <a:avLst/>
          </a:prstGeom>
          <a:noFill/>
          <a:ln/>
        </p:spPr>
        <p:txBody>
          <a:bodyPr wrap="square" lIns="0" tIns="0" rIns="0" bIns="0" rtlCol="0" anchor="ctr"/>
          <a:lstStyle/>
          <a:p>
            <a:pPr indent="0" marL="0">
              <a:buNone/>
            </a:pPr>
            <a:r>
              <a:rPr lang="en-US" sz="1200" dirty="0">
                <a:solidFill>
                  <a:schemeClr val="tx1"/>
                </a:solidFill>
              </a:rPr>
              <a:t>Close or except in 14 days</a:t>
            </a:r>
            <a:endParaRPr lang="en-US" sz="1200" dirty="0"/>
          </a:p>
        </p:txBody>
      </p:sp>
      <p:sp>
        <p:nvSpPr>
          <p:cNvPr id="15" name="Shape 12"/>
          <p:cNvSpPr/>
          <p:nvPr/>
        </p:nvSpPr>
        <p:spPr>
          <a:xfrm>
            <a:off x="9555480" y="3694176"/>
            <a:ext cx="640080" cy="502920"/>
          </a:xfrm>
          <a:prstGeom prst="roundRect">
            <a:avLst>
              <a:gd name="adj" fmla="val 14545"/>
            </a:avLst>
          </a:prstGeom>
          <a:solidFill>
            <a:schemeClr val="accent5"/>
          </a:solidFill>
          <a:ln/>
        </p:spPr>
      </p:sp>
      <p:sp>
        <p:nvSpPr>
          <p:cNvPr id="16" name="Text 13"/>
          <p:cNvSpPr txBox="1"/>
          <p:nvPr/>
        </p:nvSpPr>
        <p:spPr>
          <a:xfrm>
            <a:off x="9555480" y="3694176"/>
            <a:ext cx="640080" cy="502920"/>
          </a:xfrm>
          <a:prstGeom prst="rect">
            <a:avLst/>
          </a:prstGeom>
          <a:noFill/>
          <a:ln/>
        </p:spPr>
        <p:txBody>
          <a:bodyPr wrap="square" lIns="0" tIns="0" rIns="0" bIns="0" rtlCol="0" anchor="ctr"/>
          <a:lstStyle/>
          <a:p>
            <a:pPr algn="ctr" indent="0" marL="0">
              <a:buNone/>
            </a:pPr>
            <a:r>
              <a:rPr lang="en-US" sz="1500" b="1" dirty="0">
                <a:solidFill>
                  <a:schemeClr val="bg1"/>
                </a:solidFill>
              </a:rPr>
              <a:t>P3</a:t>
            </a:r>
            <a:endParaRPr lang="en-US" sz="1500" dirty="0"/>
          </a:p>
        </p:txBody>
      </p:sp>
      <p:sp>
        <p:nvSpPr>
          <p:cNvPr id="17" name="Text 14"/>
          <p:cNvSpPr txBox="1"/>
          <p:nvPr/>
        </p:nvSpPr>
        <p:spPr>
          <a:xfrm>
            <a:off x="10305288" y="3694176"/>
            <a:ext cx="1429207" cy="502920"/>
          </a:xfrm>
          <a:prstGeom prst="rect">
            <a:avLst/>
          </a:prstGeom>
          <a:noFill/>
          <a:ln/>
        </p:spPr>
        <p:txBody>
          <a:bodyPr wrap="square" lIns="0" tIns="0" rIns="0" bIns="0" rtlCol="0" anchor="ctr"/>
          <a:lstStyle/>
          <a:p>
            <a:pPr indent="0" marL="0">
              <a:buNone/>
            </a:pPr>
            <a:r>
              <a:rPr lang="en-US" sz="1200" dirty="0">
                <a:solidFill>
                  <a:schemeClr val="tx1"/>
                </a:solidFill>
              </a:rPr>
              <a:t>Close in 30 days</a:t>
            </a:r>
            <a:endParaRPr lang="en-US" sz="1200" dirty="0"/>
          </a:p>
        </p:txBody>
      </p:sp>
      <p:sp>
        <p:nvSpPr>
          <p:cNvPr id="18" name="Shape 15"/>
          <p:cNvSpPr/>
          <p:nvPr/>
        </p:nvSpPr>
        <p:spPr>
          <a:xfrm>
            <a:off x="9555480" y="4352544"/>
            <a:ext cx="640080" cy="502920"/>
          </a:xfrm>
          <a:prstGeom prst="roundRect">
            <a:avLst>
              <a:gd name="adj" fmla="val 14545"/>
            </a:avLst>
          </a:prstGeom>
          <a:solidFill>
            <a:schemeClr val="accent3"/>
          </a:solidFill>
          <a:ln/>
        </p:spPr>
      </p:sp>
      <p:sp>
        <p:nvSpPr>
          <p:cNvPr id="19" name="Text 16"/>
          <p:cNvSpPr txBox="1"/>
          <p:nvPr/>
        </p:nvSpPr>
        <p:spPr>
          <a:xfrm>
            <a:off x="9555480" y="4352544"/>
            <a:ext cx="640080" cy="502920"/>
          </a:xfrm>
          <a:prstGeom prst="rect">
            <a:avLst/>
          </a:prstGeom>
          <a:noFill/>
          <a:ln/>
        </p:spPr>
        <p:txBody>
          <a:bodyPr wrap="square" lIns="0" tIns="0" rIns="0" bIns="0" rtlCol="0" anchor="ctr"/>
          <a:lstStyle/>
          <a:p>
            <a:pPr algn="ctr" indent="0" marL="0">
              <a:buNone/>
            </a:pPr>
            <a:r>
              <a:rPr lang="en-US" sz="1500" b="1" dirty="0">
                <a:solidFill>
                  <a:schemeClr val="bg1"/>
                </a:solidFill>
              </a:rPr>
              <a:t>P4</a:t>
            </a:r>
            <a:endParaRPr lang="en-US" sz="1500" dirty="0"/>
          </a:p>
        </p:txBody>
      </p:sp>
      <p:sp>
        <p:nvSpPr>
          <p:cNvPr id="20" name="Text 17"/>
          <p:cNvSpPr txBox="1"/>
          <p:nvPr/>
        </p:nvSpPr>
        <p:spPr>
          <a:xfrm>
            <a:off x="10305288" y="4352544"/>
            <a:ext cx="1429207" cy="502920"/>
          </a:xfrm>
          <a:prstGeom prst="rect">
            <a:avLst/>
          </a:prstGeom>
          <a:noFill/>
          <a:ln/>
        </p:spPr>
        <p:txBody>
          <a:bodyPr wrap="square" lIns="0" tIns="0" rIns="0" bIns="0" rtlCol="0" anchor="ctr"/>
          <a:lstStyle/>
          <a:p>
            <a:pPr indent="0" marL="0">
              <a:buNone/>
            </a:pPr>
            <a:r>
              <a:rPr lang="en-US" sz="1200" dirty="0">
                <a:solidFill>
                  <a:schemeClr val="tx1"/>
                </a:solidFill>
              </a:rPr>
              <a:t>Confirm coverage in the normal cycle</a:t>
            </a:r>
            <a:endParaRPr lang="en-US" sz="1200" dirty="0"/>
          </a:p>
        </p:txBody>
      </p:sp>
      <p:sp>
        <p:nvSpPr>
          <p:cNvPr id="21" name="Text 18"/>
          <p:cNvSpPr txBox="1"/>
          <p:nvPr/>
        </p:nvSpPr>
        <p:spPr>
          <a:xfrm>
            <a:off x="9555480" y="5029200"/>
            <a:ext cx="2179015" cy="1051560"/>
          </a:xfrm>
          <a:prstGeom prst="rect">
            <a:avLst/>
          </a:prstGeom>
          <a:noFill/>
          <a:ln/>
        </p:spPr>
        <p:txBody>
          <a:bodyPr wrap="square" lIns="0" tIns="0" rIns="0" bIns="0" rtlCol="0" anchor="t"/>
          <a:lstStyle/>
          <a:p>
            <a:pPr indent="0" marL="0">
              <a:spcAft>
                <a:spcPts val="300"/>
              </a:spcAft>
              <a:buNone/>
            </a:pPr>
            <a:r>
              <a:rPr lang="en-US" sz="1100" b="1" dirty="0">
                <a:solidFill>
                  <a:schemeClr val="tx2"/>
                </a:solidFill>
              </a:rPr>
              <a:t>“assess”</a:t>
            </a:r>
            <a:pPr indent="0" marL="0">
              <a:spcAft>
                <a:spcPts val="300"/>
              </a:spcAft>
              <a:buNone/>
            </a:pPr>
            <a:r>
              <a:rPr lang="en-US" sz="1100" dirty="0">
                <a:solidFill>
                  <a:schemeClr val="tx2"/>
                </a:solidFill>
              </a:rPr>
              <a:t> = not yet rated: assess first, at that priority.</a:t>
            </a:r>
            <a:endParaRPr lang="en-US" sz="1100" dirty="0"/>
          </a:p>
          <a:p>
            <a:pPr indent="0" marL="0">
              <a:spcAft>
                <a:spcPts val="300"/>
              </a:spcAft>
              <a:buNone/>
            </a:pPr>
            <a:r>
              <a:rPr lang="en-US" sz="1100" b="1" dirty="0">
                <a:solidFill>
                  <a:schemeClr val="tx2"/>
                </a:solidFill>
              </a:rPr>
              <a:t>Route C</a:t>
            </a:r>
            <a:pPr indent="0" marL="0">
              <a:spcAft>
                <a:spcPts val="300"/>
              </a:spcAft>
              <a:buNone/>
            </a:pPr>
            <a:r>
              <a:rPr lang="en-US" sz="1100" dirty="0">
                <a:solidFill>
                  <a:schemeClr val="tx2"/>
                </a:solidFill>
              </a:rPr>
              <a:t> (not applicable) sits outside the grid: serve-only sites, private-CA-only services.</a:t>
            </a:r>
            <a:endParaRPr lang="en-US" sz="1100" dirty="0"/>
          </a:p>
          <a:p>
            <a:pPr indent="0" marL="0">
              <a:spcAft>
                <a:spcPts val="300"/>
              </a:spcAft>
              <a:buNone/>
            </a:pPr>
            <a:r>
              <a:rPr lang="en-US" sz="1100" dirty="0">
                <a:solidFill>
                  <a:schemeClr val="tx2"/>
                </a:solidFill>
              </a:rPr>
              <a:t>Suspected exploitation escalates immediately.</a:t>
            </a:r>
            <a:endParaRPr lang="en-US" sz="11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ill"/>
          <p:cNvSpPr/>
          <p:nvPr/>
        </p:nvSpPr>
        <p:spPr>
          <a:xfrm>
            <a:off x="457200" y="292608"/>
            <a:ext cx="882396" cy="256032"/>
          </a:xfrm>
          <a:prstGeom prst="roundRect">
            <a:avLst>
              <a:gd name="adj" fmla="val 50000"/>
            </a:avLst>
          </a:prstGeom>
          <a:solidFill>
            <a:schemeClr val="bg2"/>
          </a:solidFill>
          <a:ln/>
        </p:spPr>
      </p:sp>
      <p:sp>
        <p:nvSpPr>
          <p:cNvPr id="3" name="Eyebrow"/>
          <p:cNvSpPr txBox="1"/>
          <p:nvPr/>
        </p:nvSpPr>
        <p:spPr>
          <a:xfrm>
            <a:off x="457200" y="292608"/>
            <a:ext cx="882396"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FIX FIRST</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Seven paths turn a forged certificate into stolen credentials or code execution</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Treat these as P1 wherever the verifier is not yet confirmed</a:t>
            </a:r>
            <a:endParaRPr lang="en-US" sz="1500" dirty="0"/>
          </a:p>
        </p:txBody>
      </p:sp>
      <p:sp>
        <p:nvSpPr>
          <p:cNvPr id="6" name="Card"/>
          <p:cNvSpPr/>
          <p:nvPr/>
        </p:nvSpPr>
        <p:spPr>
          <a:xfrm>
            <a:off x="457200" y="1920240"/>
            <a:ext cx="2647874" cy="1965960"/>
          </a:xfrm>
          <a:prstGeom prst="rect">
            <a:avLst/>
          </a:prstGeom>
          <a:solidFill>
            <a:schemeClr val="bg2"/>
          </a:solidFill>
          <a:ln/>
        </p:spPr>
      </p:sp>
      <p:sp>
        <p:nvSpPr>
          <p:cNvPr id="7" name="Shape 5"/>
          <p:cNvSpPr/>
          <p:nvPr/>
        </p:nvSpPr>
        <p:spPr>
          <a:xfrm>
            <a:off x="640080" y="2103120"/>
            <a:ext cx="548640" cy="548640"/>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768096" y="2231136"/>
            <a:ext cx="292608" cy="292608"/>
          </a:xfrm>
          <a:prstGeom prst="rect">
            <a:avLst/>
          </a:prstGeom>
        </p:spPr>
      </p:pic>
      <p:sp>
        <p:nvSpPr>
          <p:cNvPr id="9" name="Text 6"/>
          <p:cNvSpPr txBox="1"/>
          <p:nvPr/>
        </p:nvSpPr>
        <p:spPr>
          <a:xfrm>
            <a:off x="2053514" y="2148840"/>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PB-09</a:t>
            </a:r>
            <a:endParaRPr lang="en-US" sz="1100" dirty="0"/>
          </a:p>
        </p:txBody>
      </p:sp>
      <p:sp>
        <p:nvSpPr>
          <p:cNvPr id="10" name="Text 7"/>
          <p:cNvSpPr txBox="1"/>
          <p:nvPr/>
        </p:nvSpPr>
        <p:spPr>
          <a:xfrm>
            <a:off x="640080" y="2724912"/>
            <a:ext cx="2282114" cy="457200"/>
          </a:xfrm>
          <a:prstGeom prst="rect">
            <a:avLst/>
          </a:prstGeom>
          <a:noFill/>
          <a:ln/>
        </p:spPr>
        <p:txBody>
          <a:bodyPr wrap="square" lIns="0" tIns="0" rIns="0" bIns="0" rtlCol="0" anchor="t"/>
          <a:lstStyle/>
          <a:p>
            <a:pPr indent="0" marL="0">
              <a:buNone/>
            </a:pPr>
            <a:r>
              <a:rPr lang="en-US" sz="1400" b="1" dirty="0">
                <a:solidFill>
                  <a:schemeClr val="tx1"/>
                </a:solidFill>
              </a:rPr>
              <a:t>Inspection and egress proxies</a:t>
            </a:r>
            <a:endParaRPr lang="en-US" sz="1400" dirty="0"/>
          </a:p>
        </p:txBody>
      </p:sp>
      <p:sp>
        <p:nvSpPr>
          <p:cNvPr id="11" name="Text 8"/>
          <p:cNvSpPr txBox="1"/>
          <p:nvPr/>
        </p:nvSpPr>
        <p:spPr>
          <a:xfrm>
            <a:off x="640080" y="3246120"/>
            <a:ext cx="2282114" cy="594360"/>
          </a:xfrm>
          <a:prstGeom prst="rect">
            <a:avLst/>
          </a:prstGeom>
          <a:noFill/>
          <a:ln/>
        </p:spPr>
        <p:txBody>
          <a:bodyPr wrap="square" lIns="0" tIns="0" rIns="0" bIns="0" rtlCol="0" anchor="t"/>
          <a:lstStyle/>
          <a:p>
            <a:pPr indent="0" marL="0">
              <a:buNone/>
            </a:pPr>
            <a:r>
              <a:rPr lang="en-US" sz="1200" dirty="0">
                <a:solidFill>
                  <a:schemeClr val="tx2"/>
                </a:solidFill>
              </a:rPr>
              <a:t>Decide trust for every client behind them. Block untrusted upstream certificates (D-07).</a:t>
            </a:r>
            <a:endParaRPr lang="en-US" sz="1200" dirty="0"/>
          </a:p>
        </p:txBody>
      </p:sp>
      <p:sp>
        <p:nvSpPr>
          <p:cNvPr id="12" name="Card"/>
          <p:cNvSpPr/>
          <p:nvPr/>
        </p:nvSpPr>
        <p:spPr>
          <a:xfrm>
            <a:off x="3333674" y="1920240"/>
            <a:ext cx="2647874" cy="1965960"/>
          </a:xfrm>
          <a:prstGeom prst="rect">
            <a:avLst/>
          </a:prstGeom>
          <a:solidFill>
            <a:schemeClr val="bg2"/>
          </a:solidFill>
          <a:ln/>
        </p:spPr>
      </p:sp>
      <p:sp>
        <p:nvSpPr>
          <p:cNvPr id="13" name="Shape 10"/>
          <p:cNvSpPr/>
          <p:nvPr/>
        </p:nvSpPr>
        <p:spPr>
          <a:xfrm>
            <a:off x="3516554" y="2103120"/>
            <a:ext cx="548640" cy="54864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644570" y="2231136"/>
            <a:ext cx="292608" cy="292608"/>
          </a:xfrm>
          <a:prstGeom prst="rect">
            <a:avLst/>
          </a:prstGeom>
        </p:spPr>
      </p:pic>
      <p:sp>
        <p:nvSpPr>
          <p:cNvPr id="15" name="Text 11"/>
          <p:cNvSpPr txBox="1"/>
          <p:nvPr/>
        </p:nvSpPr>
        <p:spPr>
          <a:xfrm>
            <a:off x="4929988" y="2148840"/>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PB-16</a:t>
            </a:r>
            <a:endParaRPr lang="en-US" sz="1100" dirty="0"/>
          </a:p>
        </p:txBody>
      </p:sp>
      <p:sp>
        <p:nvSpPr>
          <p:cNvPr id="16" name="Text 12"/>
          <p:cNvSpPr txBox="1"/>
          <p:nvPr/>
        </p:nvSpPr>
        <p:spPr>
          <a:xfrm>
            <a:off x="3516554" y="2724912"/>
            <a:ext cx="2282114" cy="457200"/>
          </a:xfrm>
          <a:prstGeom prst="rect">
            <a:avLst/>
          </a:prstGeom>
          <a:noFill/>
          <a:ln/>
        </p:spPr>
        <p:txBody>
          <a:bodyPr wrap="square" lIns="0" tIns="0" rIns="0" bIns="0" rtlCol="0" anchor="t"/>
          <a:lstStyle/>
          <a:p>
            <a:pPr indent="0" marL="0">
              <a:buNone/>
            </a:pPr>
            <a:r>
              <a:rPr lang="en-US" sz="1400" b="1" dirty="0">
                <a:solidFill>
                  <a:schemeClr val="tx1"/>
                </a:solidFill>
              </a:rPr>
              <a:t>Identity: JWKS, SAML metadata, tokens</a:t>
            </a:r>
            <a:endParaRPr lang="en-US" sz="1400" dirty="0"/>
          </a:p>
        </p:txBody>
      </p:sp>
      <p:sp>
        <p:nvSpPr>
          <p:cNvPr id="17" name="Text 13"/>
          <p:cNvSpPr txBox="1"/>
          <p:nvPr/>
        </p:nvSpPr>
        <p:spPr>
          <a:xfrm>
            <a:off x="3516554" y="3246120"/>
            <a:ext cx="2282114" cy="594360"/>
          </a:xfrm>
          <a:prstGeom prst="rect">
            <a:avLst/>
          </a:prstGeom>
          <a:noFill/>
          <a:ln/>
        </p:spPr>
        <p:txBody>
          <a:bodyPr wrap="square" lIns="0" tIns="0" rIns="0" bIns="0" rtlCol="0" anchor="t"/>
          <a:lstStyle/>
          <a:p>
            <a:pPr indent="0" marL="0">
              <a:buNone/>
            </a:pPr>
            <a:r>
              <a:rPr lang="en-US" sz="1200" dirty="0">
                <a:solidFill>
                  <a:schemeClr val="tx2"/>
                </a:solidFill>
              </a:rPr>
              <a:t>A forged JWKS endpoint lets an attacker mint tokens your API accepts.</a:t>
            </a:r>
            <a:endParaRPr lang="en-US" sz="1200" dirty="0"/>
          </a:p>
        </p:txBody>
      </p:sp>
      <p:sp>
        <p:nvSpPr>
          <p:cNvPr id="18" name="Card"/>
          <p:cNvSpPr/>
          <p:nvPr/>
        </p:nvSpPr>
        <p:spPr>
          <a:xfrm>
            <a:off x="6210148" y="1920240"/>
            <a:ext cx="2647874" cy="1965960"/>
          </a:xfrm>
          <a:prstGeom prst="rect">
            <a:avLst/>
          </a:prstGeom>
          <a:solidFill>
            <a:schemeClr val="bg2"/>
          </a:solidFill>
          <a:ln/>
        </p:spPr>
      </p:sp>
      <p:sp>
        <p:nvSpPr>
          <p:cNvPr id="19" name="Shape 15"/>
          <p:cNvSpPr/>
          <p:nvPr/>
        </p:nvSpPr>
        <p:spPr>
          <a:xfrm>
            <a:off x="6393028" y="2103120"/>
            <a:ext cx="548640" cy="54864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6521044" y="2231136"/>
            <a:ext cx="292608" cy="292608"/>
          </a:xfrm>
          <a:prstGeom prst="rect">
            <a:avLst/>
          </a:prstGeom>
        </p:spPr>
      </p:pic>
      <p:sp>
        <p:nvSpPr>
          <p:cNvPr id="21" name="Text 16"/>
          <p:cNvSpPr txBox="1"/>
          <p:nvPr/>
        </p:nvSpPr>
        <p:spPr>
          <a:xfrm>
            <a:off x="7806461" y="2148840"/>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PB-08</a:t>
            </a:r>
            <a:endParaRPr lang="en-US" sz="1100" dirty="0"/>
          </a:p>
        </p:txBody>
      </p:sp>
      <p:sp>
        <p:nvSpPr>
          <p:cNvPr id="22" name="Text 17"/>
          <p:cNvSpPr txBox="1"/>
          <p:nvPr/>
        </p:nvSpPr>
        <p:spPr>
          <a:xfrm>
            <a:off x="6393028" y="2724912"/>
            <a:ext cx="2282114" cy="457200"/>
          </a:xfrm>
          <a:prstGeom prst="rect">
            <a:avLst/>
          </a:prstGeom>
          <a:noFill/>
          <a:ln/>
        </p:spPr>
        <p:txBody>
          <a:bodyPr wrap="square" lIns="0" tIns="0" rIns="0" bIns="0" rtlCol="0" anchor="t"/>
          <a:lstStyle/>
          <a:p>
            <a:pPr indent="0" marL="0">
              <a:buNone/>
            </a:pPr>
            <a:r>
              <a:rPr lang="en-US" sz="1400" b="1" dirty="0">
                <a:solidFill>
                  <a:schemeClr val="tx1"/>
                </a:solidFill>
              </a:rPr>
              <a:t>Build pipelines and artifact proxies</a:t>
            </a:r>
            <a:endParaRPr lang="en-US" sz="1400" dirty="0"/>
          </a:p>
        </p:txBody>
      </p:sp>
      <p:sp>
        <p:nvSpPr>
          <p:cNvPr id="23" name="Text 18"/>
          <p:cNvSpPr txBox="1"/>
          <p:nvPr/>
        </p:nvSpPr>
        <p:spPr>
          <a:xfrm>
            <a:off x="6393028" y="3246120"/>
            <a:ext cx="2282114" cy="594360"/>
          </a:xfrm>
          <a:prstGeom prst="rect">
            <a:avLst/>
          </a:prstGeom>
          <a:noFill/>
          <a:ln/>
        </p:spPr>
        <p:txBody>
          <a:bodyPr wrap="square" lIns="0" tIns="0" rIns="0" bIns="0" rtlCol="0" anchor="t"/>
          <a:lstStyle/>
          <a:p>
            <a:pPr indent="0" marL="0">
              <a:buNone/>
            </a:pPr>
            <a:r>
              <a:rPr lang="en-US" sz="1200" dirty="0">
                <a:solidFill>
                  <a:schemeClr val="tx2"/>
                </a:solidFill>
              </a:rPr>
              <a:t>Artifactory/Nexus pull for every build. Usually Java: fix the JVM store.</a:t>
            </a:r>
            <a:endParaRPr lang="en-US" sz="1200" dirty="0"/>
          </a:p>
        </p:txBody>
      </p:sp>
      <p:sp>
        <p:nvSpPr>
          <p:cNvPr id="24" name="Card"/>
          <p:cNvSpPr/>
          <p:nvPr/>
        </p:nvSpPr>
        <p:spPr>
          <a:xfrm>
            <a:off x="9086621" y="1920240"/>
            <a:ext cx="2647874" cy="1965960"/>
          </a:xfrm>
          <a:prstGeom prst="rect">
            <a:avLst/>
          </a:prstGeom>
          <a:solidFill>
            <a:schemeClr val="bg2"/>
          </a:solidFill>
          <a:ln/>
        </p:spPr>
      </p:sp>
      <p:sp>
        <p:nvSpPr>
          <p:cNvPr id="25" name="Shape 20"/>
          <p:cNvSpPr/>
          <p:nvPr/>
        </p:nvSpPr>
        <p:spPr>
          <a:xfrm>
            <a:off x="9269501" y="2103120"/>
            <a:ext cx="548640" cy="54864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9397517" y="2231136"/>
            <a:ext cx="292608" cy="292608"/>
          </a:xfrm>
          <a:prstGeom prst="rect">
            <a:avLst/>
          </a:prstGeom>
        </p:spPr>
      </p:pic>
      <p:sp>
        <p:nvSpPr>
          <p:cNvPr id="27" name="Text 21"/>
          <p:cNvSpPr txBox="1"/>
          <p:nvPr/>
        </p:nvSpPr>
        <p:spPr>
          <a:xfrm>
            <a:off x="10682935" y="2148840"/>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PB-04–07</a:t>
            </a:r>
            <a:endParaRPr lang="en-US" sz="1100" dirty="0"/>
          </a:p>
        </p:txBody>
      </p:sp>
      <p:sp>
        <p:nvSpPr>
          <p:cNvPr id="28" name="Text 22"/>
          <p:cNvSpPr txBox="1"/>
          <p:nvPr/>
        </p:nvSpPr>
        <p:spPr>
          <a:xfrm>
            <a:off x="9269501" y="2724912"/>
            <a:ext cx="2282114" cy="457200"/>
          </a:xfrm>
          <a:prstGeom prst="rect">
            <a:avLst/>
          </a:prstGeom>
          <a:noFill/>
          <a:ln/>
        </p:spPr>
        <p:txBody>
          <a:bodyPr wrap="square" lIns="0" tIns="0" rIns="0" bIns="0" rtlCol="0" anchor="t"/>
          <a:lstStyle/>
          <a:p>
            <a:pPr indent="0" marL="0">
              <a:buNone/>
            </a:pPr>
            <a:r>
              <a:rPr lang="en-US" sz="1400" b="1" dirty="0">
                <a:solidFill>
                  <a:schemeClr val="tx1"/>
                </a:solidFill>
              </a:rPr>
              <a:t>Payment and customer-data APIs</a:t>
            </a:r>
            <a:endParaRPr lang="en-US" sz="1400" dirty="0"/>
          </a:p>
        </p:txBody>
      </p:sp>
      <p:sp>
        <p:nvSpPr>
          <p:cNvPr id="29" name="Text 23"/>
          <p:cNvSpPr txBox="1"/>
          <p:nvPr/>
        </p:nvSpPr>
        <p:spPr>
          <a:xfrm>
            <a:off x="9269501" y="3246120"/>
            <a:ext cx="2282114" cy="594360"/>
          </a:xfrm>
          <a:prstGeom prst="rect">
            <a:avLst/>
          </a:prstGeom>
          <a:noFill/>
          <a:ln/>
        </p:spPr>
        <p:txBody>
          <a:bodyPr wrap="square" lIns="0" tIns="0" rIns="0" bIns="0" rtlCol="0" anchor="t"/>
          <a:lstStyle/>
          <a:p>
            <a:pPr indent="0" marL="0">
              <a:buNone/>
            </a:pPr>
            <a:r>
              <a:rPr lang="en-US" sz="1200" dirty="0">
                <a:solidFill>
                  <a:schemeClr val="tx2"/>
                </a:solidFill>
              </a:rPr>
              <a:t>Outbound calls from Java, Python, Node and Go services carrying sensitive data.</a:t>
            </a:r>
            <a:endParaRPr lang="en-US" sz="1200" dirty="0"/>
          </a:p>
        </p:txBody>
      </p:sp>
      <p:sp>
        <p:nvSpPr>
          <p:cNvPr id="30" name="Card"/>
          <p:cNvSpPr/>
          <p:nvPr/>
        </p:nvSpPr>
        <p:spPr>
          <a:xfrm>
            <a:off x="1895437" y="4087368"/>
            <a:ext cx="2647874" cy="1965960"/>
          </a:xfrm>
          <a:prstGeom prst="rect">
            <a:avLst/>
          </a:prstGeom>
          <a:solidFill>
            <a:schemeClr val="bg2"/>
          </a:solidFill>
          <a:ln/>
        </p:spPr>
      </p:sp>
      <p:sp>
        <p:nvSpPr>
          <p:cNvPr id="31" name="Shape 25"/>
          <p:cNvSpPr/>
          <p:nvPr/>
        </p:nvSpPr>
        <p:spPr>
          <a:xfrm>
            <a:off x="2078317" y="4270248"/>
            <a:ext cx="548640" cy="548640"/>
          </a:xfrm>
          <a:prstGeom prst="ellipse">
            <a:avLst/>
          </a:prstGeom>
          <a:solidFill>
            <a:schemeClr val="accent1"/>
          </a:solidFill>
          <a:ln/>
        </p:spPr>
      </p:sp>
      <p:pic>
        <p:nvPicPr>
          <p:cNvPr id="32" name="Image 4" descr="preencoded.png">    </p:cNvPr>
          <p:cNvPicPr>
            <a:picLocks noChangeAspect="1"/>
          </p:cNvPicPr>
          <p:nvPr/>
        </p:nvPicPr>
        <p:blipFill>
          <a:blip r:embed="rId5"/>
          <a:stretch>
            <a:fillRect/>
          </a:stretch>
        </p:blipFill>
        <p:spPr>
          <a:xfrm>
            <a:off x="2206333" y="4398264"/>
            <a:ext cx="292608" cy="292608"/>
          </a:xfrm>
          <a:prstGeom prst="rect">
            <a:avLst/>
          </a:prstGeom>
        </p:spPr>
      </p:pic>
      <p:sp>
        <p:nvSpPr>
          <p:cNvPr id="33" name="Text 26"/>
          <p:cNvSpPr txBox="1"/>
          <p:nvPr/>
        </p:nvSpPr>
        <p:spPr>
          <a:xfrm>
            <a:off x="3491751" y="4315968"/>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PB-16</a:t>
            </a:r>
            <a:endParaRPr lang="en-US" sz="1100" dirty="0"/>
          </a:p>
        </p:txBody>
      </p:sp>
      <p:sp>
        <p:nvSpPr>
          <p:cNvPr id="34" name="Text 27"/>
          <p:cNvSpPr txBox="1"/>
          <p:nvPr/>
        </p:nvSpPr>
        <p:spPr>
          <a:xfrm>
            <a:off x="2078317" y="4892040"/>
            <a:ext cx="2282114" cy="457200"/>
          </a:xfrm>
          <a:prstGeom prst="rect">
            <a:avLst/>
          </a:prstGeom>
          <a:noFill/>
          <a:ln/>
        </p:spPr>
        <p:txBody>
          <a:bodyPr wrap="square" lIns="0" tIns="0" rIns="0" bIns="0" rtlCol="0" anchor="t"/>
          <a:lstStyle/>
          <a:p>
            <a:pPr indent="0" marL="0">
              <a:buNone/>
            </a:pPr>
            <a:r>
              <a:rPr lang="en-US" sz="1400" b="1" dirty="0">
                <a:solidFill>
                  <a:schemeClr val="tx1"/>
                </a:solidFill>
              </a:rPr>
              <a:t>Inbound mTLS trusting public roots</a:t>
            </a:r>
            <a:endParaRPr lang="en-US" sz="1400" dirty="0"/>
          </a:p>
        </p:txBody>
      </p:sp>
      <p:sp>
        <p:nvSpPr>
          <p:cNvPr id="35" name="Text 28"/>
          <p:cNvSpPr txBox="1"/>
          <p:nvPr/>
        </p:nvSpPr>
        <p:spPr>
          <a:xfrm>
            <a:off x="2078317" y="5413248"/>
            <a:ext cx="2282114" cy="594360"/>
          </a:xfrm>
          <a:prstGeom prst="rect">
            <a:avLst/>
          </a:prstGeom>
          <a:noFill/>
          <a:ln/>
        </p:spPr>
        <p:txBody>
          <a:bodyPr wrap="square" lIns="0" tIns="0" rIns="0" bIns="0" rtlCol="0" anchor="t"/>
          <a:lstStyle/>
          <a:p>
            <a:pPr indent="0" marL="0">
              <a:buNone/>
            </a:pPr>
            <a:r>
              <a:rPr lang="en-US" sz="1200" dirty="0">
                <a:solidFill>
                  <a:schemeClr val="tx2"/>
                </a:solidFill>
              </a:rPr>
              <a:t>No interception needed: the attacker connects directly with a forged client certificate.</a:t>
            </a:r>
            <a:endParaRPr lang="en-US" sz="1200" dirty="0"/>
          </a:p>
        </p:txBody>
      </p:sp>
      <p:sp>
        <p:nvSpPr>
          <p:cNvPr id="36" name="Card"/>
          <p:cNvSpPr/>
          <p:nvPr/>
        </p:nvSpPr>
        <p:spPr>
          <a:xfrm>
            <a:off x="4771911" y="4087368"/>
            <a:ext cx="2647874" cy="1965960"/>
          </a:xfrm>
          <a:prstGeom prst="rect">
            <a:avLst/>
          </a:prstGeom>
          <a:solidFill>
            <a:schemeClr val="bg2"/>
          </a:solidFill>
          <a:ln/>
        </p:spPr>
      </p:sp>
      <p:sp>
        <p:nvSpPr>
          <p:cNvPr id="37" name="Shape 30"/>
          <p:cNvSpPr/>
          <p:nvPr/>
        </p:nvSpPr>
        <p:spPr>
          <a:xfrm>
            <a:off x="4954791" y="4270248"/>
            <a:ext cx="548640" cy="548640"/>
          </a:xfrm>
          <a:prstGeom prst="ellipse">
            <a:avLst/>
          </a:prstGeom>
          <a:solidFill>
            <a:schemeClr val="accent1"/>
          </a:solidFill>
          <a:ln/>
        </p:spPr>
      </p:sp>
      <p:pic>
        <p:nvPicPr>
          <p:cNvPr id="38" name="Image 5" descr="preencoded.png">    </p:cNvPr>
          <p:cNvPicPr>
            <a:picLocks noChangeAspect="1"/>
          </p:cNvPicPr>
          <p:nvPr/>
        </p:nvPicPr>
        <p:blipFill>
          <a:blip r:embed="rId6"/>
          <a:stretch>
            <a:fillRect/>
          </a:stretch>
        </p:blipFill>
        <p:spPr>
          <a:xfrm>
            <a:off x="5082807" y="4398264"/>
            <a:ext cx="292608" cy="292608"/>
          </a:xfrm>
          <a:prstGeom prst="rect">
            <a:avLst/>
          </a:prstGeom>
        </p:spPr>
      </p:pic>
      <p:sp>
        <p:nvSpPr>
          <p:cNvPr id="39" name="Text 31"/>
          <p:cNvSpPr txBox="1"/>
          <p:nvPr/>
        </p:nvSpPr>
        <p:spPr>
          <a:xfrm>
            <a:off x="6368225" y="4315968"/>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PB-12</a:t>
            </a:r>
            <a:endParaRPr lang="en-US" sz="1100" dirty="0"/>
          </a:p>
        </p:txBody>
      </p:sp>
      <p:sp>
        <p:nvSpPr>
          <p:cNvPr id="40" name="Text 32"/>
          <p:cNvSpPr txBox="1"/>
          <p:nvPr/>
        </p:nvSpPr>
        <p:spPr>
          <a:xfrm>
            <a:off x="4954791" y="4892040"/>
            <a:ext cx="2282114" cy="457200"/>
          </a:xfrm>
          <a:prstGeom prst="rect">
            <a:avLst/>
          </a:prstGeom>
          <a:noFill/>
          <a:ln/>
        </p:spPr>
        <p:txBody>
          <a:bodyPr wrap="square" lIns="0" tIns="0" rIns="0" bIns="0" rtlCol="0" anchor="t"/>
          <a:lstStyle/>
          <a:p>
            <a:pPr indent="0" marL="0">
              <a:buNone/>
            </a:pPr>
            <a:r>
              <a:rPr lang="en-US" sz="1400" b="1" dirty="0">
                <a:solidFill>
                  <a:schemeClr val="tx1"/>
                </a:solidFill>
              </a:rPr>
              <a:t>Code signing and application control</a:t>
            </a:r>
            <a:endParaRPr lang="en-US" sz="1400" dirty="0"/>
          </a:p>
        </p:txBody>
      </p:sp>
      <p:sp>
        <p:nvSpPr>
          <p:cNvPr id="41" name="Text 33"/>
          <p:cNvSpPr txBox="1"/>
          <p:nvPr/>
        </p:nvSpPr>
        <p:spPr>
          <a:xfrm>
            <a:off x="4954791" y="5413248"/>
            <a:ext cx="2282114" cy="594360"/>
          </a:xfrm>
          <a:prstGeom prst="rect">
            <a:avLst/>
          </a:prstGeom>
          <a:noFill/>
          <a:ln/>
        </p:spPr>
        <p:txBody>
          <a:bodyPr wrap="square" lIns="0" tIns="0" rIns="0" bIns="0" rtlCol="0" anchor="t"/>
          <a:lstStyle/>
          <a:p>
            <a:pPr indent="0" marL="0">
              <a:buNone/>
            </a:pPr>
            <a:r>
              <a:rPr lang="en-US" sz="1200" dirty="0">
                <a:solidFill>
                  <a:schemeClr val="tx2"/>
                </a:solidFill>
              </a:rPr>
              <a:t>Publisher-name rules could accept forged signatures while Windows trusted the chain.</a:t>
            </a:r>
            <a:endParaRPr lang="en-US" sz="1200" dirty="0"/>
          </a:p>
        </p:txBody>
      </p:sp>
      <p:sp>
        <p:nvSpPr>
          <p:cNvPr id="42" name="Card"/>
          <p:cNvSpPr/>
          <p:nvPr/>
        </p:nvSpPr>
        <p:spPr>
          <a:xfrm>
            <a:off x="7648385" y="4087368"/>
            <a:ext cx="2647874" cy="1965960"/>
          </a:xfrm>
          <a:prstGeom prst="rect">
            <a:avLst/>
          </a:prstGeom>
          <a:solidFill>
            <a:schemeClr val="bg2"/>
          </a:solidFill>
          <a:ln/>
        </p:spPr>
      </p:sp>
      <p:sp>
        <p:nvSpPr>
          <p:cNvPr id="43" name="Shape 35"/>
          <p:cNvSpPr/>
          <p:nvPr/>
        </p:nvSpPr>
        <p:spPr>
          <a:xfrm>
            <a:off x="7831265" y="4270248"/>
            <a:ext cx="548640" cy="548640"/>
          </a:xfrm>
          <a:prstGeom prst="ellipse">
            <a:avLst/>
          </a:prstGeom>
          <a:solidFill>
            <a:schemeClr val="accent1"/>
          </a:solidFill>
          <a:ln/>
        </p:spPr>
      </p:sp>
      <p:pic>
        <p:nvPicPr>
          <p:cNvPr id="44" name="Image 6" descr="preencoded.png">    </p:cNvPr>
          <p:cNvPicPr>
            <a:picLocks noChangeAspect="1"/>
          </p:cNvPicPr>
          <p:nvPr/>
        </p:nvPicPr>
        <p:blipFill>
          <a:blip r:embed="rId7"/>
          <a:stretch>
            <a:fillRect/>
          </a:stretch>
        </p:blipFill>
        <p:spPr>
          <a:xfrm>
            <a:off x="7959281" y="4398264"/>
            <a:ext cx="292608" cy="292608"/>
          </a:xfrm>
          <a:prstGeom prst="rect">
            <a:avLst/>
          </a:prstGeom>
        </p:spPr>
      </p:pic>
      <p:sp>
        <p:nvSpPr>
          <p:cNvPr id="45" name="Text 36"/>
          <p:cNvSpPr txBox="1"/>
          <p:nvPr/>
        </p:nvSpPr>
        <p:spPr>
          <a:xfrm>
            <a:off x="9244698" y="4315968"/>
            <a:ext cx="868680" cy="274320"/>
          </a:xfrm>
          <a:prstGeom prst="rect">
            <a:avLst/>
          </a:prstGeom>
          <a:noFill/>
          <a:ln/>
        </p:spPr>
        <p:txBody>
          <a:bodyPr wrap="square" lIns="0" tIns="0" rIns="0" bIns="0" rtlCol="0" anchor="ctr"/>
          <a:lstStyle/>
          <a:p>
            <a:pPr algn="r" indent="0" marL="0">
              <a:buNone/>
            </a:pPr>
            <a:r>
              <a:rPr lang="en-US" sz="1100" b="1" dirty="0">
                <a:solidFill>
                  <a:schemeClr val="accent2"/>
                </a:solidFill>
              </a:rPr>
              <a:t>PB-01</a:t>
            </a:r>
            <a:endParaRPr lang="en-US" sz="1100" dirty="0"/>
          </a:p>
        </p:txBody>
      </p:sp>
      <p:sp>
        <p:nvSpPr>
          <p:cNvPr id="46" name="Text 37"/>
          <p:cNvSpPr txBox="1"/>
          <p:nvPr/>
        </p:nvSpPr>
        <p:spPr>
          <a:xfrm>
            <a:off x="7831265" y="4892040"/>
            <a:ext cx="2282114" cy="457200"/>
          </a:xfrm>
          <a:prstGeom prst="rect">
            <a:avLst/>
          </a:prstGeom>
          <a:noFill/>
          <a:ln/>
        </p:spPr>
        <p:txBody>
          <a:bodyPr wrap="square" lIns="0" tIns="0" rIns="0" bIns="0" rtlCol="0" anchor="t"/>
          <a:lstStyle/>
          <a:p>
            <a:pPr indent="0" marL="0">
              <a:buNone/>
            </a:pPr>
            <a:r>
              <a:rPr lang="en-US" sz="1400" b="1" dirty="0">
                <a:solidFill>
                  <a:schemeClr val="tx1"/>
                </a:solidFill>
              </a:rPr>
              <a:t>Admin and developer workstations</a:t>
            </a:r>
            <a:endParaRPr lang="en-US" sz="1400" dirty="0"/>
          </a:p>
        </p:txBody>
      </p:sp>
      <p:sp>
        <p:nvSpPr>
          <p:cNvPr id="47" name="Text 38"/>
          <p:cNvSpPr txBox="1"/>
          <p:nvPr/>
        </p:nvSpPr>
        <p:spPr>
          <a:xfrm>
            <a:off x="7831265" y="5413248"/>
            <a:ext cx="2282114" cy="594360"/>
          </a:xfrm>
          <a:prstGeom prst="rect">
            <a:avLst/>
          </a:prstGeom>
          <a:noFill/>
          <a:ln/>
        </p:spPr>
        <p:txBody>
          <a:bodyPr wrap="square" lIns="0" tIns="0" rIns="0" bIns="0" rtlCol="0" anchor="t"/>
          <a:lstStyle/>
          <a:p>
            <a:pPr indent="0" marL="0">
              <a:buNone/>
            </a:pPr>
            <a:r>
              <a:rPr lang="en-US" sz="1200" dirty="0">
                <a:solidFill>
                  <a:schemeClr val="tx2"/>
                </a:solidFill>
              </a:rPr>
              <a:t>CLI tools and SDKs holding cloud credentials or signing keys sit outside the browser proviso.</a:t>
            </a:r>
            <a:endParaRPr lang="en-US" sz="1200" dirty="0"/>
          </a:p>
        </p:txBody>
      </p:sp>
      <p:sp>
        <p:nvSpPr>
          <p:cNvPr id="49"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ill"/>
          <p:cNvSpPr/>
          <p:nvPr/>
        </p:nvSpPr>
        <p:spPr>
          <a:xfrm>
            <a:off x="457200" y="292608"/>
            <a:ext cx="2359152" cy="256032"/>
          </a:xfrm>
          <a:prstGeom prst="roundRect">
            <a:avLst>
              <a:gd name="adj" fmla="val 50000"/>
            </a:avLst>
          </a:prstGeom>
          <a:solidFill>
            <a:schemeClr val="bg2"/>
          </a:solidFill>
          <a:ln/>
        </p:spPr>
      </p:sp>
      <p:sp>
        <p:nvSpPr>
          <p:cNvPr id="3" name="Eyebrow"/>
          <p:cNvSpPr txBox="1"/>
          <p:nvPr/>
        </p:nvSpPr>
        <p:spPr>
          <a:xfrm>
            <a:off x="457200" y="292608"/>
            <a:ext cx="235915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AVAILABILITY · 26–27 OCTOBER</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Chrome, Edge and Windows have stopped trusting emSign root certificates, so legitimate sites will break</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A separate track from the security tiers, with its own owner and date</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Sources: Google Security Blog (root removal, ~30,000 estimate); Microsoft Security Response Center (Windows and Edge removals); The Hacker News (eMudhra exit). certifi and webpki-roots contents checked on PyPI and crates.io.</a:t>
            </a:r>
            <a:endParaRPr lang="en-US" sz="1000" dirty="0"/>
          </a:p>
        </p:txBody>
      </p:sp>
      <p:sp>
        <p:nvSpPr>
          <p:cNvPr id="7" name="Date panel"/>
          <p:cNvSpPr/>
          <p:nvPr/>
        </p:nvSpPr>
        <p:spPr>
          <a:xfrm>
            <a:off x="457200" y="1920240"/>
            <a:ext cx="3108960" cy="4114800"/>
          </a:xfrm>
          <a:prstGeom prst="rect">
            <a:avLst/>
          </a:prstGeom>
          <a:solidFill>
            <a:schemeClr val="tx1"/>
          </a:solidFill>
          <a:ln/>
        </p:spPr>
      </p:sp>
      <p:sp>
        <p:nvSpPr>
          <p:cNvPr id="8" name="Text 6"/>
          <p:cNvSpPr txBox="1"/>
          <p:nvPr/>
        </p:nvSpPr>
        <p:spPr>
          <a:xfrm>
            <a:off x="731520" y="2103120"/>
            <a:ext cx="2560320" cy="822960"/>
          </a:xfrm>
          <a:prstGeom prst="rect">
            <a:avLst/>
          </a:prstGeom>
          <a:noFill/>
          <a:ln/>
        </p:spPr>
        <p:txBody>
          <a:bodyPr wrap="square" lIns="0" tIns="0" rIns="0" bIns="0" rtlCol="0" anchor="ctr"/>
          <a:lstStyle/>
          <a:p>
            <a:pPr indent="0" marL="0">
              <a:buNone/>
            </a:pPr>
            <a:r>
              <a:rPr lang="en-US" sz="4400" b="1" dirty="0">
                <a:solidFill>
                  <a:srgbClr val="F2B8AD"/>
                </a:solidFill>
                <a:latin typeface="Cambria" pitchFamily="34" charset="0"/>
                <a:ea typeface="Cambria" pitchFamily="34" charset="-122"/>
                <a:cs typeface="Cambria" pitchFamily="34" charset="-120"/>
              </a:rPr>
              <a:t>27 Oct</a:t>
            </a:r>
            <a:endParaRPr lang="en-US" sz="4400" dirty="0"/>
          </a:p>
        </p:txBody>
      </p:sp>
      <p:sp>
        <p:nvSpPr>
          <p:cNvPr id="9" name="Text 7"/>
          <p:cNvSpPr txBox="1"/>
          <p:nvPr/>
        </p:nvSpPr>
        <p:spPr>
          <a:xfrm>
            <a:off x="731520" y="2926080"/>
            <a:ext cx="2560320" cy="731520"/>
          </a:xfrm>
          <a:prstGeom prst="rect">
            <a:avLst/>
          </a:prstGeom>
          <a:noFill/>
          <a:ln/>
        </p:spPr>
        <p:txBody>
          <a:bodyPr wrap="square" lIns="0" tIns="0" rIns="0" bIns="0" rtlCol="0" anchor="ctr"/>
          <a:lstStyle/>
          <a:p>
            <a:pPr indent="0" marL="0">
              <a:buNone/>
            </a:pPr>
            <a:r>
              <a:rPr lang="en-US" sz="1500" dirty="0">
                <a:solidFill>
                  <a:schemeClr val="bg1"/>
                </a:solidFill>
              </a:rPr>
              <a:t>Chrome and Edge drop emSign root certificates (Windows on 26 Oct)</a:t>
            </a:r>
            <a:endParaRPr lang="en-US" sz="1500" dirty="0"/>
          </a:p>
        </p:txBody>
      </p:sp>
      <p:sp>
        <p:nvSpPr>
          <p:cNvPr id="10" name="Text 8"/>
          <p:cNvSpPr txBox="1"/>
          <p:nvPr/>
        </p:nvSpPr>
        <p:spPr>
          <a:xfrm>
            <a:off x="731520" y="3886200"/>
            <a:ext cx="2560320" cy="685800"/>
          </a:xfrm>
          <a:prstGeom prst="rect">
            <a:avLst/>
          </a:prstGeom>
          <a:noFill/>
          <a:ln/>
        </p:spPr>
        <p:txBody>
          <a:bodyPr wrap="square" lIns="0" tIns="0" rIns="0" bIns="0" rtlCol="0" anchor="ctr"/>
          <a:lstStyle/>
          <a:p>
            <a:pPr indent="0" marL="0">
              <a:buNone/>
            </a:pPr>
            <a:r>
              <a:rPr lang="en-US" sz="3600" b="1" dirty="0">
                <a:solidFill>
                  <a:srgbClr val="F2B8AD"/>
                </a:solidFill>
                <a:latin typeface="Cambria" pitchFamily="34" charset="0"/>
                <a:ea typeface="Cambria" pitchFamily="34" charset="-122"/>
                <a:cs typeface="Cambria" pitchFamily="34" charset="-120"/>
              </a:rPr>
              <a:t>~30,000</a:t>
            </a:r>
            <a:endParaRPr lang="en-US" sz="3600" dirty="0"/>
          </a:p>
        </p:txBody>
      </p:sp>
      <p:sp>
        <p:nvSpPr>
          <p:cNvPr id="11" name="Text 9"/>
          <p:cNvSpPr txBox="1"/>
          <p:nvPr/>
        </p:nvSpPr>
        <p:spPr>
          <a:xfrm>
            <a:off x="731520" y="4572000"/>
            <a:ext cx="2560320" cy="731520"/>
          </a:xfrm>
          <a:prstGeom prst="rect">
            <a:avLst/>
          </a:prstGeom>
          <a:noFill/>
          <a:ln/>
        </p:spPr>
        <p:txBody>
          <a:bodyPr wrap="square" lIns="0" tIns="0" rIns="0" bIns="0" rtlCol="0" anchor="ctr"/>
          <a:lstStyle/>
          <a:p>
            <a:pPr indent="0" marL="0">
              <a:buNone/>
            </a:pPr>
            <a:r>
              <a:rPr lang="en-US" sz="1300" dirty="0">
                <a:solidFill>
                  <a:srgbClr val="CADCFC"/>
                </a:solidFill>
              </a:rPr>
              <a:t>legitimate certificates to migrate worldwide (eMudhra estimate)</a:t>
            </a:r>
            <a:endParaRPr lang="en-US" sz="1300" dirty="0"/>
          </a:p>
        </p:txBody>
      </p:sp>
      <p:sp>
        <p:nvSpPr>
          <p:cNvPr id="12" name="Card"/>
          <p:cNvSpPr/>
          <p:nvPr/>
        </p:nvSpPr>
        <p:spPr>
          <a:xfrm>
            <a:off x="3794760" y="1920240"/>
            <a:ext cx="2494178" cy="4114800"/>
          </a:xfrm>
          <a:prstGeom prst="rect">
            <a:avLst/>
          </a:prstGeom>
          <a:solidFill>
            <a:schemeClr val="bg2"/>
          </a:solidFill>
          <a:ln/>
        </p:spPr>
      </p:sp>
      <p:sp>
        <p:nvSpPr>
          <p:cNvPr id="13" name="Text 11"/>
          <p:cNvSpPr txBox="1"/>
          <p:nvPr/>
        </p:nvSpPr>
        <p:spPr>
          <a:xfrm>
            <a:off x="3995928" y="2057400"/>
            <a:ext cx="2091842" cy="411480"/>
          </a:xfrm>
          <a:prstGeom prst="rect">
            <a:avLst/>
          </a:prstGeom>
          <a:noFill/>
          <a:ln/>
        </p:spPr>
        <p:txBody>
          <a:bodyPr wrap="square" lIns="0" tIns="0" rIns="0" bIns="0" rtlCol="0" anchor="ctr"/>
          <a:lstStyle/>
          <a:p>
            <a:pPr indent="0" marL="0">
              <a:buNone/>
            </a:pPr>
            <a:r>
              <a:rPr lang="en-US" sz="1600" b="1" dirty="0">
                <a:solidFill>
                  <a:schemeClr val="tx1"/>
                </a:solidFill>
              </a:rPr>
              <a:t>Our certificates</a:t>
            </a:r>
            <a:endParaRPr lang="en-US" sz="1600" dirty="0"/>
          </a:p>
        </p:txBody>
      </p:sp>
      <p:sp>
        <p:nvSpPr>
          <p:cNvPr id="14" name="Text 12"/>
          <p:cNvSpPr txBox="1"/>
          <p:nvPr/>
        </p:nvSpPr>
        <p:spPr>
          <a:xfrm>
            <a:off x="3995928" y="2560320"/>
            <a:ext cx="2091842" cy="2926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Find: lifecycle tool, CT search of our domains, endpoint scan</a:t>
            </a:r>
            <a:endParaRPr lang="en-US" sz="1300" dirty="0"/>
          </a:p>
          <a:p>
            <a:pPr marL="177800" indent="-177800">
              <a:spcAft>
                <a:spcPts val="400"/>
              </a:spcAft>
              <a:buSzPct val="100000"/>
              <a:buChar char="•"/>
            </a:pPr>
            <a:r>
              <a:rPr lang="en-US" sz="1300" dirty="0">
                <a:solidFill>
                  <a:schemeClr val="tx2"/>
                </a:solidFill>
              </a:rPr>
              <a:t>Replace now with another public CA (D-04)</a:t>
            </a:r>
            <a:endParaRPr lang="en-US" sz="1300" dirty="0"/>
          </a:p>
          <a:p>
            <a:pPr marL="177800" indent="-177800">
              <a:spcAft>
                <a:spcPts val="400"/>
              </a:spcAft>
              <a:buSzPct val="100000"/>
              <a:buChar char="•"/>
            </a:pPr>
            <a:r>
              <a:rPr lang="en-US" sz="1300" dirty="0">
                <a:solidFill>
                  <a:schemeClr val="tx2"/>
                </a:solidFill>
              </a:rPr>
              <a:t>eMudhra is leaving the TLS business: plan to replace all its certificates</a:t>
            </a:r>
            <a:endParaRPr lang="en-US" sz="1300" dirty="0"/>
          </a:p>
          <a:p>
            <a:pPr marL="177800" indent="-177800">
              <a:spcAft>
                <a:spcPts val="400"/>
              </a:spcAft>
              <a:buSzPct val="100000"/>
              <a:buChar char="•"/>
            </a:pPr>
            <a:r>
              <a:rPr lang="en-US" sz="1300" dirty="0">
                <a:solidFill>
                  <a:schemeClr val="tx2"/>
                </a:solidFill>
              </a:rPr>
              <a:t>Watch for appliances and pinned clients</a:t>
            </a:r>
            <a:endParaRPr lang="en-US" sz="1300" dirty="0"/>
          </a:p>
        </p:txBody>
      </p:sp>
      <p:sp>
        <p:nvSpPr>
          <p:cNvPr id="15" name="Text 13"/>
          <p:cNvSpPr txBox="1"/>
          <p:nvPr/>
        </p:nvSpPr>
        <p:spPr>
          <a:xfrm>
            <a:off x="3995928" y="5577840"/>
            <a:ext cx="2091842" cy="274320"/>
          </a:xfrm>
          <a:prstGeom prst="rect">
            <a:avLst/>
          </a:prstGeom>
          <a:noFill/>
          <a:ln/>
        </p:spPr>
        <p:txBody>
          <a:bodyPr wrap="square" lIns="0" tIns="0" rIns="0" bIns="0" rtlCol="0" anchor="ctr"/>
          <a:lstStyle/>
          <a:p>
            <a:pPr indent="0" marL="0">
              <a:buNone/>
            </a:pPr>
            <a:r>
              <a:rPr lang="en-US" sz="1100" b="1" dirty="0">
                <a:solidFill>
                  <a:schemeClr val="accent2"/>
                </a:solidFill>
              </a:rPr>
              <a:t>PB-13</a:t>
            </a:r>
            <a:endParaRPr lang="en-US" sz="1100" dirty="0"/>
          </a:p>
        </p:txBody>
      </p:sp>
      <p:sp>
        <p:nvSpPr>
          <p:cNvPr id="16" name="Card"/>
          <p:cNvSpPr/>
          <p:nvPr/>
        </p:nvSpPr>
        <p:spPr>
          <a:xfrm>
            <a:off x="6517538" y="1920240"/>
            <a:ext cx="2494178" cy="4114800"/>
          </a:xfrm>
          <a:prstGeom prst="rect">
            <a:avLst/>
          </a:prstGeom>
          <a:solidFill>
            <a:schemeClr val="bg2"/>
          </a:solidFill>
          <a:ln/>
        </p:spPr>
      </p:sp>
      <p:sp>
        <p:nvSpPr>
          <p:cNvPr id="17" name="Text 15"/>
          <p:cNvSpPr txBox="1"/>
          <p:nvPr/>
        </p:nvSpPr>
        <p:spPr>
          <a:xfrm>
            <a:off x="6718706" y="2057400"/>
            <a:ext cx="2091842" cy="411480"/>
          </a:xfrm>
          <a:prstGeom prst="rect">
            <a:avLst/>
          </a:prstGeom>
          <a:noFill/>
          <a:ln/>
        </p:spPr>
        <p:txBody>
          <a:bodyPr wrap="square" lIns="0" tIns="0" rIns="0" bIns="0" rtlCol="0" anchor="ctr"/>
          <a:lstStyle/>
          <a:p>
            <a:pPr indent="0" marL="0">
              <a:buNone/>
            </a:pPr>
            <a:r>
              <a:rPr lang="en-US" sz="1600" b="1" dirty="0">
                <a:solidFill>
                  <a:schemeClr val="tx1"/>
                </a:solidFill>
              </a:rPr>
              <a:t>Partners we call</a:t>
            </a:r>
            <a:endParaRPr lang="en-US" sz="1600" dirty="0"/>
          </a:p>
        </p:txBody>
      </p:sp>
      <p:sp>
        <p:nvSpPr>
          <p:cNvPr id="18" name="Text 16"/>
          <p:cNvSpPr txBox="1"/>
          <p:nvPr/>
        </p:nvSpPr>
        <p:spPr>
          <a:xfrm>
            <a:off x="6718706" y="2560320"/>
            <a:ext cx="2091842" cy="2926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Root removal in certifi ≥ 2026.10.18, webpki-roots ≥ 1.0.10 and Ubuntu breaks their emSign chains</a:t>
            </a:r>
            <a:endParaRPr lang="en-US" sz="1300" dirty="0"/>
          </a:p>
          <a:p>
            <a:pPr marL="177800" indent="-177800">
              <a:spcAft>
                <a:spcPts val="400"/>
              </a:spcAft>
              <a:buSzPct val="100000"/>
              <a:buChar char="•"/>
            </a:pPr>
            <a:r>
              <a:rPr lang="en-US" sz="1300" dirty="0">
                <a:solidFill>
                  <a:schemeClr val="tx2"/>
                </a:solidFill>
              </a:rPr>
              <a:t>certifi 2026.10.23 also drops emSign C1 and ECC C3</a:t>
            </a:r>
            <a:endParaRPr lang="en-US" sz="1300" dirty="0"/>
          </a:p>
          <a:p>
            <a:pPr marL="177800" indent="-177800">
              <a:spcAft>
                <a:spcPts val="400"/>
              </a:spcAft>
              <a:buSzPct val="100000"/>
              <a:buChar char="•"/>
            </a:pPr>
            <a:r>
              <a:rPr lang="en-US" sz="1300" dirty="0">
                <a:solidFill>
                  <a:schemeClr val="tx2"/>
                </a:solidFill>
              </a:rPr>
              <a:t>Time-boxed exceptions only (D-05)</a:t>
            </a:r>
            <a:endParaRPr lang="en-US" sz="1300" dirty="0"/>
          </a:p>
        </p:txBody>
      </p:sp>
      <p:sp>
        <p:nvSpPr>
          <p:cNvPr id="19" name="Text 17"/>
          <p:cNvSpPr txBox="1"/>
          <p:nvPr/>
        </p:nvSpPr>
        <p:spPr>
          <a:xfrm>
            <a:off x="6718706" y="5577840"/>
            <a:ext cx="2091842" cy="274320"/>
          </a:xfrm>
          <a:prstGeom prst="rect">
            <a:avLst/>
          </a:prstGeom>
          <a:noFill/>
          <a:ln/>
        </p:spPr>
        <p:txBody>
          <a:bodyPr wrap="square" lIns="0" tIns="0" rIns="0" bIns="0" rtlCol="0" anchor="ctr"/>
          <a:lstStyle/>
          <a:p>
            <a:pPr indent="0" marL="0">
              <a:buNone/>
            </a:pPr>
            <a:r>
              <a:rPr lang="en-US" sz="1100" b="1" dirty="0">
                <a:solidFill>
                  <a:schemeClr val="accent2"/>
                </a:solidFill>
              </a:rPr>
              <a:t>PB-13</a:t>
            </a:r>
            <a:endParaRPr lang="en-US" sz="1100" dirty="0"/>
          </a:p>
        </p:txBody>
      </p:sp>
      <p:sp>
        <p:nvSpPr>
          <p:cNvPr id="20" name="Card"/>
          <p:cNvSpPr/>
          <p:nvPr/>
        </p:nvSpPr>
        <p:spPr>
          <a:xfrm>
            <a:off x="9240317" y="1920240"/>
            <a:ext cx="2494178" cy="4114800"/>
          </a:xfrm>
          <a:prstGeom prst="rect">
            <a:avLst/>
          </a:prstGeom>
          <a:solidFill>
            <a:schemeClr val="bg2"/>
          </a:solidFill>
          <a:ln/>
        </p:spPr>
      </p:sp>
      <p:sp>
        <p:nvSpPr>
          <p:cNvPr id="21" name="Text 19"/>
          <p:cNvSpPr txBox="1"/>
          <p:nvPr/>
        </p:nvSpPr>
        <p:spPr>
          <a:xfrm>
            <a:off x="9441485" y="2057400"/>
            <a:ext cx="2091842" cy="411480"/>
          </a:xfrm>
          <a:prstGeom prst="rect">
            <a:avLst/>
          </a:prstGeom>
          <a:noFill/>
          <a:ln/>
        </p:spPr>
        <p:txBody>
          <a:bodyPr wrap="square" lIns="0" tIns="0" rIns="0" bIns="0" rtlCol="0" anchor="ctr"/>
          <a:lstStyle/>
          <a:p>
            <a:pPr indent="0" marL="0">
              <a:buNone/>
            </a:pPr>
            <a:r>
              <a:rPr lang="en-US" sz="1600" b="1" dirty="0">
                <a:solidFill>
                  <a:schemeClr val="tx1"/>
                </a:solidFill>
              </a:rPr>
              <a:t>Service desk</a:t>
            </a:r>
            <a:endParaRPr lang="en-US" sz="1600" dirty="0"/>
          </a:p>
        </p:txBody>
      </p:sp>
      <p:sp>
        <p:nvSpPr>
          <p:cNvPr id="22" name="Text 20"/>
          <p:cNvSpPr txBox="1"/>
          <p:nvPr/>
        </p:nvSpPr>
        <p:spPr>
          <a:xfrm>
            <a:off x="9441485" y="2560320"/>
            <a:ext cx="2091842" cy="2926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Knowledge article live before 27 Oct</a:t>
            </a:r>
            <a:endParaRPr lang="en-US" sz="1300" dirty="0"/>
          </a:p>
          <a:p>
            <a:pPr marL="177800" indent="-177800">
              <a:spcAft>
                <a:spcPts val="400"/>
              </a:spcAft>
              <a:buSzPct val="100000"/>
              <a:buChar char="•"/>
            </a:pPr>
            <a:r>
              <a:rPr lang="en-US" sz="1300" dirty="0">
                <a:solidFill>
                  <a:schemeClr val="tx2"/>
                </a:solidFill>
              </a:rPr>
              <a:t>Issuer says eMudhra/emSign: route by owner</a:t>
            </a:r>
            <a:endParaRPr lang="en-US" sz="1300" dirty="0"/>
          </a:p>
          <a:p>
            <a:pPr marL="177800" indent="-177800">
              <a:spcAft>
                <a:spcPts val="400"/>
              </a:spcAft>
              <a:buSzPct val="100000"/>
              <a:buChar char="•"/>
            </a:pPr>
            <a:r>
              <a:rPr lang="en-US" sz="1300" dirty="0">
                <a:solidFill>
                  <a:schemeClr val="tx2"/>
                </a:solidFill>
              </a:rPr>
              <a:t>Never advise bypassing warnings</a:t>
            </a:r>
            <a:endParaRPr lang="en-US" sz="1300" dirty="0"/>
          </a:p>
        </p:txBody>
      </p:sp>
      <p:sp>
        <p:nvSpPr>
          <p:cNvPr id="23" name="Text 21"/>
          <p:cNvSpPr txBox="1"/>
          <p:nvPr/>
        </p:nvSpPr>
        <p:spPr>
          <a:xfrm>
            <a:off x="9441485" y="5577840"/>
            <a:ext cx="2091842" cy="274320"/>
          </a:xfrm>
          <a:prstGeom prst="rect">
            <a:avLst/>
          </a:prstGeom>
          <a:noFill/>
          <a:ln/>
        </p:spPr>
        <p:txBody>
          <a:bodyPr wrap="square" lIns="0" tIns="0" rIns="0" bIns="0" rtlCol="0" anchor="ctr"/>
          <a:lstStyle/>
          <a:p>
            <a:pPr indent="0" marL="0">
              <a:buNone/>
            </a:pPr>
            <a:r>
              <a:rPr lang="en-US" sz="1100" b="1" dirty="0">
                <a:solidFill>
                  <a:schemeClr val="accent2"/>
                </a:solidFill>
              </a:rPr>
              <a:t>PB-15</a:t>
            </a:r>
            <a:endParaRPr lang="en-US" sz="11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ill"/>
          <p:cNvSpPr/>
          <p:nvPr/>
        </p:nvSpPr>
        <p:spPr>
          <a:xfrm>
            <a:off x="457200" y="292608"/>
            <a:ext cx="1581912" cy="256032"/>
          </a:xfrm>
          <a:prstGeom prst="roundRect">
            <a:avLst>
              <a:gd name="adj" fmla="val 50000"/>
            </a:avLst>
          </a:prstGeom>
          <a:solidFill>
            <a:schemeClr val="bg2"/>
          </a:solidFill>
          <a:ln/>
        </p:spPr>
      </p:sp>
      <p:sp>
        <p:nvSpPr>
          <p:cNvPr id="3" name="Eyebrow"/>
          <p:cNvSpPr txBox="1"/>
          <p:nvPr/>
        </p:nvSpPr>
        <p:spPr>
          <a:xfrm>
            <a:off x="457200" y="292608"/>
            <a:ext cx="158191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RETROSPECTIVE HUNT</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Any certificate chaining to these keys is presumptively forged, which makes hunting cheap</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eMudhra says the affected intermediates issued no end-entity certificates, so a single hit is an incident</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Advanced Hunting retention is about 30 days; SIEM and archive retention varies. Record the gap to 30 Apr 2025 as a documented limitation (D-08).</a:t>
            </a:r>
            <a:endParaRPr lang="en-US" sz="1000" dirty="0"/>
          </a:p>
        </p:txBody>
      </p:sp>
      <p:sp>
        <p:nvSpPr>
          <p:cNvPr id="7" name="Stat value"/>
          <p:cNvSpPr txBox="1"/>
          <p:nvPr/>
        </p:nvSpPr>
        <p:spPr>
          <a:xfrm>
            <a:off x="457200" y="1920240"/>
            <a:ext cx="30175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535 days</a:t>
            </a:r>
            <a:endParaRPr lang="en-US" sz="4000" dirty="0"/>
          </a:p>
        </p:txBody>
      </p:sp>
      <p:sp>
        <p:nvSpPr>
          <p:cNvPr id="8" name="Stat label"/>
          <p:cNvSpPr txBox="1"/>
          <p:nvPr/>
        </p:nvSpPr>
        <p:spPr>
          <a:xfrm>
            <a:off x="457200" y="2651760"/>
            <a:ext cx="3017520" cy="548640"/>
          </a:xfrm>
          <a:prstGeom prst="rect">
            <a:avLst/>
          </a:prstGeom>
          <a:noFill/>
          <a:ln/>
        </p:spPr>
        <p:txBody>
          <a:bodyPr wrap="square" lIns="0" tIns="0" rIns="0" bIns="0" rtlCol="0" anchor="t"/>
          <a:lstStyle/>
          <a:p>
            <a:pPr indent="0" marL="0">
              <a:buNone/>
            </a:pPr>
            <a:r>
              <a:rPr lang="en-US" sz="1300" dirty="0">
                <a:solidFill>
                  <a:schemeClr val="tx2"/>
                </a:solidFill>
              </a:rPr>
              <a:t>from key generation (30 Apr 2025) to the first block (17 Oct 2026), and longer for unpatched clients</a:t>
            </a:r>
            <a:endParaRPr lang="en-US" sz="1300" dirty="0"/>
          </a:p>
        </p:txBody>
      </p:sp>
      <p:sp>
        <p:nvSpPr>
          <p:cNvPr id="9" name="Text 7"/>
          <p:cNvSpPr txBox="1"/>
          <p:nvPr/>
        </p:nvSpPr>
        <p:spPr>
          <a:xfrm>
            <a:off x="457200" y="3566160"/>
            <a:ext cx="3017520" cy="1188720"/>
          </a:xfrm>
          <a:prstGeom prst="rect">
            <a:avLst/>
          </a:prstGeom>
          <a:noFill/>
          <a:ln/>
        </p:spPr>
        <p:txBody>
          <a:bodyPr wrap="square" lIns="0" tIns="0" rIns="0" bIns="0" rtlCol="0" anchor="ctr"/>
          <a:lstStyle/>
          <a:p>
            <a:pPr indent="0" marL="0">
              <a:buNone/>
            </a:pPr>
            <a:r>
              <a:rPr lang="en-US" sz="1400" b="1" dirty="0">
                <a:solidFill>
                  <a:schemeClr val="tx1"/>
                </a:solidFill>
              </a:rPr>
              <a:t>Code signing is the highest-value hunt: endpoint signer telemetry often has the longest look-back.</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840480" y="1920240"/>
          <a:ext cx="7894015" cy="914400"/>
        </p:xfrm>
        <a:graphic>
          <a:graphicData uri="http://schemas.openxmlformats.org/drawingml/2006/table">
            <a:tbl>
              <a:tblPr/>
              <a:tblGrid>
                <a:gridCol w="640080"/>
                <a:gridCol w="2743200"/>
                <a:gridCol w="4510735"/>
              </a:tblGrid>
              <a:tr h="475488">
                <a:tc>
                  <a:txBody>
                    <a:bodyPr/>
                    <a:lstStyle/>
                    <a:p>
                      <a:pPr indent="0" marL="0">
                        <a:buNone/>
                      </a:pPr>
                      <a:r>
                        <a:rPr lang="en-US" sz="1200" b="1" dirty="0">
                          <a:solidFill>
                            <a:schemeClr val="bg1"/>
                          </a:solidFill>
                        </a:rPr>
                        <a:t>Hunt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Data source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Look for</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r>
              <a:tr h="475488">
                <a:tc>
                  <a:txBody>
                    <a:bodyPr/>
                    <a:lstStyle/>
                    <a:p>
                      <a:pPr indent="0" marL="0">
                        <a:buNone/>
                      </a:pPr>
                      <a:r>
                        <a:rPr lang="en-US" sz="1200" b="1" dirty="0">
                          <a:solidFill>
                            <a:schemeClr val="tx1"/>
                          </a:solidFill>
                        </a:rPr>
                        <a:t>H1</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EDR file-signature telemetry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Binaries signed under the two code-signing intermediates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H2</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TLS-inspection / SWG logs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Upstream certificates issued by the six TLS intermediates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H3</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NDR / Zeek x509</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Same issuers. TLS 1.3 hides certificates from passive sensors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H4</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Application TLS logs (P1)</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Peer certificate details on critical integrations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H5</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Certificate Transparency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Our domains. Google found none before the block</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H6</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IdP and API logs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Unexpected JWKS key IDs or SAML signing changes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bl>
          </a:graphicData>
        </a:graphic>
      </p:graphicFrame>
      <p:sp>
        <p:nvSpPr>
          <p:cNvPr id="11" name="Text 8"/>
          <p:cNvSpPr txBox="1"/>
          <p:nvPr/>
        </p:nvSpPr>
        <p:spPr>
          <a:xfrm>
            <a:off x="3840480" y="5486400"/>
            <a:ext cx="7894015" cy="365760"/>
          </a:xfrm>
          <a:prstGeom prst="rect">
            <a:avLst/>
          </a:prstGeom>
          <a:noFill/>
          <a:ln/>
        </p:spPr>
        <p:txBody>
          <a:bodyPr wrap="square" lIns="0" tIns="0" rIns="0" bIns="0" rtlCol="0" anchor="ctr"/>
          <a:lstStyle/>
          <a:p>
            <a:pPr indent="0" marL="0">
              <a:buNone/>
            </a:pPr>
            <a:r>
              <a:rPr lang="en-US" sz="1200" i="1" dirty="0">
                <a:solidFill>
                  <a:schemeClr val="tx2"/>
                </a:solidFill>
              </a:rPr>
              <a:t>Exclude *.we-have-a-problem.com: staff testing generates legitimate hits.</a:t>
            </a:r>
            <a:endParaRPr lang="en-US" sz="12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ill"/>
          <p:cNvSpPr/>
          <p:nvPr/>
        </p:nvSpPr>
        <p:spPr>
          <a:xfrm>
            <a:off x="457200" y="292608"/>
            <a:ext cx="1815084" cy="256032"/>
          </a:xfrm>
          <a:prstGeom prst="roundRect">
            <a:avLst>
              <a:gd name="adj" fmla="val 50000"/>
            </a:avLst>
          </a:prstGeom>
          <a:solidFill>
            <a:schemeClr val="bg2"/>
          </a:solidFill>
          <a:ln/>
        </p:spPr>
      </p:sp>
      <p:sp>
        <p:nvSpPr>
          <p:cNvPr id="3" name="Eyebrow"/>
          <p:cNvSpPr txBox="1"/>
          <p:nvPr/>
        </p:nvSpPr>
        <p:spPr>
          <a:xfrm>
            <a:off x="457200" y="292608"/>
            <a:ext cx="1815084"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WHAT WE NEED FROM YOU</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Every service returns one six-field record and closes by one of three routes</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Shared platform evidence is reused: applications reference it rather than repeat it</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From ACTION_PLAN.md section 4 and COMPLETION_TRACKER.md. Tracker columns are in the workbook's Service tracker sheet.</a:t>
            </a:r>
            <a:endParaRPr lang="en-US" sz="1000" dirty="0"/>
          </a:p>
        </p:txBody>
      </p:sp>
      <p:sp>
        <p:nvSpPr>
          <p:cNvPr id="7" name="Text 5"/>
          <p:cNvSpPr txBox="1"/>
          <p:nvPr/>
        </p:nvSpPr>
        <p:spPr>
          <a:xfrm>
            <a:off x="457200" y="1920240"/>
            <a:ext cx="438912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Six fields</a:t>
            </a:r>
            <a:endParaRPr lang="en-US" sz="1700" dirty="0"/>
          </a:p>
        </p:txBody>
      </p:sp>
      <p:sp>
        <p:nvSpPr>
          <p:cNvPr id="8" name="Shape 6"/>
          <p:cNvSpPr/>
          <p:nvPr/>
        </p:nvSpPr>
        <p:spPr>
          <a:xfrm>
            <a:off x="457200" y="2377440"/>
            <a:ext cx="402336" cy="402336"/>
          </a:xfrm>
          <a:prstGeom prst="ellipse">
            <a:avLst/>
          </a:prstGeom>
          <a:solidFill>
            <a:schemeClr val="accent2"/>
          </a:solidFill>
          <a:ln/>
        </p:spPr>
      </p:sp>
      <p:sp>
        <p:nvSpPr>
          <p:cNvPr id="9" name="Text 7"/>
          <p:cNvSpPr txBox="1"/>
          <p:nvPr/>
        </p:nvSpPr>
        <p:spPr>
          <a:xfrm>
            <a:off x="457200" y="237744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8"/>
          <p:cNvSpPr txBox="1"/>
          <p:nvPr/>
        </p:nvSpPr>
        <p:spPr>
          <a:xfrm>
            <a:off x="1005840" y="2377440"/>
            <a:ext cx="3840480" cy="402336"/>
          </a:xfrm>
          <a:prstGeom prst="rect">
            <a:avLst/>
          </a:prstGeom>
          <a:noFill/>
          <a:ln/>
        </p:spPr>
        <p:txBody>
          <a:bodyPr wrap="square" lIns="0" tIns="0" rIns="0" bIns="0" rtlCol="0" anchor="ctr"/>
          <a:lstStyle/>
          <a:p>
            <a:pPr indent="0" marL="0">
              <a:buNone/>
            </a:pPr>
            <a:r>
              <a:rPr lang="en-US" sz="1500" dirty="0">
                <a:solidFill>
                  <a:schemeClr val="tx1"/>
                </a:solidFill>
              </a:rPr>
              <a:t>Scope and owner</a:t>
            </a:r>
            <a:endParaRPr lang="en-US" sz="1500" dirty="0"/>
          </a:p>
        </p:txBody>
      </p:sp>
      <p:sp>
        <p:nvSpPr>
          <p:cNvPr id="11" name="Shape 9"/>
          <p:cNvSpPr/>
          <p:nvPr/>
        </p:nvSpPr>
        <p:spPr>
          <a:xfrm>
            <a:off x="457200" y="2880360"/>
            <a:ext cx="402336" cy="402336"/>
          </a:xfrm>
          <a:prstGeom prst="ellipse">
            <a:avLst/>
          </a:prstGeom>
          <a:solidFill>
            <a:schemeClr val="accent2"/>
          </a:solidFill>
          <a:ln/>
        </p:spPr>
      </p:sp>
      <p:sp>
        <p:nvSpPr>
          <p:cNvPr id="12" name="Text 10"/>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1005840" y="2880360"/>
            <a:ext cx="3840480" cy="402336"/>
          </a:xfrm>
          <a:prstGeom prst="rect">
            <a:avLst/>
          </a:prstGeom>
          <a:noFill/>
          <a:ln/>
        </p:spPr>
        <p:txBody>
          <a:bodyPr wrap="square" lIns="0" tIns="0" rIns="0" bIns="0" rtlCol="0" anchor="ctr"/>
          <a:lstStyle/>
          <a:p>
            <a:pPr indent="0" marL="0">
              <a:buNone/>
            </a:pPr>
            <a:r>
              <a:rPr lang="en-US" sz="1500" dirty="0">
                <a:solidFill>
                  <a:schemeClr val="tx1"/>
                </a:solidFill>
              </a:rPr>
              <a:t>Priority and rationale</a:t>
            </a:r>
            <a:endParaRPr lang="en-US" sz="1500" dirty="0"/>
          </a:p>
        </p:txBody>
      </p:sp>
      <p:sp>
        <p:nvSpPr>
          <p:cNvPr id="14" name="Shape 12"/>
          <p:cNvSpPr/>
          <p:nvPr/>
        </p:nvSpPr>
        <p:spPr>
          <a:xfrm>
            <a:off x="457200" y="3383280"/>
            <a:ext cx="402336" cy="402336"/>
          </a:xfrm>
          <a:prstGeom prst="ellipse">
            <a:avLst/>
          </a:prstGeom>
          <a:solidFill>
            <a:schemeClr val="accent2"/>
          </a:solidFill>
          <a:ln/>
        </p:spPr>
      </p:sp>
      <p:sp>
        <p:nvSpPr>
          <p:cNvPr id="15" name="Text 13"/>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005840" y="3383280"/>
            <a:ext cx="3840480" cy="402336"/>
          </a:xfrm>
          <a:prstGeom prst="rect">
            <a:avLst/>
          </a:prstGeom>
          <a:noFill/>
          <a:ln/>
        </p:spPr>
        <p:txBody>
          <a:bodyPr wrap="square" lIns="0" tIns="0" rIns="0" bIns="0" rtlCol="0" anchor="ctr"/>
          <a:lstStyle/>
          <a:p>
            <a:pPr indent="0" marL="0">
              <a:buNone/>
            </a:pPr>
            <a:r>
              <a:rPr lang="en-US" sz="1500" dirty="0">
                <a:solidFill>
                  <a:schemeClr val="tx1"/>
                </a:solidFill>
              </a:rPr>
              <a:t>Trust configuration</a:t>
            </a:r>
            <a:endParaRPr lang="en-US" sz="1500" dirty="0"/>
          </a:p>
        </p:txBody>
      </p:sp>
      <p:sp>
        <p:nvSpPr>
          <p:cNvPr id="17" name="Shape 15"/>
          <p:cNvSpPr/>
          <p:nvPr/>
        </p:nvSpPr>
        <p:spPr>
          <a:xfrm>
            <a:off x="457200" y="3886200"/>
            <a:ext cx="402336" cy="402336"/>
          </a:xfrm>
          <a:prstGeom prst="ellipse">
            <a:avLst/>
          </a:prstGeom>
          <a:solidFill>
            <a:schemeClr val="accent2"/>
          </a:solidFill>
          <a:ln/>
        </p:spPr>
      </p:sp>
      <p:sp>
        <p:nvSpPr>
          <p:cNvPr id="18" name="Text 16"/>
          <p:cNvSpPr txBox="1"/>
          <p:nvPr/>
        </p:nvSpPr>
        <p:spPr>
          <a:xfrm>
            <a:off x="457200" y="38862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7"/>
          <p:cNvSpPr txBox="1"/>
          <p:nvPr/>
        </p:nvSpPr>
        <p:spPr>
          <a:xfrm>
            <a:off x="1005840" y="3886200"/>
            <a:ext cx="3840480" cy="402336"/>
          </a:xfrm>
          <a:prstGeom prst="rect">
            <a:avLst/>
          </a:prstGeom>
          <a:noFill/>
          <a:ln/>
        </p:spPr>
        <p:txBody>
          <a:bodyPr wrap="square" lIns="0" tIns="0" rIns="0" bIns="0" rtlCol="0" anchor="ctr"/>
          <a:lstStyle/>
          <a:p>
            <a:pPr indent="0" marL="0">
              <a:buNone/>
            </a:pPr>
            <a:r>
              <a:rPr lang="en-US" sz="1500" dirty="0">
                <a:solidFill>
                  <a:schemeClr val="tx1"/>
                </a:solidFill>
              </a:rPr>
              <a:t>Status and action</a:t>
            </a:r>
            <a:endParaRPr lang="en-US" sz="1500" dirty="0"/>
          </a:p>
        </p:txBody>
      </p:sp>
      <p:sp>
        <p:nvSpPr>
          <p:cNvPr id="20" name="Shape 18"/>
          <p:cNvSpPr/>
          <p:nvPr/>
        </p:nvSpPr>
        <p:spPr>
          <a:xfrm>
            <a:off x="457200" y="4389120"/>
            <a:ext cx="402336" cy="402336"/>
          </a:xfrm>
          <a:prstGeom prst="ellipse">
            <a:avLst/>
          </a:prstGeom>
          <a:solidFill>
            <a:schemeClr val="accent2"/>
          </a:solidFill>
          <a:ln/>
        </p:spPr>
      </p:sp>
      <p:sp>
        <p:nvSpPr>
          <p:cNvPr id="21" name="Text 19"/>
          <p:cNvSpPr txBox="1"/>
          <p:nvPr/>
        </p:nvSpPr>
        <p:spPr>
          <a:xfrm>
            <a:off x="457200" y="438912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20"/>
          <p:cNvSpPr txBox="1"/>
          <p:nvPr/>
        </p:nvSpPr>
        <p:spPr>
          <a:xfrm>
            <a:off x="1005840" y="4389120"/>
            <a:ext cx="3840480" cy="402336"/>
          </a:xfrm>
          <a:prstGeom prst="rect">
            <a:avLst/>
          </a:prstGeom>
          <a:noFill/>
          <a:ln/>
        </p:spPr>
        <p:txBody>
          <a:bodyPr wrap="square" lIns="0" tIns="0" rIns="0" bIns="0" rtlCol="0" anchor="ctr"/>
          <a:lstStyle/>
          <a:p>
            <a:pPr indent="0" marL="0">
              <a:buNone/>
            </a:pPr>
            <a:r>
              <a:rPr lang="en-US" sz="1500" dirty="0">
                <a:solidFill>
                  <a:schemeClr val="tx1"/>
                </a:solidFill>
              </a:rPr>
              <a:t>Evidence reference</a:t>
            </a:r>
            <a:endParaRPr lang="en-US" sz="1500" dirty="0"/>
          </a:p>
        </p:txBody>
      </p:sp>
      <p:sp>
        <p:nvSpPr>
          <p:cNvPr id="23" name="Shape 21"/>
          <p:cNvSpPr/>
          <p:nvPr/>
        </p:nvSpPr>
        <p:spPr>
          <a:xfrm>
            <a:off x="457200" y="4892040"/>
            <a:ext cx="402336" cy="402336"/>
          </a:xfrm>
          <a:prstGeom prst="ellipse">
            <a:avLst/>
          </a:prstGeom>
          <a:solidFill>
            <a:schemeClr val="accent2"/>
          </a:solidFill>
          <a:ln/>
        </p:spPr>
      </p:sp>
      <p:sp>
        <p:nvSpPr>
          <p:cNvPr id="24" name="Text 22"/>
          <p:cNvSpPr txBox="1"/>
          <p:nvPr/>
        </p:nvSpPr>
        <p:spPr>
          <a:xfrm>
            <a:off x="457200" y="489204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1005840" y="4892040"/>
            <a:ext cx="3840480" cy="402336"/>
          </a:xfrm>
          <a:prstGeom prst="rect">
            <a:avLst/>
          </a:prstGeom>
          <a:noFill/>
          <a:ln/>
        </p:spPr>
        <p:txBody>
          <a:bodyPr wrap="square" lIns="0" tIns="0" rIns="0" bIns="0" rtlCol="0" anchor="ctr"/>
          <a:lstStyle/>
          <a:p>
            <a:pPr indent="0" marL="0">
              <a:buNone/>
            </a:pPr>
            <a:r>
              <a:rPr lang="en-US" sz="1500" dirty="0">
                <a:solidFill>
                  <a:schemeClr val="tx1"/>
                </a:solidFill>
              </a:rPr>
              <a:t>Outstanding work and date</a:t>
            </a:r>
            <a:endParaRPr lang="en-US" sz="1500" dirty="0"/>
          </a:p>
        </p:txBody>
      </p:sp>
      <p:sp>
        <p:nvSpPr>
          <p:cNvPr id="26" name="Card"/>
          <p:cNvSpPr/>
          <p:nvPr/>
        </p:nvSpPr>
        <p:spPr>
          <a:xfrm>
            <a:off x="5303520" y="1920240"/>
            <a:ext cx="6430975" cy="1024128"/>
          </a:xfrm>
          <a:prstGeom prst="rect">
            <a:avLst/>
          </a:prstGeom>
          <a:solidFill>
            <a:schemeClr val="bg2"/>
          </a:solidFill>
          <a:ln/>
        </p:spPr>
      </p:sp>
      <p:sp>
        <p:nvSpPr>
          <p:cNvPr id="27" name="Text 25"/>
          <p:cNvSpPr txBox="1"/>
          <p:nvPr/>
        </p:nvSpPr>
        <p:spPr>
          <a:xfrm>
            <a:off x="5486400" y="2029968"/>
            <a:ext cx="54864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A</a:t>
            </a:r>
            <a:endParaRPr lang="en-US" sz="3600" dirty="0"/>
          </a:p>
        </p:txBody>
      </p:sp>
      <p:sp>
        <p:nvSpPr>
          <p:cNvPr id="28" name="Text 26"/>
          <p:cNvSpPr txBox="1"/>
          <p:nvPr/>
        </p:nvSpPr>
        <p:spPr>
          <a:xfrm>
            <a:off x="6172200" y="1993392"/>
            <a:ext cx="5379415" cy="914400"/>
          </a:xfrm>
          <a:prstGeom prst="rect">
            <a:avLst/>
          </a:prstGeom>
          <a:noFill/>
          <a:ln/>
        </p:spPr>
        <p:txBody>
          <a:bodyPr wrap="square" lIns="0" tIns="0" rIns="0" bIns="0" rtlCol="0" anchor="ctr"/>
          <a:lstStyle/>
          <a:p>
            <a:pPr indent="0" marL="0">
              <a:buNone/>
            </a:pPr>
            <a:r>
              <a:rPr lang="en-US" sz="1500" b="1" dirty="0">
                <a:solidFill>
                  <a:schemeClr val="tx1"/>
                </a:solidFill>
              </a:rPr>
              <a:t>Standard platform assurance</a:t>
            </a:r>
            <a:endParaRPr lang="en-US" sz="1500" dirty="0"/>
          </a:p>
          <a:p>
            <a:pPr indent="0" marL="0">
              <a:buNone/>
            </a:pPr>
            <a:r>
              <a:rPr lang="en-US" sz="1200" dirty="0">
                <a:solidFill>
                  <a:schemeClr val="tx2"/>
                </a:solidFill>
              </a:rPr>
              <a:t>Uses a centrally remediated platform with no custom trust. Evidence: assurance record + deployment coverage + “no overrides”.</a:t>
            </a:r>
            <a:endParaRPr lang="en-US" sz="1500" dirty="0"/>
          </a:p>
        </p:txBody>
      </p:sp>
      <p:sp>
        <p:nvSpPr>
          <p:cNvPr id="29" name="Card"/>
          <p:cNvSpPr/>
          <p:nvPr/>
        </p:nvSpPr>
        <p:spPr>
          <a:xfrm>
            <a:off x="5303520" y="3081528"/>
            <a:ext cx="6430975" cy="1024128"/>
          </a:xfrm>
          <a:prstGeom prst="rect">
            <a:avLst/>
          </a:prstGeom>
          <a:solidFill>
            <a:schemeClr val="bg2"/>
          </a:solidFill>
          <a:ln/>
        </p:spPr>
      </p:sp>
      <p:sp>
        <p:nvSpPr>
          <p:cNvPr id="30" name="Text 28"/>
          <p:cNvSpPr txBox="1"/>
          <p:nvPr/>
        </p:nvSpPr>
        <p:spPr>
          <a:xfrm>
            <a:off x="5486400" y="3191256"/>
            <a:ext cx="54864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B</a:t>
            </a:r>
            <a:endParaRPr lang="en-US" sz="3600" dirty="0"/>
          </a:p>
        </p:txBody>
      </p:sp>
      <p:sp>
        <p:nvSpPr>
          <p:cNvPr id="31" name="Text 29"/>
          <p:cNvSpPr txBox="1"/>
          <p:nvPr/>
        </p:nvSpPr>
        <p:spPr>
          <a:xfrm>
            <a:off x="6172200" y="3154680"/>
            <a:ext cx="5379415" cy="914400"/>
          </a:xfrm>
          <a:prstGeom prst="rect">
            <a:avLst/>
          </a:prstGeom>
          <a:noFill/>
          <a:ln/>
        </p:spPr>
        <p:txBody>
          <a:bodyPr wrap="square" lIns="0" tIns="0" rIns="0" bIns="0" rtlCol="0" anchor="ctr"/>
          <a:lstStyle/>
          <a:p>
            <a:pPr indent="0" marL="0">
              <a:buNone/>
            </a:pPr>
            <a:r>
              <a:rPr lang="en-US" sz="1500" b="1" dirty="0">
                <a:solidFill>
                  <a:schemeClr val="tx1"/>
                </a:solidFill>
              </a:rPr>
              <a:t>Application-specific validation</a:t>
            </a:r>
            <a:endParaRPr lang="en-US" sz="1500" dirty="0"/>
          </a:p>
          <a:p>
            <a:pPr indent="0" marL="0">
              <a:buNone/>
            </a:pPr>
            <a:r>
              <a:rPr lang="en-US" sz="1200" dirty="0">
                <a:solidFill>
                  <a:schemeClr val="tx2"/>
                </a:solidFill>
              </a:rPr>
              <a:t>Custom bundles, embedded runtimes, critical paths. Evidence: fix, activation and a test through the real client.</a:t>
            </a:r>
            <a:endParaRPr lang="en-US" sz="1500" dirty="0"/>
          </a:p>
        </p:txBody>
      </p:sp>
      <p:sp>
        <p:nvSpPr>
          <p:cNvPr id="32" name="Card"/>
          <p:cNvSpPr/>
          <p:nvPr/>
        </p:nvSpPr>
        <p:spPr>
          <a:xfrm>
            <a:off x="5303520" y="4242816"/>
            <a:ext cx="6430975" cy="1024128"/>
          </a:xfrm>
          <a:prstGeom prst="rect">
            <a:avLst/>
          </a:prstGeom>
          <a:solidFill>
            <a:schemeClr val="bg2"/>
          </a:solidFill>
          <a:ln/>
        </p:spPr>
      </p:sp>
      <p:sp>
        <p:nvSpPr>
          <p:cNvPr id="33" name="Text 31"/>
          <p:cNvSpPr txBox="1"/>
          <p:nvPr/>
        </p:nvSpPr>
        <p:spPr>
          <a:xfrm>
            <a:off x="5486400" y="4352544"/>
            <a:ext cx="54864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C</a:t>
            </a:r>
            <a:endParaRPr lang="en-US" sz="3600" dirty="0"/>
          </a:p>
        </p:txBody>
      </p:sp>
      <p:sp>
        <p:nvSpPr>
          <p:cNvPr id="34" name="Text 32"/>
          <p:cNvSpPr txBox="1"/>
          <p:nvPr/>
        </p:nvSpPr>
        <p:spPr>
          <a:xfrm>
            <a:off x="6172200" y="4315968"/>
            <a:ext cx="5379415" cy="914400"/>
          </a:xfrm>
          <a:prstGeom prst="rect">
            <a:avLst/>
          </a:prstGeom>
          <a:noFill/>
          <a:ln/>
        </p:spPr>
        <p:txBody>
          <a:bodyPr wrap="square" lIns="0" tIns="0" rIns="0" bIns="0" rtlCol="0" anchor="ctr"/>
          <a:lstStyle/>
          <a:p>
            <a:pPr indent="0" marL="0">
              <a:buNone/>
            </a:pPr>
            <a:r>
              <a:rPr lang="en-US" sz="1500" b="1" dirty="0">
                <a:solidFill>
                  <a:schemeClr val="tx1"/>
                </a:solidFill>
              </a:rPr>
              <a:t>Not applicable to the assessed role</a:t>
            </a:r>
            <a:endParaRPr lang="en-US" sz="1500" dirty="0"/>
          </a:p>
          <a:p>
            <a:pPr indent="0" marL="0">
              <a:buNone/>
            </a:pPr>
            <a:r>
              <a:rPr lang="en-US" sz="1200" dirty="0">
                <a:solidFill>
                  <a:schemeClr val="tx2"/>
                </a:solidFill>
              </a:rPr>
              <a:t>Serve-only or private-CA-only, with evidence. “We don't buy eMudhra certificates” is not a reason.</a:t>
            </a:r>
            <a:endParaRPr lang="en-US" sz="1500" dirty="0"/>
          </a:p>
        </p:txBody>
      </p:sp>
      <p:sp>
        <p:nvSpPr>
          <p:cNvPr id="35" name="Rules band"/>
          <p:cNvSpPr/>
          <p:nvPr/>
        </p:nvSpPr>
        <p:spPr>
          <a:xfrm>
            <a:off x="457200" y="5559552"/>
            <a:ext cx="11277295" cy="502920"/>
          </a:xfrm>
          <a:prstGeom prst="rect">
            <a:avLst/>
          </a:prstGeom>
          <a:solidFill>
            <a:schemeClr val="tx1"/>
          </a:solidFill>
          <a:ln/>
        </p:spPr>
      </p:sp>
      <p:sp>
        <p:nvSpPr>
          <p:cNvPr id="36" name="Text 34"/>
          <p:cNvSpPr txBox="1"/>
          <p:nvPr/>
        </p:nvSpPr>
        <p:spPr>
          <a:xfrm>
            <a:off x="457200" y="5559552"/>
            <a:ext cx="11277295" cy="502920"/>
          </a:xfrm>
          <a:prstGeom prst="rect">
            <a:avLst/>
          </a:prstGeom>
          <a:noFill/>
          <a:ln/>
        </p:spPr>
        <p:txBody>
          <a:bodyPr wrap="square" lIns="0" tIns="0" rIns="0" bIns="0" rtlCol="0" anchor="ctr"/>
          <a:lstStyle/>
          <a:p>
            <a:pPr algn="ctr" indent="0" marL="0">
              <a:buNone/>
            </a:pPr>
            <a:r>
              <a:rPr lang="en-US" sz="1400" b="1" dirty="0">
                <a:solidFill>
                  <a:schemeClr val="bg1"/>
                </a:solidFill>
              </a:rPr>
              <a:t>Unknown ≠ low   ·   Clean scan ≠ protected   ·   Deleting a cached intermediate ≠ distrust   ·   Adding CAs never removes trust</a:t>
            </a:r>
            <a:endParaRPr lang="en-US" sz="14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ill"/>
          <p:cNvSpPr/>
          <p:nvPr/>
        </p:nvSpPr>
        <p:spPr>
          <a:xfrm>
            <a:off x="457200" y="292608"/>
            <a:ext cx="1426464" cy="256032"/>
          </a:xfrm>
          <a:prstGeom prst="roundRect">
            <a:avLst>
              <a:gd name="adj" fmla="val 50000"/>
            </a:avLst>
          </a:prstGeom>
          <a:solidFill>
            <a:schemeClr val="bg2"/>
          </a:solidFill>
          <a:ln/>
        </p:spPr>
      </p:sp>
      <p:sp>
        <p:nvSpPr>
          <p:cNvPr id="3" name="Eyebrow"/>
          <p:cNvSpPr txBox="1"/>
          <p:nvPr/>
        </p:nvSpPr>
        <p:spPr>
          <a:xfrm>
            <a:off x="457200" y="292608"/>
            <a:ext cx="1426464"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RESPONSIBILITIES</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Each team owns its shared components, and applications point at that evidence</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First actions for the next 72 hours (to 29 October)</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Map each functional team to a named owner and queue. No messages have been sent.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01952"/>
          <a:ext cx="11277295" cy="914400"/>
        </p:xfrm>
        <a:graphic>
          <a:graphicData uri="http://schemas.openxmlformats.org/drawingml/2006/table">
            <a:tbl>
              <a:tblPr/>
              <a:tblGrid>
                <a:gridCol w="2926080"/>
                <a:gridCol w="6519672"/>
                <a:gridCol w="1828800"/>
              </a:tblGrid>
              <a:tr h="374904">
                <a:tc>
                  <a:txBody>
                    <a:bodyPr/>
                    <a:lstStyle/>
                    <a:p>
                      <a:pPr indent="0" marL="0">
                        <a:buNone/>
                      </a:pPr>
                      <a:r>
                        <a:rPr lang="en-US" sz="1200" b="1" dirty="0">
                          <a:solidFill>
                            <a:schemeClr val="bg1"/>
                          </a:solidFill>
                        </a:rPr>
                        <a:t>Team</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First action (72 h)</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Playbook</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r>
              <a:tr h="374904">
                <a:tc>
                  <a:txBody>
                    <a:bodyPr/>
                    <a:lstStyle/>
                    <a:p>
                      <a:pPr indent="0" marL="0">
                        <a:buNone/>
                      </a:pPr>
                      <a:r>
                        <a:rPr lang="en-US" sz="1200" b="1" dirty="0">
                          <a:solidFill>
                            <a:schemeClr val="tx1"/>
                          </a:solidFill>
                        </a:rPr>
                        <a:t>Network / security engineering</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Validate inspection proxy; set block on untrusted upstream; share issuer-log query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rPr>
                        <a:t>PB-09</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tx1"/>
                          </a:solidFill>
                        </a:rPr>
                        <a:t>PKI / certificate management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Replace our emSign ECC G3 certificates; publish test matrix and certificate reference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PB-13, PB-00</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tx1"/>
                          </a:solidFill>
                        </a:rPr>
                        <a:t>IAM / API platform</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Assess JWKS, SAML metadata and inbound mTLS trust lists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rPr>
                        <a:t>PB-16</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tx1"/>
                          </a:solidFill>
                        </a:rPr>
                        <a:t>Container platform / DevSecOps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Rebuild base images; fix artifact-proxy JVM; list workloads by digest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PB-08</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tx1"/>
                          </a:solidFill>
                        </a:rPr>
                        <a:t>Linux and Windows platform</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Route A record per build; disconnected Windows servers: install the 26 Oct out-of-band update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rPr>
                        <a:t>PB-02, PB-03</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tx1"/>
                          </a:solidFill>
                        </a:rPr>
                        <a:t>Desktop / EUC and mobile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Coverage report against the four proviso conditions; inventory non-browser apps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PB-01, PB-10</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tx1"/>
                          </a:solidFill>
                        </a:rPr>
                        <a:t>Application owners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Identify runtime and trust store; P1 paths first; return the six-field record</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rPr>
                        <a:t>PB-04 to PB-07</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tx1"/>
                          </a:solidFill>
                        </a:rPr>
                        <a:t>Endpoint security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Check application-control publisher rules; Windows distrust coverage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PB-12</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tx1"/>
                          </a:solidFill>
                        </a:rPr>
                        <a:t>SOC</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Start hunts H1 and H2; record retention per source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rPr>
                        <a:t>PB-14</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tx1"/>
                          </a:solidFill>
                        </a:rPr>
                        <a:t>Supplier management / service desk</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Requests to critical suppliers; knowledge article live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PB-11, PB-15</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ill"/>
          <p:cNvSpPr/>
          <p:nvPr/>
        </p:nvSpPr>
        <p:spPr>
          <a:xfrm>
            <a:off x="457200" y="292608"/>
            <a:ext cx="1581912" cy="256032"/>
          </a:xfrm>
          <a:prstGeom prst="roundRect">
            <a:avLst>
              <a:gd name="adj" fmla="val 50000"/>
            </a:avLst>
          </a:prstGeom>
          <a:solidFill>
            <a:schemeClr val="bg2"/>
          </a:solidFill>
          <a:ln/>
        </p:spPr>
      </p:sp>
      <p:sp>
        <p:nvSpPr>
          <p:cNvPr id="3" name="Eyebrow"/>
          <p:cNvSpPr txBox="1"/>
          <p:nvPr/>
        </p:nvSpPr>
        <p:spPr>
          <a:xfrm>
            <a:off x="457200" y="292608"/>
            <a:ext cx="158191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FIND YOUR PLAYBOOK</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Seventeen playbooks, one format: applies if, fix, verify, record, escalate</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Send delivery teams one document: playbooks/README.md, the team guide</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Depth behind the playbooks: REMEDIATION_OPTIONS.md and APPLICATION_VALIDATION.md. Commands are illustrative and not yet run against our estate.</a:t>
            </a:r>
            <a:endParaRPr lang="en-US" sz="1000" dirty="0"/>
          </a:p>
        </p:txBody>
      </p:sp>
      <p:sp>
        <p:nvSpPr>
          <p:cNvPr id="7" name="Playbook tile"/>
          <p:cNvSpPr/>
          <p:nvPr/>
        </p:nvSpPr>
        <p:spPr>
          <a:xfrm>
            <a:off x="457200" y="1920240"/>
            <a:ext cx="1742389" cy="1078992"/>
          </a:xfrm>
          <a:prstGeom prst="rect">
            <a:avLst/>
          </a:prstGeom>
          <a:solidFill>
            <a:schemeClr val="accent1"/>
          </a:solidFill>
          <a:ln/>
        </p:spPr>
      </p:sp>
      <p:sp>
        <p:nvSpPr>
          <p:cNvPr id="8" name="Text 6"/>
          <p:cNvSpPr txBox="1"/>
          <p:nvPr/>
        </p:nvSpPr>
        <p:spPr>
          <a:xfrm>
            <a:off x="594360" y="2011680"/>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PB-00</a:t>
            </a:r>
            <a:endParaRPr lang="en-US" sz="1400" dirty="0"/>
          </a:p>
          <a:p>
            <a:pPr indent="0" marL="0">
              <a:buNone/>
            </a:pPr>
            <a:r>
              <a:rPr lang="en-US" sz="1300" dirty="0">
                <a:solidFill>
                  <a:schemeClr val="bg1"/>
                </a:solidFill>
              </a:rPr>
              <a:t>Test and evidence</a:t>
            </a:r>
            <a:endParaRPr lang="en-US" sz="1400" dirty="0"/>
          </a:p>
        </p:txBody>
      </p:sp>
      <p:sp>
        <p:nvSpPr>
          <p:cNvPr id="9" name="Playbook tile"/>
          <p:cNvSpPr/>
          <p:nvPr/>
        </p:nvSpPr>
        <p:spPr>
          <a:xfrm>
            <a:off x="2364181" y="1920240"/>
            <a:ext cx="1742389" cy="1078992"/>
          </a:xfrm>
          <a:prstGeom prst="rect">
            <a:avLst/>
          </a:prstGeom>
          <a:solidFill>
            <a:schemeClr val="tx1"/>
          </a:solidFill>
          <a:ln/>
        </p:spPr>
      </p:sp>
      <p:sp>
        <p:nvSpPr>
          <p:cNvPr id="10" name="Text 8"/>
          <p:cNvSpPr txBox="1"/>
          <p:nvPr/>
        </p:nvSpPr>
        <p:spPr>
          <a:xfrm>
            <a:off x="2501341" y="2011680"/>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PB-01</a:t>
            </a:r>
            <a:endParaRPr lang="en-US" sz="1400" dirty="0"/>
          </a:p>
          <a:p>
            <a:pPr indent="0" marL="0">
              <a:buNone/>
            </a:pPr>
            <a:r>
              <a:rPr lang="en-US" sz="1300" dirty="0">
                <a:solidFill>
                  <a:schemeClr val="bg1"/>
                </a:solidFill>
              </a:rPr>
              <a:t>Browsers and desktop OS</a:t>
            </a:r>
            <a:endParaRPr lang="en-US" sz="1400" dirty="0"/>
          </a:p>
        </p:txBody>
      </p:sp>
      <p:sp>
        <p:nvSpPr>
          <p:cNvPr id="11" name="Playbook tile"/>
          <p:cNvSpPr/>
          <p:nvPr/>
        </p:nvSpPr>
        <p:spPr>
          <a:xfrm>
            <a:off x="4271162" y="1920240"/>
            <a:ext cx="1742389" cy="1078992"/>
          </a:xfrm>
          <a:prstGeom prst="rect">
            <a:avLst/>
          </a:prstGeom>
          <a:solidFill>
            <a:schemeClr val="tx1"/>
          </a:solidFill>
          <a:ln/>
        </p:spPr>
      </p:sp>
      <p:sp>
        <p:nvSpPr>
          <p:cNvPr id="12" name="Text 10"/>
          <p:cNvSpPr txBox="1"/>
          <p:nvPr/>
        </p:nvSpPr>
        <p:spPr>
          <a:xfrm>
            <a:off x="4408322" y="2011680"/>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PB-02</a:t>
            </a:r>
            <a:endParaRPr lang="en-US" sz="1400" dirty="0"/>
          </a:p>
          <a:p>
            <a:pPr indent="0" marL="0">
              <a:buNone/>
            </a:pPr>
            <a:r>
              <a:rPr lang="en-US" sz="1300" dirty="0">
                <a:solidFill>
                  <a:schemeClr val="bg1"/>
                </a:solidFill>
              </a:rPr>
              <a:t>Windows and .NET</a:t>
            </a:r>
            <a:endParaRPr lang="en-US" sz="1400" dirty="0"/>
          </a:p>
        </p:txBody>
      </p:sp>
      <p:sp>
        <p:nvSpPr>
          <p:cNvPr id="13" name="Playbook tile"/>
          <p:cNvSpPr/>
          <p:nvPr/>
        </p:nvSpPr>
        <p:spPr>
          <a:xfrm>
            <a:off x="6178144" y="1920240"/>
            <a:ext cx="1742389" cy="1078992"/>
          </a:xfrm>
          <a:prstGeom prst="rect">
            <a:avLst/>
          </a:prstGeom>
          <a:solidFill>
            <a:schemeClr val="tx1"/>
          </a:solidFill>
          <a:ln/>
        </p:spPr>
      </p:sp>
      <p:sp>
        <p:nvSpPr>
          <p:cNvPr id="14" name="Text 12"/>
          <p:cNvSpPr txBox="1"/>
          <p:nvPr/>
        </p:nvSpPr>
        <p:spPr>
          <a:xfrm>
            <a:off x="6315304" y="2011680"/>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PB-03</a:t>
            </a:r>
            <a:endParaRPr lang="en-US" sz="1400" dirty="0"/>
          </a:p>
          <a:p>
            <a:pPr indent="0" marL="0">
              <a:buNone/>
            </a:pPr>
            <a:r>
              <a:rPr lang="en-US" sz="1300" dirty="0">
                <a:solidFill>
                  <a:schemeClr val="bg1"/>
                </a:solidFill>
              </a:rPr>
              <a:t>Linux, Unix, macOS CLI</a:t>
            </a:r>
            <a:endParaRPr lang="en-US" sz="1400" dirty="0"/>
          </a:p>
        </p:txBody>
      </p:sp>
      <p:sp>
        <p:nvSpPr>
          <p:cNvPr id="15" name="Playbook tile"/>
          <p:cNvSpPr/>
          <p:nvPr/>
        </p:nvSpPr>
        <p:spPr>
          <a:xfrm>
            <a:off x="8085125" y="1920240"/>
            <a:ext cx="1742389" cy="1078992"/>
          </a:xfrm>
          <a:prstGeom prst="rect">
            <a:avLst/>
          </a:prstGeom>
          <a:solidFill>
            <a:schemeClr val="accent2"/>
          </a:solidFill>
          <a:ln/>
        </p:spPr>
      </p:sp>
      <p:sp>
        <p:nvSpPr>
          <p:cNvPr id="16" name="Text 14"/>
          <p:cNvSpPr txBox="1"/>
          <p:nvPr/>
        </p:nvSpPr>
        <p:spPr>
          <a:xfrm>
            <a:off x="8222285" y="2011680"/>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PB-04</a:t>
            </a:r>
            <a:endParaRPr lang="en-US" sz="1400" dirty="0"/>
          </a:p>
          <a:p>
            <a:pPr indent="0" marL="0">
              <a:buNone/>
            </a:pPr>
            <a:r>
              <a:rPr lang="en-US" sz="1300" dirty="0">
                <a:solidFill>
                  <a:schemeClr val="bg1"/>
                </a:solidFill>
              </a:rPr>
              <a:t>Java</a:t>
            </a:r>
            <a:endParaRPr lang="en-US" sz="1400" dirty="0"/>
          </a:p>
        </p:txBody>
      </p:sp>
      <p:sp>
        <p:nvSpPr>
          <p:cNvPr id="17" name="Playbook tile"/>
          <p:cNvSpPr/>
          <p:nvPr/>
        </p:nvSpPr>
        <p:spPr>
          <a:xfrm>
            <a:off x="9992106" y="1920240"/>
            <a:ext cx="1742389" cy="1078992"/>
          </a:xfrm>
          <a:prstGeom prst="rect">
            <a:avLst/>
          </a:prstGeom>
          <a:solidFill>
            <a:schemeClr val="accent2"/>
          </a:solidFill>
          <a:ln/>
        </p:spPr>
      </p:sp>
      <p:sp>
        <p:nvSpPr>
          <p:cNvPr id="18" name="Text 16"/>
          <p:cNvSpPr txBox="1"/>
          <p:nvPr/>
        </p:nvSpPr>
        <p:spPr>
          <a:xfrm>
            <a:off x="10129266" y="2011680"/>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PB-05</a:t>
            </a:r>
            <a:endParaRPr lang="en-US" sz="1400" dirty="0"/>
          </a:p>
          <a:p>
            <a:pPr indent="0" marL="0">
              <a:buNone/>
            </a:pPr>
            <a:r>
              <a:rPr lang="en-US" sz="1300" dirty="0">
                <a:solidFill>
                  <a:schemeClr val="bg1"/>
                </a:solidFill>
              </a:rPr>
              <a:t>Python</a:t>
            </a:r>
            <a:endParaRPr lang="en-US" sz="1400" dirty="0"/>
          </a:p>
        </p:txBody>
      </p:sp>
      <p:sp>
        <p:nvSpPr>
          <p:cNvPr id="19" name="Playbook tile"/>
          <p:cNvSpPr/>
          <p:nvPr/>
        </p:nvSpPr>
        <p:spPr>
          <a:xfrm>
            <a:off x="457200" y="3163824"/>
            <a:ext cx="1742389" cy="1078992"/>
          </a:xfrm>
          <a:prstGeom prst="rect">
            <a:avLst/>
          </a:prstGeom>
          <a:solidFill>
            <a:schemeClr val="accent2"/>
          </a:solidFill>
          <a:ln/>
        </p:spPr>
      </p:sp>
      <p:sp>
        <p:nvSpPr>
          <p:cNvPr id="20" name="Text 18"/>
          <p:cNvSpPr txBox="1"/>
          <p:nvPr/>
        </p:nvSpPr>
        <p:spPr>
          <a:xfrm>
            <a:off x="594360" y="3255264"/>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PB-06</a:t>
            </a:r>
            <a:endParaRPr lang="en-US" sz="1400" dirty="0"/>
          </a:p>
          <a:p>
            <a:pPr indent="0" marL="0">
              <a:buNone/>
            </a:pPr>
            <a:r>
              <a:rPr lang="en-US" sz="1300" dirty="0">
                <a:solidFill>
                  <a:schemeClr val="bg1"/>
                </a:solidFill>
              </a:rPr>
              <a:t>Node.js and Electron</a:t>
            </a:r>
            <a:endParaRPr lang="en-US" sz="1400" dirty="0"/>
          </a:p>
        </p:txBody>
      </p:sp>
      <p:sp>
        <p:nvSpPr>
          <p:cNvPr id="21" name="Playbook tile"/>
          <p:cNvSpPr/>
          <p:nvPr/>
        </p:nvSpPr>
        <p:spPr>
          <a:xfrm>
            <a:off x="2364181" y="3163824"/>
            <a:ext cx="1742389" cy="1078992"/>
          </a:xfrm>
          <a:prstGeom prst="rect">
            <a:avLst/>
          </a:prstGeom>
          <a:solidFill>
            <a:schemeClr val="accent2"/>
          </a:solidFill>
          <a:ln/>
        </p:spPr>
      </p:sp>
      <p:sp>
        <p:nvSpPr>
          <p:cNvPr id="22" name="Text 20"/>
          <p:cNvSpPr txBox="1"/>
          <p:nvPr/>
        </p:nvSpPr>
        <p:spPr>
          <a:xfrm>
            <a:off x="2501341" y="3255264"/>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PB-07</a:t>
            </a:r>
            <a:endParaRPr lang="en-US" sz="1400" dirty="0"/>
          </a:p>
          <a:p>
            <a:pPr indent="0" marL="0">
              <a:buNone/>
            </a:pPr>
            <a:r>
              <a:rPr lang="en-US" sz="1300" dirty="0">
                <a:solidFill>
                  <a:schemeClr val="bg1"/>
                </a:solidFill>
              </a:rPr>
              <a:t>Go, Rust, PHP, Ruby</a:t>
            </a:r>
            <a:endParaRPr lang="en-US" sz="1400" dirty="0"/>
          </a:p>
        </p:txBody>
      </p:sp>
      <p:sp>
        <p:nvSpPr>
          <p:cNvPr id="23" name="Playbook tile"/>
          <p:cNvSpPr/>
          <p:nvPr/>
        </p:nvSpPr>
        <p:spPr>
          <a:xfrm>
            <a:off x="4271162" y="3163824"/>
            <a:ext cx="1742389" cy="1078992"/>
          </a:xfrm>
          <a:prstGeom prst="rect">
            <a:avLst/>
          </a:prstGeom>
          <a:solidFill>
            <a:schemeClr val="accent5"/>
          </a:solidFill>
          <a:ln/>
        </p:spPr>
      </p:sp>
      <p:sp>
        <p:nvSpPr>
          <p:cNvPr id="24" name="Text 22"/>
          <p:cNvSpPr txBox="1"/>
          <p:nvPr/>
        </p:nvSpPr>
        <p:spPr>
          <a:xfrm>
            <a:off x="4408322" y="3255264"/>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PB-08</a:t>
            </a:r>
            <a:endParaRPr lang="en-US" sz="1400" dirty="0"/>
          </a:p>
          <a:p>
            <a:pPr indent="0" marL="0">
              <a:buNone/>
            </a:pPr>
            <a:r>
              <a:rPr lang="en-US" sz="1300" dirty="0">
                <a:solidFill>
                  <a:schemeClr val="bg1"/>
                </a:solidFill>
              </a:rPr>
              <a:t>Containers and CI/CD</a:t>
            </a:r>
            <a:endParaRPr lang="en-US" sz="1400" dirty="0"/>
          </a:p>
        </p:txBody>
      </p:sp>
      <p:sp>
        <p:nvSpPr>
          <p:cNvPr id="25" name="Playbook tile"/>
          <p:cNvSpPr/>
          <p:nvPr/>
        </p:nvSpPr>
        <p:spPr>
          <a:xfrm>
            <a:off x="6178144" y="3163824"/>
            <a:ext cx="1742389" cy="1078992"/>
          </a:xfrm>
          <a:prstGeom prst="rect">
            <a:avLst/>
          </a:prstGeom>
          <a:solidFill>
            <a:schemeClr val="accent5"/>
          </a:solidFill>
          <a:ln/>
        </p:spPr>
      </p:sp>
      <p:sp>
        <p:nvSpPr>
          <p:cNvPr id="26" name="Text 24"/>
          <p:cNvSpPr txBox="1"/>
          <p:nvPr/>
        </p:nvSpPr>
        <p:spPr>
          <a:xfrm>
            <a:off x="6315304" y="3255264"/>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PB-09</a:t>
            </a:r>
            <a:endParaRPr lang="en-US" sz="1400" dirty="0"/>
          </a:p>
          <a:p>
            <a:pPr indent="0" marL="0">
              <a:buNone/>
            </a:pPr>
            <a:r>
              <a:rPr lang="en-US" sz="1300" dirty="0">
                <a:solidFill>
                  <a:schemeClr val="bg1"/>
                </a:solidFill>
              </a:rPr>
              <a:t>Proxies and TLS inspection</a:t>
            </a:r>
            <a:endParaRPr lang="en-US" sz="1400" dirty="0"/>
          </a:p>
        </p:txBody>
      </p:sp>
      <p:sp>
        <p:nvSpPr>
          <p:cNvPr id="27" name="Playbook tile"/>
          <p:cNvSpPr/>
          <p:nvPr/>
        </p:nvSpPr>
        <p:spPr>
          <a:xfrm>
            <a:off x="8085125" y="3163824"/>
            <a:ext cx="1742389" cy="1078992"/>
          </a:xfrm>
          <a:prstGeom prst="rect">
            <a:avLst/>
          </a:prstGeom>
          <a:solidFill>
            <a:schemeClr val="accent5"/>
          </a:solidFill>
          <a:ln/>
        </p:spPr>
      </p:sp>
      <p:sp>
        <p:nvSpPr>
          <p:cNvPr id="28" name="Text 26"/>
          <p:cNvSpPr txBox="1"/>
          <p:nvPr/>
        </p:nvSpPr>
        <p:spPr>
          <a:xfrm>
            <a:off x="8222285" y="3255264"/>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PB-10</a:t>
            </a:r>
            <a:endParaRPr lang="en-US" sz="1400" dirty="0"/>
          </a:p>
          <a:p>
            <a:pPr indent="0" marL="0">
              <a:buNone/>
            </a:pPr>
            <a:r>
              <a:rPr lang="en-US" sz="1300" dirty="0">
                <a:solidFill>
                  <a:schemeClr val="bg1"/>
                </a:solidFill>
              </a:rPr>
              <a:t>Mobile</a:t>
            </a:r>
            <a:endParaRPr lang="en-US" sz="1400" dirty="0"/>
          </a:p>
        </p:txBody>
      </p:sp>
      <p:sp>
        <p:nvSpPr>
          <p:cNvPr id="29" name="Playbook tile"/>
          <p:cNvSpPr/>
          <p:nvPr/>
        </p:nvSpPr>
        <p:spPr>
          <a:xfrm>
            <a:off x="9992106" y="3163824"/>
            <a:ext cx="1742389" cy="1078992"/>
          </a:xfrm>
          <a:prstGeom prst="rect">
            <a:avLst/>
          </a:prstGeom>
          <a:solidFill>
            <a:schemeClr val="accent5"/>
          </a:solidFill>
          <a:ln/>
        </p:spPr>
      </p:sp>
      <p:sp>
        <p:nvSpPr>
          <p:cNvPr id="30" name="Text 28"/>
          <p:cNvSpPr txBox="1"/>
          <p:nvPr/>
        </p:nvSpPr>
        <p:spPr>
          <a:xfrm>
            <a:off x="10129266" y="3255264"/>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PB-11</a:t>
            </a:r>
            <a:endParaRPr lang="en-US" sz="1400" dirty="0"/>
          </a:p>
          <a:p>
            <a:pPr indent="0" marL="0">
              <a:buNone/>
            </a:pPr>
            <a:r>
              <a:rPr lang="en-US" sz="1300" dirty="0">
                <a:solidFill>
                  <a:schemeClr val="bg1"/>
                </a:solidFill>
              </a:rPr>
              <a:t>Vendors and suppliers</a:t>
            </a:r>
            <a:endParaRPr lang="en-US" sz="1400" dirty="0"/>
          </a:p>
        </p:txBody>
      </p:sp>
      <p:sp>
        <p:nvSpPr>
          <p:cNvPr id="31" name="Playbook tile"/>
          <p:cNvSpPr/>
          <p:nvPr/>
        </p:nvSpPr>
        <p:spPr>
          <a:xfrm>
            <a:off x="457200" y="4407408"/>
            <a:ext cx="1742389" cy="1078992"/>
          </a:xfrm>
          <a:prstGeom prst="rect">
            <a:avLst/>
          </a:prstGeom>
          <a:solidFill>
            <a:schemeClr val="accent1"/>
          </a:solidFill>
          <a:ln/>
        </p:spPr>
      </p:sp>
      <p:sp>
        <p:nvSpPr>
          <p:cNvPr id="32" name="Text 30"/>
          <p:cNvSpPr txBox="1"/>
          <p:nvPr/>
        </p:nvSpPr>
        <p:spPr>
          <a:xfrm>
            <a:off x="594360" y="4498848"/>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PB-12</a:t>
            </a:r>
            <a:endParaRPr lang="en-US" sz="1400" dirty="0"/>
          </a:p>
          <a:p>
            <a:pPr indent="0" marL="0">
              <a:buNone/>
            </a:pPr>
            <a:r>
              <a:rPr lang="en-US" sz="1300" dirty="0">
                <a:solidFill>
                  <a:schemeClr val="bg1"/>
                </a:solidFill>
              </a:rPr>
              <a:t>Code signing</a:t>
            </a:r>
            <a:endParaRPr lang="en-US" sz="1400" dirty="0"/>
          </a:p>
        </p:txBody>
      </p:sp>
      <p:sp>
        <p:nvSpPr>
          <p:cNvPr id="33" name="Playbook tile"/>
          <p:cNvSpPr/>
          <p:nvPr/>
        </p:nvSpPr>
        <p:spPr>
          <a:xfrm>
            <a:off x="2364181" y="4407408"/>
            <a:ext cx="1742389" cy="1078992"/>
          </a:xfrm>
          <a:prstGeom prst="rect">
            <a:avLst/>
          </a:prstGeom>
          <a:solidFill>
            <a:schemeClr val="accent1"/>
          </a:solidFill>
          <a:ln/>
        </p:spPr>
      </p:sp>
      <p:sp>
        <p:nvSpPr>
          <p:cNvPr id="34" name="Text 32"/>
          <p:cNvSpPr txBox="1"/>
          <p:nvPr/>
        </p:nvSpPr>
        <p:spPr>
          <a:xfrm>
            <a:off x="2501341" y="4498848"/>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PB-13</a:t>
            </a:r>
            <a:endParaRPr lang="en-US" sz="1400" dirty="0"/>
          </a:p>
          <a:p>
            <a:pPr indent="0" marL="0">
              <a:buNone/>
            </a:pPr>
            <a:r>
              <a:rPr lang="en-US" sz="1300" dirty="0">
                <a:solidFill>
                  <a:schemeClr val="bg1"/>
                </a:solidFill>
              </a:rPr>
              <a:t>Our certificates and availability</a:t>
            </a:r>
            <a:endParaRPr lang="en-US" sz="1400" dirty="0"/>
          </a:p>
        </p:txBody>
      </p:sp>
      <p:sp>
        <p:nvSpPr>
          <p:cNvPr id="35" name="Playbook tile"/>
          <p:cNvSpPr/>
          <p:nvPr/>
        </p:nvSpPr>
        <p:spPr>
          <a:xfrm>
            <a:off x="4271162" y="4407408"/>
            <a:ext cx="1742389" cy="1078992"/>
          </a:xfrm>
          <a:prstGeom prst="rect">
            <a:avLst/>
          </a:prstGeom>
          <a:solidFill>
            <a:schemeClr val="accent1"/>
          </a:solidFill>
          <a:ln/>
        </p:spPr>
      </p:sp>
      <p:sp>
        <p:nvSpPr>
          <p:cNvPr id="36" name="Text 34"/>
          <p:cNvSpPr txBox="1"/>
          <p:nvPr/>
        </p:nvSpPr>
        <p:spPr>
          <a:xfrm>
            <a:off x="4408322" y="4498848"/>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PB-14</a:t>
            </a:r>
            <a:endParaRPr lang="en-US" sz="1400" dirty="0"/>
          </a:p>
          <a:p>
            <a:pPr indent="0" marL="0">
              <a:buNone/>
            </a:pPr>
            <a:r>
              <a:rPr lang="en-US" sz="1300" dirty="0">
                <a:solidFill>
                  <a:schemeClr val="bg1"/>
                </a:solidFill>
              </a:rPr>
              <a:t>SOC threat hunt</a:t>
            </a:r>
            <a:endParaRPr lang="en-US" sz="1400" dirty="0"/>
          </a:p>
        </p:txBody>
      </p:sp>
      <p:sp>
        <p:nvSpPr>
          <p:cNvPr id="37" name="Playbook tile"/>
          <p:cNvSpPr/>
          <p:nvPr/>
        </p:nvSpPr>
        <p:spPr>
          <a:xfrm>
            <a:off x="6178144" y="4407408"/>
            <a:ext cx="1742389" cy="1078992"/>
          </a:xfrm>
          <a:prstGeom prst="rect">
            <a:avLst/>
          </a:prstGeom>
          <a:solidFill>
            <a:schemeClr val="accent1"/>
          </a:solidFill>
          <a:ln/>
        </p:spPr>
      </p:sp>
      <p:sp>
        <p:nvSpPr>
          <p:cNvPr id="38" name="Text 36"/>
          <p:cNvSpPr txBox="1"/>
          <p:nvPr/>
        </p:nvSpPr>
        <p:spPr>
          <a:xfrm>
            <a:off x="6315304" y="4498848"/>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PB-15</a:t>
            </a:r>
            <a:endParaRPr lang="en-US" sz="1400" dirty="0"/>
          </a:p>
          <a:p>
            <a:pPr indent="0" marL="0">
              <a:buNone/>
            </a:pPr>
            <a:r>
              <a:rPr lang="en-US" sz="1300" dirty="0">
                <a:solidFill>
                  <a:schemeClr val="bg1"/>
                </a:solidFill>
              </a:rPr>
              <a:t>Service desk</a:t>
            </a:r>
            <a:endParaRPr lang="en-US" sz="1400" dirty="0"/>
          </a:p>
        </p:txBody>
      </p:sp>
      <p:sp>
        <p:nvSpPr>
          <p:cNvPr id="39" name="Playbook tile"/>
          <p:cNvSpPr/>
          <p:nvPr/>
        </p:nvSpPr>
        <p:spPr>
          <a:xfrm>
            <a:off x="8085125" y="4407408"/>
            <a:ext cx="1742389" cy="1078992"/>
          </a:xfrm>
          <a:prstGeom prst="rect">
            <a:avLst/>
          </a:prstGeom>
          <a:solidFill>
            <a:schemeClr val="accent1"/>
          </a:solidFill>
          <a:ln/>
        </p:spPr>
      </p:sp>
      <p:sp>
        <p:nvSpPr>
          <p:cNvPr id="40" name="Text 38"/>
          <p:cNvSpPr txBox="1"/>
          <p:nvPr/>
        </p:nvSpPr>
        <p:spPr>
          <a:xfrm>
            <a:off x="8222285" y="4498848"/>
            <a:ext cx="1468069" cy="896112"/>
          </a:xfrm>
          <a:prstGeom prst="rect">
            <a:avLst/>
          </a:prstGeom>
          <a:noFill/>
          <a:ln/>
        </p:spPr>
        <p:txBody>
          <a:bodyPr wrap="square" lIns="0" tIns="0" rIns="0" bIns="0" rtlCol="0" anchor="t"/>
          <a:lstStyle/>
          <a:p>
            <a:pPr indent="0" marL="0">
              <a:buNone/>
            </a:pPr>
            <a:r>
              <a:rPr lang="en-US" sz="1400" b="1" dirty="0">
                <a:solidFill>
                  <a:schemeClr val="bg1"/>
                </a:solidFill>
              </a:rPr>
              <a:t>PB-16</a:t>
            </a:r>
            <a:endParaRPr lang="en-US" sz="1400" dirty="0"/>
          </a:p>
          <a:p>
            <a:pPr indent="0" marL="0">
              <a:buNone/>
            </a:pPr>
            <a:r>
              <a:rPr lang="en-US" sz="1300" dirty="0">
                <a:solidFill>
                  <a:schemeClr val="bg1"/>
                </a:solidFill>
              </a:rPr>
              <a:t>Identity and mTLS</a:t>
            </a:r>
            <a:endParaRPr lang="en-US" sz="1400" dirty="0"/>
          </a:p>
        </p:txBody>
      </p:sp>
      <p:sp>
        <p:nvSpPr>
          <p:cNvPr id="41" name="Shape 39"/>
          <p:cNvSpPr/>
          <p:nvPr/>
        </p:nvSpPr>
        <p:spPr>
          <a:xfrm>
            <a:off x="10037826" y="4453128"/>
            <a:ext cx="164592" cy="164592"/>
          </a:xfrm>
          <a:prstGeom prst="rect">
            <a:avLst/>
          </a:prstGeom>
          <a:solidFill>
            <a:schemeClr val="tx1"/>
          </a:solidFill>
          <a:ln/>
        </p:spPr>
      </p:sp>
      <p:sp>
        <p:nvSpPr>
          <p:cNvPr id="42" name="Text 40"/>
          <p:cNvSpPr txBox="1"/>
          <p:nvPr/>
        </p:nvSpPr>
        <p:spPr>
          <a:xfrm>
            <a:off x="10275570" y="4416552"/>
            <a:ext cx="1559509" cy="237744"/>
          </a:xfrm>
          <a:prstGeom prst="rect">
            <a:avLst/>
          </a:prstGeom>
          <a:noFill/>
          <a:ln/>
        </p:spPr>
        <p:txBody>
          <a:bodyPr wrap="square" lIns="0" tIns="0" rIns="0" bIns="0" rtlCol="0" anchor="ctr"/>
          <a:lstStyle/>
          <a:p>
            <a:pPr indent="0" marL="0">
              <a:buNone/>
            </a:pPr>
            <a:r>
              <a:rPr lang="en-US" sz="1000" dirty="0">
                <a:solidFill>
                  <a:schemeClr val="tx2"/>
                </a:solidFill>
              </a:rPr>
              <a:t>Platforms</a:t>
            </a:r>
            <a:endParaRPr lang="en-US" sz="1000" dirty="0"/>
          </a:p>
        </p:txBody>
      </p:sp>
      <p:sp>
        <p:nvSpPr>
          <p:cNvPr id="43" name="Shape 41"/>
          <p:cNvSpPr/>
          <p:nvPr/>
        </p:nvSpPr>
        <p:spPr>
          <a:xfrm>
            <a:off x="10037826" y="4700016"/>
            <a:ext cx="164592" cy="164592"/>
          </a:xfrm>
          <a:prstGeom prst="rect">
            <a:avLst/>
          </a:prstGeom>
          <a:solidFill>
            <a:schemeClr val="accent2"/>
          </a:solidFill>
          <a:ln/>
        </p:spPr>
      </p:sp>
      <p:sp>
        <p:nvSpPr>
          <p:cNvPr id="44" name="Text 42"/>
          <p:cNvSpPr txBox="1"/>
          <p:nvPr/>
        </p:nvSpPr>
        <p:spPr>
          <a:xfrm>
            <a:off x="10275570" y="4663440"/>
            <a:ext cx="1559509" cy="237744"/>
          </a:xfrm>
          <a:prstGeom prst="rect">
            <a:avLst/>
          </a:prstGeom>
          <a:noFill/>
          <a:ln/>
        </p:spPr>
        <p:txBody>
          <a:bodyPr wrap="square" lIns="0" tIns="0" rIns="0" bIns="0" rtlCol="0" anchor="ctr"/>
          <a:lstStyle/>
          <a:p>
            <a:pPr indent="0" marL="0">
              <a:buNone/>
            </a:pPr>
            <a:r>
              <a:rPr lang="en-US" sz="1000" dirty="0">
                <a:solidFill>
                  <a:schemeClr val="tx2"/>
                </a:solidFill>
              </a:rPr>
              <a:t>Runtimes</a:t>
            </a:r>
            <a:endParaRPr lang="en-US" sz="1000" dirty="0"/>
          </a:p>
        </p:txBody>
      </p:sp>
      <p:sp>
        <p:nvSpPr>
          <p:cNvPr id="45" name="Shape 43"/>
          <p:cNvSpPr/>
          <p:nvPr/>
        </p:nvSpPr>
        <p:spPr>
          <a:xfrm>
            <a:off x="10037826" y="4946904"/>
            <a:ext cx="164592" cy="164592"/>
          </a:xfrm>
          <a:prstGeom prst="rect">
            <a:avLst/>
          </a:prstGeom>
          <a:solidFill>
            <a:schemeClr val="accent5"/>
          </a:solidFill>
          <a:ln/>
        </p:spPr>
      </p:sp>
      <p:sp>
        <p:nvSpPr>
          <p:cNvPr id="46" name="Text 44"/>
          <p:cNvSpPr txBox="1"/>
          <p:nvPr/>
        </p:nvSpPr>
        <p:spPr>
          <a:xfrm>
            <a:off x="10275570" y="4910328"/>
            <a:ext cx="1559509" cy="237744"/>
          </a:xfrm>
          <a:prstGeom prst="rect">
            <a:avLst/>
          </a:prstGeom>
          <a:noFill/>
          <a:ln/>
        </p:spPr>
        <p:txBody>
          <a:bodyPr wrap="square" lIns="0" tIns="0" rIns="0" bIns="0" rtlCol="0" anchor="ctr"/>
          <a:lstStyle/>
          <a:p>
            <a:pPr indent="0" marL="0">
              <a:buNone/>
            </a:pPr>
            <a:r>
              <a:rPr lang="en-US" sz="1000" dirty="0">
                <a:solidFill>
                  <a:schemeClr val="tx2"/>
                </a:solidFill>
              </a:rPr>
              <a:t>Infrastructure and third parties</a:t>
            </a:r>
            <a:endParaRPr lang="en-US" sz="1000" dirty="0"/>
          </a:p>
        </p:txBody>
      </p:sp>
      <p:sp>
        <p:nvSpPr>
          <p:cNvPr id="47" name="Shape 45"/>
          <p:cNvSpPr/>
          <p:nvPr/>
        </p:nvSpPr>
        <p:spPr>
          <a:xfrm>
            <a:off x="10037826" y="5193792"/>
            <a:ext cx="164592" cy="164592"/>
          </a:xfrm>
          <a:prstGeom prst="rect">
            <a:avLst/>
          </a:prstGeom>
          <a:solidFill>
            <a:schemeClr val="accent1"/>
          </a:solidFill>
          <a:ln/>
        </p:spPr>
      </p:sp>
      <p:sp>
        <p:nvSpPr>
          <p:cNvPr id="48" name="Text 46"/>
          <p:cNvSpPr txBox="1"/>
          <p:nvPr/>
        </p:nvSpPr>
        <p:spPr>
          <a:xfrm>
            <a:off x="10275570" y="5157216"/>
            <a:ext cx="1559509" cy="237744"/>
          </a:xfrm>
          <a:prstGeom prst="rect">
            <a:avLst/>
          </a:prstGeom>
          <a:noFill/>
          <a:ln/>
        </p:spPr>
        <p:txBody>
          <a:bodyPr wrap="square" lIns="0" tIns="0" rIns="0" bIns="0" rtlCol="0" anchor="ctr"/>
          <a:lstStyle/>
          <a:p>
            <a:pPr indent="0" marL="0">
              <a:buNone/>
            </a:pPr>
            <a:r>
              <a:rPr lang="en-US" sz="1000" dirty="0">
                <a:solidFill>
                  <a:schemeClr val="tx2"/>
                </a:solidFill>
              </a:rPr>
              <a:t>Cross-cutting</a:t>
            </a:r>
            <a:endParaRPr lang="en-US" sz="10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ill"/>
          <p:cNvSpPr/>
          <p:nvPr/>
        </p:nvSpPr>
        <p:spPr>
          <a:xfrm>
            <a:off x="457200" y="292608"/>
            <a:ext cx="493776" cy="256032"/>
          </a:xfrm>
          <a:prstGeom prst="roundRect">
            <a:avLst>
              <a:gd name="adj" fmla="val 50000"/>
            </a:avLst>
          </a:prstGeom>
          <a:solidFill>
            <a:schemeClr val="bg2"/>
          </a:solidFill>
          <a:ln/>
        </p:spPr>
      </p:sp>
      <p:sp>
        <p:nvSpPr>
          <p:cNvPr id="3" name="Eyebrow"/>
          <p:cNvSpPr txBox="1"/>
          <p:nvPr/>
        </p:nvSpPr>
        <p:spPr>
          <a:xfrm>
            <a:off x="457200" y="292608"/>
            <a:ext cx="493776"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PLAN</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Over the next 30 days, protect the chokepoints first, then work down the tail</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Dates are indicative and depend on decision D-03</a:t>
            </a:r>
            <a:endParaRPr lang="en-US" sz="1500" dirty="0"/>
          </a:p>
        </p:txBody>
      </p:sp>
      <p:sp>
        <p:nvSpPr>
          <p:cNvPr id="6" name="Plan header"/>
          <p:cNvSpPr/>
          <p:nvPr/>
        </p:nvSpPr>
        <p:spPr>
          <a:xfrm>
            <a:off x="457200" y="1920240"/>
            <a:ext cx="2109155" cy="868680"/>
          </a:xfrm>
          <a:prstGeom prst="rect">
            <a:avLst/>
          </a:prstGeom>
          <a:solidFill>
            <a:schemeClr val="accent1"/>
          </a:solidFill>
          <a:ln/>
        </p:spPr>
      </p:sp>
      <p:sp>
        <p:nvSpPr>
          <p:cNvPr id="7" name="Text 5"/>
          <p:cNvSpPr txBox="1"/>
          <p:nvPr/>
        </p:nvSpPr>
        <p:spPr>
          <a:xfrm>
            <a:off x="621792" y="1920240"/>
            <a:ext cx="1779971" cy="868680"/>
          </a:xfrm>
          <a:prstGeom prst="rect">
            <a:avLst/>
          </a:prstGeom>
          <a:noFill/>
          <a:ln/>
        </p:spPr>
        <p:txBody>
          <a:bodyPr wrap="square" lIns="0" tIns="0" rIns="0" bIns="0" rtlCol="0" anchor="ctr"/>
          <a:lstStyle/>
          <a:p>
            <a:pPr indent="0" marL="0">
              <a:buNone/>
            </a:pPr>
            <a:r>
              <a:rPr lang="en-US" sz="1700" b="1" dirty="0">
                <a:solidFill>
                  <a:schemeClr val="bg1"/>
                </a:solidFill>
              </a:rPr>
              <a:t>By 27 Oct</a:t>
            </a:r>
            <a:endParaRPr lang="en-US" sz="1700" dirty="0"/>
          </a:p>
          <a:p>
            <a:pPr indent="0" marL="0">
              <a:buNone/>
            </a:pPr>
            <a:r>
              <a:rPr lang="en-US" sz="1200" dirty="0">
                <a:solidFill>
                  <a:srgbClr val="CADCFC"/>
                </a:solidFill>
              </a:rPr>
              <a:t>Immediate</a:t>
            </a:r>
            <a:endParaRPr lang="en-US" sz="1700" dirty="0"/>
          </a:p>
        </p:txBody>
      </p:sp>
      <p:sp>
        <p:nvSpPr>
          <p:cNvPr id="8" name="Card"/>
          <p:cNvSpPr/>
          <p:nvPr/>
        </p:nvSpPr>
        <p:spPr>
          <a:xfrm>
            <a:off x="457200" y="2880360"/>
            <a:ext cx="2109155" cy="2331720"/>
          </a:xfrm>
          <a:prstGeom prst="rect">
            <a:avLst/>
          </a:prstGeom>
          <a:solidFill>
            <a:schemeClr val="bg2"/>
          </a:solidFill>
          <a:ln/>
        </p:spPr>
      </p:sp>
      <p:sp>
        <p:nvSpPr>
          <p:cNvPr id="9" name="Text 7"/>
          <p:cNvSpPr txBox="1"/>
          <p:nvPr/>
        </p:nvSpPr>
        <p:spPr>
          <a:xfrm>
            <a:off x="594360" y="3017520"/>
            <a:ext cx="1834835" cy="21031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D-04 and D-16 decided</a:t>
            </a:r>
            <a:endParaRPr lang="en-US" sz="1300" dirty="0"/>
          </a:p>
          <a:p>
            <a:pPr marL="177800" indent="-177800">
              <a:spcAft>
                <a:spcPts val="400"/>
              </a:spcAft>
              <a:buSzPct val="100000"/>
              <a:buChar char="•"/>
            </a:pPr>
            <a:r>
              <a:rPr lang="en-US" sz="1300" dirty="0">
                <a:solidFill>
                  <a:schemeClr val="tx1"/>
                </a:solidFill>
              </a:rPr>
              <a:t>Our emSign ECC G3 certificates replaced</a:t>
            </a:r>
            <a:endParaRPr lang="en-US" sz="1300" dirty="0"/>
          </a:p>
          <a:p>
            <a:pPr marL="177800" indent="-177800">
              <a:spcAft>
                <a:spcPts val="400"/>
              </a:spcAft>
              <a:buSzPct val="100000"/>
              <a:buChar char="•"/>
            </a:pPr>
            <a:r>
              <a:rPr lang="en-US" sz="1300" dirty="0">
                <a:solidFill>
                  <a:schemeClr val="tx1"/>
                </a:solidFill>
              </a:rPr>
              <a:t>Service desk article live</a:t>
            </a:r>
            <a:endParaRPr lang="en-US" sz="1300" dirty="0"/>
          </a:p>
        </p:txBody>
      </p:sp>
      <p:sp>
        <p:nvSpPr>
          <p:cNvPr id="10" name="Plan header"/>
          <p:cNvSpPr/>
          <p:nvPr/>
        </p:nvSpPr>
        <p:spPr>
          <a:xfrm>
            <a:off x="2749235" y="1920240"/>
            <a:ext cx="2109155" cy="868680"/>
          </a:xfrm>
          <a:prstGeom prst="rect">
            <a:avLst/>
          </a:prstGeom>
          <a:solidFill>
            <a:schemeClr val="tx1"/>
          </a:solidFill>
          <a:ln/>
        </p:spPr>
      </p:sp>
      <p:sp>
        <p:nvSpPr>
          <p:cNvPr id="11" name="Text 9"/>
          <p:cNvSpPr txBox="1"/>
          <p:nvPr/>
        </p:nvSpPr>
        <p:spPr>
          <a:xfrm>
            <a:off x="2913827" y="1920240"/>
            <a:ext cx="1779971" cy="868680"/>
          </a:xfrm>
          <a:prstGeom prst="rect">
            <a:avLst/>
          </a:prstGeom>
          <a:noFill/>
          <a:ln/>
        </p:spPr>
        <p:txBody>
          <a:bodyPr wrap="square" lIns="0" tIns="0" rIns="0" bIns="0" rtlCol="0" anchor="ctr"/>
          <a:lstStyle/>
          <a:p>
            <a:pPr indent="0" marL="0">
              <a:buNone/>
            </a:pPr>
            <a:r>
              <a:rPr lang="en-US" sz="1700" b="1" dirty="0">
                <a:solidFill>
                  <a:schemeClr val="bg1"/>
                </a:solidFill>
              </a:rPr>
              <a:t>By 29 Oct</a:t>
            </a:r>
            <a:endParaRPr lang="en-US" sz="1700" dirty="0"/>
          </a:p>
          <a:p>
            <a:pPr indent="0" marL="0">
              <a:buNone/>
            </a:pPr>
            <a:r>
              <a:rPr lang="en-US" sz="1200" dirty="0">
                <a:solidFill>
                  <a:srgbClr val="CADCFC"/>
                </a:solidFill>
              </a:rPr>
              <a:t>72 hours</a:t>
            </a:r>
            <a:endParaRPr lang="en-US" sz="1700" dirty="0"/>
          </a:p>
        </p:txBody>
      </p:sp>
      <p:sp>
        <p:nvSpPr>
          <p:cNvPr id="12" name="Card"/>
          <p:cNvSpPr/>
          <p:nvPr/>
        </p:nvSpPr>
        <p:spPr>
          <a:xfrm>
            <a:off x="2749235" y="2880360"/>
            <a:ext cx="2109155" cy="2331720"/>
          </a:xfrm>
          <a:prstGeom prst="rect">
            <a:avLst/>
          </a:prstGeom>
          <a:solidFill>
            <a:schemeClr val="bg2"/>
          </a:solidFill>
          <a:ln/>
        </p:spPr>
      </p:sp>
      <p:sp>
        <p:nvSpPr>
          <p:cNvPr id="13" name="Text 11"/>
          <p:cNvSpPr txBox="1"/>
          <p:nvPr/>
        </p:nvSpPr>
        <p:spPr>
          <a:xfrm>
            <a:off x="2886395" y="3017520"/>
            <a:ext cx="1834835" cy="21031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D-01–D-03, D-05–D-07, D-12 decided</a:t>
            </a:r>
            <a:endParaRPr lang="en-US" sz="1300" dirty="0"/>
          </a:p>
          <a:p>
            <a:pPr marL="177800" indent="-177800">
              <a:spcAft>
                <a:spcPts val="400"/>
              </a:spcAft>
              <a:buSzPct val="100000"/>
              <a:buChar char="•"/>
            </a:pPr>
            <a:r>
              <a:rPr lang="en-US" sz="1300" dirty="0">
                <a:solidFill>
                  <a:schemeClr val="tx1"/>
                </a:solidFill>
              </a:rPr>
              <a:t>Inspection proxy validated</a:t>
            </a:r>
            <a:endParaRPr lang="en-US" sz="1300" dirty="0"/>
          </a:p>
          <a:p>
            <a:pPr marL="177800" indent="-177800">
              <a:spcAft>
                <a:spcPts val="400"/>
              </a:spcAft>
              <a:buSzPct val="100000"/>
              <a:buChar char="•"/>
            </a:pPr>
            <a:r>
              <a:rPr lang="en-US" sz="1300" dirty="0">
                <a:solidFill>
                  <a:schemeClr val="tx1"/>
                </a:solidFill>
              </a:rPr>
              <a:t>Identity paths assessed</a:t>
            </a:r>
            <a:endParaRPr lang="en-US" sz="1300" dirty="0"/>
          </a:p>
          <a:p>
            <a:pPr marL="177800" indent="-177800">
              <a:spcAft>
                <a:spcPts val="400"/>
              </a:spcAft>
              <a:buSzPct val="100000"/>
              <a:buChar char="•"/>
            </a:pPr>
            <a:r>
              <a:rPr lang="en-US" sz="1300" dirty="0">
                <a:solidFill>
                  <a:schemeClr val="tx1"/>
                </a:solidFill>
              </a:rPr>
              <a:t>P1 contained</a:t>
            </a:r>
            <a:endParaRPr lang="en-US" sz="1300" dirty="0"/>
          </a:p>
          <a:p>
            <a:pPr marL="177800" indent="-177800">
              <a:spcAft>
                <a:spcPts val="400"/>
              </a:spcAft>
              <a:buSzPct val="100000"/>
              <a:buChar char="•"/>
            </a:pPr>
            <a:r>
              <a:rPr lang="en-US" sz="1300" dirty="0">
                <a:solidFill>
                  <a:schemeClr val="tx1"/>
                </a:solidFill>
              </a:rPr>
              <a:t>Proviso coverage report</a:t>
            </a:r>
            <a:endParaRPr lang="en-US" sz="1300" dirty="0"/>
          </a:p>
          <a:p>
            <a:pPr marL="177800" indent="-177800">
              <a:spcAft>
                <a:spcPts val="400"/>
              </a:spcAft>
              <a:buSzPct val="100000"/>
              <a:buChar char="•"/>
            </a:pPr>
            <a:r>
              <a:rPr lang="en-US" sz="1300" dirty="0">
                <a:solidFill>
                  <a:schemeClr val="tx1"/>
                </a:solidFill>
              </a:rPr>
              <a:t>Hunts H1–H2 run</a:t>
            </a:r>
            <a:endParaRPr lang="en-US" sz="1300" dirty="0"/>
          </a:p>
        </p:txBody>
      </p:sp>
      <p:sp>
        <p:nvSpPr>
          <p:cNvPr id="14" name="Plan header"/>
          <p:cNvSpPr/>
          <p:nvPr/>
        </p:nvSpPr>
        <p:spPr>
          <a:xfrm>
            <a:off x="5041270" y="1920240"/>
            <a:ext cx="2109155" cy="868680"/>
          </a:xfrm>
          <a:prstGeom prst="rect">
            <a:avLst/>
          </a:prstGeom>
          <a:solidFill>
            <a:schemeClr val="tx1"/>
          </a:solidFill>
          <a:ln/>
        </p:spPr>
      </p:sp>
      <p:sp>
        <p:nvSpPr>
          <p:cNvPr id="15" name="Text 13"/>
          <p:cNvSpPr txBox="1"/>
          <p:nvPr/>
        </p:nvSpPr>
        <p:spPr>
          <a:xfrm>
            <a:off x="5205862" y="1920240"/>
            <a:ext cx="1779971" cy="868680"/>
          </a:xfrm>
          <a:prstGeom prst="rect">
            <a:avLst/>
          </a:prstGeom>
          <a:noFill/>
          <a:ln/>
        </p:spPr>
        <p:txBody>
          <a:bodyPr wrap="square" lIns="0" tIns="0" rIns="0" bIns="0" rtlCol="0" anchor="ctr"/>
          <a:lstStyle/>
          <a:p>
            <a:pPr indent="0" marL="0">
              <a:buNone/>
            </a:pPr>
            <a:r>
              <a:rPr lang="en-US" sz="1700" b="1" dirty="0">
                <a:solidFill>
                  <a:schemeClr val="bg1"/>
                </a:solidFill>
              </a:rPr>
              <a:t>By 2 Nov</a:t>
            </a:r>
            <a:endParaRPr lang="en-US" sz="1700" dirty="0"/>
          </a:p>
          <a:p>
            <a:pPr indent="0" marL="0">
              <a:buNone/>
            </a:pPr>
            <a:r>
              <a:rPr lang="en-US" sz="1200" dirty="0">
                <a:solidFill>
                  <a:srgbClr val="CADCFC"/>
                </a:solidFill>
              </a:rPr>
              <a:t>7 days</a:t>
            </a:r>
            <a:endParaRPr lang="en-US" sz="1700" dirty="0"/>
          </a:p>
        </p:txBody>
      </p:sp>
      <p:sp>
        <p:nvSpPr>
          <p:cNvPr id="16" name="Card"/>
          <p:cNvSpPr/>
          <p:nvPr/>
        </p:nvSpPr>
        <p:spPr>
          <a:xfrm>
            <a:off x="5041270" y="2880360"/>
            <a:ext cx="2109155" cy="2331720"/>
          </a:xfrm>
          <a:prstGeom prst="rect">
            <a:avLst/>
          </a:prstGeom>
          <a:solidFill>
            <a:schemeClr val="bg2"/>
          </a:solidFill>
          <a:ln/>
        </p:spPr>
      </p:sp>
      <p:sp>
        <p:nvSpPr>
          <p:cNvPr id="17" name="Text 15"/>
          <p:cNvSpPr txBox="1"/>
          <p:nvPr/>
        </p:nvSpPr>
        <p:spPr>
          <a:xfrm>
            <a:off x="5178430" y="3017520"/>
            <a:ext cx="1834835" cy="21031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P1 closed or excepted</a:t>
            </a:r>
            <a:endParaRPr lang="en-US" sz="1300" dirty="0"/>
          </a:p>
          <a:p>
            <a:pPr marL="177800" indent="-177800">
              <a:spcAft>
                <a:spcPts val="400"/>
              </a:spcAft>
              <a:buSzPct val="100000"/>
              <a:buChar char="•"/>
            </a:pPr>
            <a:r>
              <a:rPr lang="en-US" sz="1300" dirty="0">
                <a:solidFill>
                  <a:schemeClr val="tx1"/>
                </a:solidFill>
              </a:rPr>
              <a:t>Egress-led long-tail register</a:t>
            </a:r>
            <a:endParaRPr lang="en-US" sz="1300" dirty="0"/>
          </a:p>
          <a:p>
            <a:pPr marL="177800" indent="-177800">
              <a:spcAft>
                <a:spcPts val="400"/>
              </a:spcAft>
              <a:buSzPct val="100000"/>
              <a:buChar char="•"/>
            </a:pPr>
            <a:r>
              <a:rPr lang="en-US" sz="1300" dirty="0">
                <a:solidFill>
                  <a:schemeClr val="tx1"/>
                </a:solidFill>
              </a:rPr>
              <a:t>Supplier requests sent</a:t>
            </a:r>
            <a:endParaRPr lang="en-US" sz="1300" dirty="0"/>
          </a:p>
          <a:p>
            <a:pPr marL="177800" indent="-177800">
              <a:spcAft>
                <a:spcPts val="400"/>
              </a:spcAft>
              <a:buSzPct val="100000"/>
              <a:buChar char="•"/>
            </a:pPr>
            <a:r>
              <a:rPr lang="en-US" sz="1300" dirty="0">
                <a:solidFill>
                  <a:schemeClr val="tx1"/>
                </a:solidFill>
              </a:rPr>
              <a:t>Hunts H3–H6 done</a:t>
            </a:r>
            <a:endParaRPr lang="en-US" sz="1300" dirty="0"/>
          </a:p>
        </p:txBody>
      </p:sp>
      <p:sp>
        <p:nvSpPr>
          <p:cNvPr id="18" name="Plan header"/>
          <p:cNvSpPr/>
          <p:nvPr/>
        </p:nvSpPr>
        <p:spPr>
          <a:xfrm>
            <a:off x="7333305" y="1920240"/>
            <a:ext cx="2109155" cy="868680"/>
          </a:xfrm>
          <a:prstGeom prst="rect">
            <a:avLst/>
          </a:prstGeom>
          <a:solidFill>
            <a:schemeClr val="tx1"/>
          </a:solidFill>
          <a:ln/>
        </p:spPr>
      </p:sp>
      <p:sp>
        <p:nvSpPr>
          <p:cNvPr id="19" name="Text 17"/>
          <p:cNvSpPr txBox="1"/>
          <p:nvPr/>
        </p:nvSpPr>
        <p:spPr>
          <a:xfrm>
            <a:off x="7497897" y="1920240"/>
            <a:ext cx="1779971" cy="868680"/>
          </a:xfrm>
          <a:prstGeom prst="rect">
            <a:avLst/>
          </a:prstGeom>
          <a:noFill/>
          <a:ln/>
        </p:spPr>
        <p:txBody>
          <a:bodyPr wrap="square" lIns="0" tIns="0" rIns="0" bIns="0" rtlCol="0" anchor="ctr"/>
          <a:lstStyle/>
          <a:p>
            <a:pPr indent="0" marL="0">
              <a:buNone/>
            </a:pPr>
            <a:r>
              <a:rPr lang="en-US" sz="1700" b="1" dirty="0">
                <a:solidFill>
                  <a:schemeClr val="bg1"/>
                </a:solidFill>
              </a:rPr>
              <a:t>By 9 Nov</a:t>
            </a:r>
            <a:endParaRPr lang="en-US" sz="1700" dirty="0"/>
          </a:p>
          <a:p>
            <a:pPr indent="0" marL="0">
              <a:buNone/>
            </a:pPr>
            <a:r>
              <a:rPr lang="en-US" sz="1200" dirty="0">
                <a:solidFill>
                  <a:srgbClr val="CADCFC"/>
                </a:solidFill>
              </a:rPr>
              <a:t>14 days</a:t>
            </a:r>
            <a:endParaRPr lang="en-US" sz="1700" dirty="0"/>
          </a:p>
        </p:txBody>
      </p:sp>
      <p:sp>
        <p:nvSpPr>
          <p:cNvPr id="20" name="Card"/>
          <p:cNvSpPr/>
          <p:nvPr/>
        </p:nvSpPr>
        <p:spPr>
          <a:xfrm>
            <a:off x="7333305" y="2880360"/>
            <a:ext cx="2109155" cy="2331720"/>
          </a:xfrm>
          <a:prstGeom prst="rect">
            <a:avLst/>
          </a:prstGeom>
          <a:solidFill>
            <a:schemeClr val="bg2"/>
          </a:solidFill>
          <a:ln/>
        </p:spPr>
      </p:sp>
      <p:sp>
        <p:nvSpPr>
          <p:cNvPr id="21" name="Text 19"/>
          <p:cNvSpPr txBox="1"/>
          <p:nvPr/>
        </p:nvSpPr>
        <p:spPr>
          <a:xfrm>
            <a:off x="7470465" y="3017520"/>
            <a:ext cx="1834835" cy="21031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P2 closed or excepted</a:t>
            </a:r>
            <a:endParaRPr lang="en-US" sz="1300" dirty="0"/>
          </a:p>
          <a:p>
            <a:pPr marL="177800" indent="-177800">
              <a:spcAft>
                <a:spcPts val="400"/>
              </a:spcAft>
              <a:buSzPct val="100000"/>
              <a:buChar char="•"/>
            </a:pPr>
            <a:r>
              <a:rPr lang="en-US" sz="1300" dirty="0">
                <a:solidFill>
                  <a:schemeClr val="tx1"/>
                </a:solidFill>
              </a:rPr>
              <a:t>Base images rebuilt and redeployed</a:t>
            </a:r>
            <a:endParaRPr lang="en-US" sz="1300" dirty="0"/>
          </a:p>
          <a:p>
            <a:pPr marL="177800" indent="-177800">
              <a:spcAft>
                <a:spcPts val="400"/>
              </a:spcAft>
              <a:buSzPct val="100000"/>
              <a:buChar char="•"/>
            </a:pPr>
            <a:r>
              <a:rPr lang="en-US" sz="1300" dirty="0">
                <a:solidFill>
                  <a:schemeClr val="tx1"/>
                </a:solidFill>
              </a:rPr>
              <a:t>Vendor ETAs tracked</a:t>
            </a:r>
            <a:endParaRPr lang="en-US" sz="1300" dirty="0"/>
          </a:p>
        </p:txBody>
      </p:sp>
      <p:sp>
        <p:nvSpPr>
          <p:cNvPr id="22" name="Plan header"/>
          <p:cNvSpPr/>
          <p:nvPr/>
        </p:nvSpPr>
        <p:spPr>
          <a:xfrm>
            <a:off x="9625340" y="1920240"/>
            <a:ext cx="2109155" cy="868680"/>
          </a:xfrm>
          <a:prstGeom prst="rect">
            <a:avLst/>
          </a:prstGeom>
          <a:solidFill>
            <a:schemeClr val="tx1"/>
          </a:solidFill>
          <a:ln/>
        </p:spPr>
      </p:sp>
      <p:sp>
        <p:nvSpPr>
          <p:cNvPr id="23" name="Text 21"/>
          <p:cNvSpPr txBox="1"/>
          <p:nvPr/>
        </p:nvSpPr>
        <p:spPr>
          <a:xfrm>
            <a:off x="9789932" y="1920240"/>
            <a:ext cx="1779971" cy="868680"/>
          </a:xfrm>
          <a:prstGeom prst="rect">
            <a:avLst/>
          </a:prstGeom>
          <a:noFill/>
          <a:ln/>
        </p:spPr>
        <p:txBody>
          <a:bodyPr wrap="square" lIns="0" tIns="0" rIns="0" bIns="0" rtlCol="0" anchor="ctr"/>
          <a:lstStyle/>
          <a:p>
            <a:pPr indent="0" marL="0">
              <a:buNone/>
            </a:pPr>
            <a:r>
              <a:rPr lang="en-US" sz="1700" b="1" dirty="0">
                <a:solidFill>
                  <a:schemeClr val="bg1"/>
                </a:solidFill>
              </a:rPr>
              <a:t>By 25 Nov</a:t>
            </a:r>
            <a:endParaRPr lang="en-US" sz="1700" dirty="0"/>
          </a:p>
          <a:p>
            <a:pPr indent="0" marL="0">
              <a:buNone/>
            </a:pPr>
            <a:r>
              <a:rPr lang="en-US" sz="1200" dirty="0">
                <a:solidFill>
                  <a:srgbClr val="CADCFC"/>
                </a:solidFill>
              </a:rPr>
              <a:t>30 days</a:t>
            </a:r>
            <a:endParaRPr lang="en-US" sz="1700" dirty="0"/>
          </a:p>
        </p:txBody>
      </p:sp>
      <p:sp>
        <p:nvSpPr>
          <p:cNvPr id="24" name="Card"/>
          <p:cNvSpPr/>
          <p:nvPr/>
        </p:nvSpPr>
        <p:spPr>
          <a:xfrm>
            <a:off x="9625340" y="2880360"/>
            <a:ext cx="2109155" cy="2331720"/>
          </a:xfrm>
          <a:prstGeom prst="rect">
            <a:avLst/>
          </a:prstGeom>
          <a:solidFill>
            <a:schemeClr val="bg2"/>
          </a:solidFill>
          <a:ln/>
        </p:spPr>
      </p:sp>
      <p:sp>
        <p:nvSpPr>
          <p:cNvPr id="25" name="Text 23"/>
          <p:cNvSpPr txBox="1"/>
          <p:nvPr/>
        </p:nvSpPr>
        <p:spPr>
          <a:xfrm>
            <a:off x="9762500" y="3017520"/>
            <a:ext cx="1834835" cy="21031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P3 closed</a:t>
            </a:r>
            <a:endParaRPr lang="en-US" sz="1300" dirty="0"/>
          </a:p>
          <a:p>
            <a:pPr marL="177800" indent="-177800">
              <a:spcAft>
                <a:spcPts val="400"/>
              </a:spcAft>
              <a:buSzPct val="100000"/>
              <a:buChar char="•"/>
            </a:pPr>
            <a:r>
              <a:rPr lang="en-US" sz="1300" dirty="0">
                <a:solidFill>
                  <a:schemeClr val="tx1"/>
                </a:solidFill>
              </a:rPr>
              <a:t>Long-tail cut-off (D-09)</a:t>
            </a:r>
            <a:endParaRPr lang="en-US" sz="1300" dirty="0"/>
          </a:p>
          <a:p>
            <a:pPr marL="177800" indent="-177800">
              <a:spcAft>
                <a:spcPts val="400"/>
              </a:spcAft>
              <a:buSzPct val="100000"/>
              <a:buChar char="•"/>
            </a:pPr>
            <a:r>
              <a:rPr lang="en-US" sz="1300" dirty="0">
                <a:solidFill>
                  <a:schemeClr val="tx1"/>
                </a:solidFill>
              </a:rPr>
              <a:t>Closure review (D-14); P4 to business as usual</a:t>
            </a:r>
            <a:endParaRPr lang="en-US" sz="1300" dirty="0"/>
          </a:p>
        </p:txBody>
      </p:sp>
      <p:sp>
        <p:nvSpPr>
          <p:cNvPr id="26" name="Cadence band"/>
          <p:cNvSpPr/>
          <p:nvPr/>
        </p:nvSpPr>
        <p:spPr>
          <a:xfrm>
            <a:off x="457200" y="5394960"/>
            <a:ext cx="11277295" cy="640080"/>
          </a:xfrm>
          <a:prstGeom prst="rect">
            <a:avLst/>
          </a:prstGeom>
          <a:solidFill>
            <a:schemeClr val="bg2"/>
          </a:solidFill>
          <a:ln/>
        </p:spPr>
      </p:sp>
      <p:sp>
        <p:nvSpPr>
          <p:cNvPr id="27" name="Text 25"/>
          <p:cNvSpPr txBox="1"/>
          <p:nvPr/>
        </p:nvSpPr>
        <p:spPr>
          <a:xfrm>
            <a:off x="685800" y="5394960"/>
            <a:ext cx="10820095" cy="640080"/>
          </a:xfrm>
          <a:prstGeom prst="rect">
            <a:avLst/>
          </a:prstGeom>
          <a:noFill/>
          <a:ln/>
        </p:spPr>
        <p:txBody>
          <a:bodyPr wrap="square" lIns="0" tIns="0" rIns="0" bIns="0" rtlCol="0" anchor="ctr"/>
          <a:lstStyle/>
          <a:p>
            <a:pPr indent="0" marL="0">
              <a:buNone/>
            </a:pPr>
            <a:r>
              <a:rPr lang="en-US" sz="1400" b="1" dirty="0">
                <a:solidFill>
                  <a:schemeClr val="tx1"/>
                </a:solidFill>
              </a:rPr>
              <a:t>Throughout: </a:t>
            </a:r>
            <a:pPr indent="0" marL="0">
              <a:buNone/>
            </a:pPr>
            <a:r>
              <a:rPr lang="en-US" sz="1400" dirty="0">
                <a:solidFill>
                  <a:schemeClr val="tx2"/>
                </a:solidFill>
              </a:rPr>
              <a:t>daily updates only for open P1 items, blockers and outages; executive update twice weekly until P1 is closed (D-12). Facts rechecked daily.</a:t>
            </a:r>
            <a:endParaRPr lang="en-US" sz="1400" dirty="0"/>
          </a:p>
        </p:txBody>
      </p:sp>
      <p:sp>
        <p:nvSpPr>
          <p:cNvPr id="29"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11277295" cy="73152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Decisions requested</a:t>
            </a:r>
            <a:endParaRPr lang="en-US" sz="3000" dirty="0"/>
          </a:p>
        </p:txBody>
      </p:sp>
      <p:sp>
        <p:nvSpPr>
          <p:cNvPr id="3" name="Text 0"/>
          <p:cNvSpPr/>
          <p:nvPr>
            <p:ph idx="101" type="body" hasCustomPrompt="1"/>
          </p:nvPr>
        </p:nvSpPr>
        <p:spPr>
          <a:xfrm>
            <a:off x="457200" y="1280160"/>
            <a:ext cx="11277295" cy="411480"/>
          </a:xfrm>
          <a:prstGeom prst="rect">
            <a:avLst/>
          </a:prstGeom>
          <a:noFill/>
          <a:ln/>
        </p:spPr>
        <p:txBody>
          <a:bodyPr wrap="square" lIns="0" tIns="0" rIns="0" bIns="0" rtlCol="0" anchor="t"/>
          <a:lstStyle/>
          <a:p>
            <a:pPr algn="l" indent="0" marL="0">
              <a:buNone/>
            </a:pPr>
            <a:r>
              <a:rPr lang="en-US" sz="1500" i="1" dirty="0">
                <a:solidFill>
                  <a:srgbClr val="CADCFC"/>
                </a:solidFill>
                <a:latin typeface="Calibri" pitchFamily="34" charset="0"/>
                <a:ea typeface="Calibri" pitchFamily="34" charset="-122"/>
                <a:cs typeface="Calibri" pitchFamily="34" charset="-120"/>
              </a:rPr>
              <a:t>Eight of the sixteen in the workbook's Decisions sheet. The others are needed by 2 November</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7295" cy="914400"/>
        </p:xfrm>
        <a:graphic>
          <a:graphicData uri="http://schemas.openxmlformats.org/drawingml/2006/table">
            <a:tbl>
              <a:tblPr/>
              <a:tblGrid>
                <a:gridCol w="777240"/>
                <a:gridCol w="2926080"/>
                <a:gridCol w="4828032"/>
                <a:gridCol w="1828800"/>
                <a:gridCol w="914400"/>
              </a:tblGrid>
              <a:tr h="438912">
                <a:tc>
                  <a:txBody>
                    <a:bodyPr/>
                    <a:lstStyle/>
                    <a:p>
                      <a:pPr indent="0" marL="0">
                        <a:buNone/>
                      </a:pPr>
                      <a:r>
                        <a:rPr lang="en-US" sz="1300" b="1" dirty="0">
                          <a:solidFill>
                            <a:schemeClr val="tx1"/>
                          </a:solidFill>
                        </a:rPr>
                        <a:t>ID</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Decision</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Recommendation</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Owner</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By</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bg1"/>
                          </a:solidFill>
                        </a:rPr>
                        <a:t>D-01</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Prioritisation model</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Impact × verifier susceptibility; keep tier labels</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Incident lead</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28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bg1"/>
                          </a:solidFill>
                        </a:rPr>
                        <a:t>D-02</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Browser and desktop proviso</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Accept vendor protection only with the coverage report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Head of EUC</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28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bg1"/>
                          </a:solidFill>
                        </a:rPr>
                        <a:t>D-03</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Target windows</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Indicative P1 72 h / 7 d · P2 14 d · P3 30 d</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CISO</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28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bg1"/>
                          </a:solidFill>
                        </a:rPr>
                        <a:t>D-04</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Our emSign ECC G3 certificates</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Replace now; no extension for external endpoints</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Head of PKI</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27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bg1"/>
                          </a:solidFill>
                        </a:rPr>
                        <a:t>D-05</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Root removal in our stores</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Accept partner impact; time-boxed exceptions only</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Incident lead</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29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bg1"/>
                          </a:solidFill>
                        </a:rPr>
                        <a:t>D-06</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AAA route on Windows and Java</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Distrust specific intermediates; remove AAA only per vendor</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Head of PKI</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29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bg1"/>
                          </a:solidFill>
                        </a:rPr>
                        <a:t>D-07</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Inspection-proxy upstream policy</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Block untrusted or revoked upstream certificates</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Network security</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28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bg1"/>
                          </a:solidFill>
                        </a:rPr>
                        <a:t>D-08</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Retrospective hunt scope</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H1–H6 over available retention; record the gap</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SOC lead</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30 Oct</a:t>
                      </a:r>
                      <a:endParaRPr lang="en-US" sz="1300" dirty="0"/>
                    </a:p>
                  </a:txBody>
                  <a:tcPr marL="76200" marR="76200" marT="38100" marB="38100" anchor="ctr">
                    <a:lnL w="6350" cap="flat" cmpd="sng" algn="ctr">
                      <a:solidFill>
                        <a:srgbClr val="4A5A78"/>
                      </a:solidFill>
                      <a:prstDash val="solid"/>
                      <a:round/>
                      <a:headEnd type="none" w="med" len="med"/>
                      <a:tailEnd type="none" w="med" len="med"/>
                    </a:lnL>
                    <a:lnR w="6350" cap="flat" cmpd="sng" algn="ctr">
                      <a:solidFill>
                        <a:srgbClr val="4A5A78"/>
                      </a:solidFill>
                      <a:prstDash val="solid"/>
                      <a:round/>
                      <a:headEnd type="none" w="med" len="med"/>
                      <a:tailEnd type="none" w="med" len="med"/>
                    </a:lnR>
                    <a:lnT w="6350" cap="flat" cmpd="sng" algn="ctr">
                      <a:solidFill>
                        <a:srgbClr val="4A5A78"/>
                      </a:solidFill>
                      <a:prstDash val="solid"/>
                      <a:round/>
                      <a:headEnd type="none" w="med" len="med"/>
                      <a:tailEnd type="none" w="med" len="med"/>
                    </a:lnT>
                    <a:lnB w="6350" cap="flat" cmpd="sng" algn="ctr">
                      <a:solidFill>
                        <a:srgbClr val="4A5A78"/>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FC0D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ill"/>
          <p:cNvSpPr/>
          <p:nvPr/>
        </p:nvSpPr>
        <p:spPr>
          <a:xfrm>
            <a:off x="457200" y="292608"/>
            <a:ext cx="3136392" cy="256032"/>
          </a:xfrm>
          <a:prstGeom prst="roundRect">
            <a:avLst>
              <a:gd name="adj" fmla="val 50000"/>
            </a:avLst>
          </a:prstGeom>
          <a:solidFill>
            <a:schemeClr val="bg2"/>
          </a:solidFill>
          <a:ln/>
        </p:spPr>
      </p:sp>
      <p:sp>
        <p:nvSpPr>
          <p:cNvPr id="3" name="Eyebrow"/>
          <p:cNvSpPr txBox="1"/>
          <p:nvPr/>
        </p:nvSpPr>
        <p:spPr>
          <a:xfrm>
            <a:off x="457200" y="292608"/>
            <a:ext cx="3136392" cy="256032"/>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APPENDIX · FACTS AS AT 27 OCTOBER 2026</a:t>
            </a:r>
            <a:endParaRPr lang="en-US" sz="1000" dirty="0"/>
          </a:p>
        </p:txBody>
      </p:sp>
      <p:sp>
        <p:nvSpPr>
          <p:cNvPr id="4" name="Text 0"/>
          <p:cNvSpPr/>
          <p:nvPr>
            <p:ph idx="100" type="title" hasCustomPrompt="1"/>
          </p:nvPr>
        </p:nvSpPr>
        <p:spPr>
          <a:xfrm>
            <a:off x="457200" y="603504"/>
            <a:ext cx="11277295" cy="786384"/>
          </a:xfrm>
          <a:prstGeom prst="rect">
            <a:avLst/>
          </a:prstGeom>
          <a:noFill/>
          <a:ln/>
        </p:spPr>
        <p:txBody>
          <a:bodyPr wrap="square" lIns="0" tIns="0" rIns="0" bIns="0" rtlCol="0" anchor="b"/>
          <a:lstStyle/>
          <a:p>
            <a:pPr algn="l" indent="0" marL="0">
              <a:buNone/>
            </a:pPr>
            <a:r>
              <a:rPr lang="en-US" sz="2400" b="1" dirty="0">
                <a:solidFill>
                  <a:schemeClr val="tx1"/>
                </a:solidFill>
                <a:latin typeface="Cambria" pitchFamily="34" charset="0"/>
                <a:ea typeface="Cambria" pitchFamily="34" charset="-122"/>
                <a:cs typeface="Cambria" pitchFamily="34" charset="-120"/>
              </a:rPr>
              <a:t>Release and package facts were checked directly; vendor actions come from vendor statements and press reports</a:t>
            </a:r>
            <a:endParaRPr lang="en-US" sz="2400" dirty="0"/>
          </a:p>
        </p:txBody>
      </p:sp>
      <p:sp>
        <p:nvSpPr>
          <p:cNvPr id="5" name="Text 0"/>
          <p:cNvSpPr/>
          <p:nvPr>
            <p:ph idx="101" type="body" hasCustomPrompt="1"/>
          </p:nvPr>
        </p:nvSpPr>
        <p:spPr>
          <a:xfrm>
            <a:off x="457200" y="1463040"/>
            <a:ext cx="11277295"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Recheck daily while the incident is open (workbook Facts sheet)</a:t>
            </a:r>
            <a:endParaRPr lang="en-US" sz="1500" dirty="0"/>
          </a:p>
        </p:txBody>
      </p:sp>
      <p:sp>
        <p:nvSpPr>
          <p:cNvPr id="6" name="Text 0"/>
          <p:cNvSpPr/>
          <p:nvPr>
            <p:ph idx="102" type="body" hasCustomPrompt="1"/>
          </p:nvPr>
        </p:nvSpPr>
        <p:spPr>
          <a:xfrm>
            <a:off x="457200" y="6236208"/>
            <a:ext cx="9692640" cy="384048"/>
          </a:xfrm>
          <a:prstGeom prst="rect">
            <a:avLst/>
          </a:prstGeom>
          <a:noFill/>
          <a:ln/>
        </p:spPr>
        <p:txBody>
          <a:bodyPr wrap="square" lIns="0" tIns="0" rIns="0" bIns="0" rtlCol="0" anchor="t"/>
          <a:lstStyle/>
          <a:p>
            <a:pPr algn="l" indent="0" marL="0">
              <a:buNone/>
            </a:pPr>
            <a:r>
              <a:rPr lang="en-US" sz="1000" dirty="0">
                <a:solidFill>
                  <a:srgbClr val="7A869A"/>
                </a:solidFill>
                <a:latin typeface="Calibri" pitchFamily="34" charset="0"/>
                <a:ea typeface="Calibri" pitchFamily="34" charset="-122"/>
                <a:cs typeface="Calibri" pitchFamily="34" charset="-120"/>
              </a:rPr>
              <a:t>Primary vendor pages could not be fetched when version 2 was prepared. Confirm “Secondary” items against the vendor before relying on a detail. Sources: the References section of each document.</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901952"/>
          <a:ext cx="11277295" cy="914400"/>
        </p:xfrm>
        <a:graphic>
          <a:graphicData uri="http://schemas.openxmlformats.org/drawingml/2006/table">
            <a:tbl>
              <a:tblPr/>
              <a:tblGrid>
                <a:gridCol w="1325880"/>
                <a:gridCol w="7022592"/>
                <a:gridCol w="2926080"/>
              </a:tblGrid>
              <a:tr h="365760">
                <a:tc>
                  <a:txBody>
                    <a:bodyPr/>
                    <a:lstStyle/>
                    <a:p>
                      <a:pPr indent="0" marL="0">
                        <a:buNone/>
                      </a:pPr>
                      <a:r>
                        <a:rPr lang="en-US" sz="1200" b="1" dirty="0">
                          <a:solidFill>
                            <a:schemeClr val="bg1"/>
                          </a:solidFill>
                        </a:rPr>
                        <a:t>Date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Fact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Confidence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tx1"/>
                    </a:solidFill>
                  </a:tcPr>
                </a:tc>
              </a:tr>
              <a:tr h="365760">
                <a:tc>
                  <a:txBody>
                    <a:bodyPr/>
                    <a:lstStyle/>
                    <a:p>
                      <a:pPr indent="0" marL="0">
                        <a:buNone/>
                      </a:pPr>
                      <a:r>
                        <a:rPr lang="en-US" sz="1200" b="1" dirty="0">
                          <a:solidFill>
                            <a:schemeClr val="tx1"/>
                          </a:solidFill>
                        </a:rPr>
                        <a:t>30 Apr 2025</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Eight keys generated with P-384 private values below 256</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Secondary (citing Mozilla)</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17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Chrome CRLSet and Firefox OneCRL block</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Primary (Google)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19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Apple block; Android via Play services; Sectigo revokes AAA cross-certificates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Secondary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19–23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Go 1.27.3/1.26.10 published; webpki-roots ≥ 1.0.10 and certifi ≥ 2026.10.18 drop the root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Verified (releases, package contents)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20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Microsoft Disallowed list update; Ubuntu 24.04 ca-certificates blocklists the root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 (Microsoft); Ubuntu verified</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20–21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Node.js security releases 22.23.4, 24.22.1, 26.12.1 (22.22.0 still trusts the root)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Releases verified; fix content secondary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21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confirmed misuse; one key public on GitHub; macOS curl still accepted chain</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Secondary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22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eMudhra announces exit from the global SSL/TLS certificate business</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Secondary</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26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Windows out-of-band update removes seven certificates, incl. an AAA cross-sign</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 (Microsoft)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27 Oct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Chrome and Edge remove emSign root certificates (~30,000 certificates to migrate)</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Primary (Google, Microsoft)</a:t>
                      </a:r>
                      <a:endParaRPr lang="en-US" sz="1200" dirty="0"/>
                    </a:p>
                  </a:txBody>
                  <a:tcPr marL="76200" marR="76200" marT="38100" marB="38100" anchor="ctr">
                    <a:lnL w="6350" cap="flat" cmpd="sng" algn="ctr">
                      <a:solidFill>
                        <a:srgbClr val="C9D1DD"/>
                      </a:solidFill>
                      <a:prstDash val="solid"/>
                      <a:round/>
                      <a:headEnd type="none" w="med" len="med"/>
                      <a:tailEnd type="none" w="med" len="med"/>
                    </a:lnL>
                    <a:lnR w="6350" cap="flat" cmpd="sng" algn="ctr">
                      <a:solidFill>
                        <a:srgbClr val="C9D1DD"/>
                      </a:solidFill>
                      <a:prstDash val="solid"/>
                      <a:round/>
                      <a:headEnd type="none" w="med" len="med"/>
                      <a:tailEnd type="none" w="med" len="med"/>
                    </a:lnR>
                    <a:lnT w="6350" cap="flat" cmpd="sng" algn="ctr">
                      <a:solidFill>
                        <a:srgbClr val="C9D1DD"/>
                      </a:solidFill>
                      <a:prstDash val="solid"/>
                      <a:round/>
                      <a:headEnd type="none" w="med" len="med"/>
                      <a:tailEnd type="none" w="med" len="med"/>
                    </a:lnT>
                    <a:lnB w="6350" cap="flat" cmpd="sng" algn="ctr">
                      <a:solidFill>
                        <a:srgbClr val="C9D1DD"/>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9284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69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eMudhra Response">
  <a:themeElements>
    <a:clrScheme name="eMudhra Response">
      <a:dk1>
        <a:srgbClr val="1B2A4A"/>
      </a:dk1>
      <a:lt1>
        <a:srgbClr val="FFFFFF"/>
      </a:lt1>
      <a:dk2>
        <a:srgbClr val="33415C"/>
      </a:dk2>
      <a:lt2>
        <a:srgbClr val="EEF1F5"/>
      </a:lt2>
      <a:accent1>
        <a:srgbClr val="B3341F"/>
      </a:accent1>
      <a:accent2>
        <a:srgbClr val="1C7293"/>
      </a:accent2>
      <a:accent3>
        <a:srgbClr val="2E7D32"/>
      </a:accent3>
      <a:accent4>
        <a:srgbClr val="B7791F"/>
      </a:accent4>
      <a:accent5>
        <a:srgbClr val="5B6B8C"/>
      </a:accent5>
      <a:accent6>
        <a:srgbClr val="FBEAE7"/>
      </a:accent6>
      <a:hlink>
        <a:srgbClr val="1C7293"/>
      </a:hlink>
      <a:folHlink>
        <a:srgbClr val="5B6B8C"/>
      </a:folHlink>
    </a:clrScheme>
    <a:fontScheme name="eMudhra Respo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Group 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eMudhra CA key compromise: enterprise response</dc:title>
  <dc:subject>Requirements and plan for service owners</dc:subject>
  <dc:creator>Group Security Architecture</dc:creator>
  <cp:lastModifiedBy>Group Security Architecture</cp:lastModifiedBy>
  <cp:revision>1</cp:revision>
  <dcterms:created xsi:type="dcterms:W3CDTF">2026-10-27T08:45:13Z</dcterms:created>
  <dcterms:modified xsi:type="dcterms:W3CDTF">2026-10-27T08:45:13Z</dcterms:modified>
</cp:coreProperties>
</file>