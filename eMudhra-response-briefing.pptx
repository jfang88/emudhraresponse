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40291f-d620-804a-6ccc-e20407d2740e}">
          <p14:sldIdLst>
            <p14:sldId id="256"/>
            <p14:sldId id="257"/>
          </p14:sldIdLst>
        </p14:section>
        <p14:section name="Situation" id="{ac8382cd-6382-ba3c-04c2-07a565a50695}">
          <p14:sldIdLst>
            <p14:sldId id="258"/>
            <p14:sldId id="259"/>
          </p14:sldIdLst>
        </p14:section>
        <p14:section name="Approach" id="{dadaf7ec-4a39-0325-604b-f8e2161604f3}">
          <p14:sldIdLst>
            <p14:sldId id="260"/>
            <p14:sldId id="261"/>
            <p14:sldId id="262"/>
            <p14:sldId id="263"/>
            <p14:sldId id="264"/>
            <p14:sldId id="265"/>
          </p14:sldIdLst>
        </p14:section>
        <p14:section name="Requirements" id="{e8c048d9-8220-52aa-c77c-cd044663154e}">
          <p14:sldIdLst>
            <p14:sldId id="266"/>
            <p14:sldId id="267"/>
            <p14:sldId id="268"/>
          </p14:sldIdLst>
        </p14:section>
        <p14:section name="Plan and decisions" id="{a4e4603e-f7fd-7e82-1e90-636ce23905b4}">
          <p14:sldIdLst>
            <p14:sldId id="269"/>
            <p14:sldId id="270"/>
          </p14:sldIdLst>
        </p14:section>
        <p14:section name="Appendix" id="{42664061-5a18-70f0-ba83-6f1971b38a0b}">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how we prioritise, what every service owner returns, and five decisions we need this week. The browser and OS vendors have done most of the work for desktops. Our job is to confirm that coverage and then find the software that keeps its own trust list. This deck draws on the eMudhraResponse pack dated 24 October and the review dated 26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this is not a desktop problem any more. Chrome, Firefox, Apple, Microsoft and Android pushed blocks between 17 and 20 October. What remains is software with its own trust list: server-side clients, runtimes, containers, appliances, agents and suppliers. The five decisions are on the last slide and in the workbook Decisions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clocks matter. The exposure clock started when the weak keys were generated in April 2025, which is why a retrospective hunt is worth doing. The response clock ran 17 to 20 October for browsers and operating systems. Tomorrow's Chrome root removal is about availability, not security: legitimate sites with certificates under that root will fail in Chrome. Note that one recovered key has been published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pack's best insight, sharpened. A public website presenting its own certificate is not the risk. The risk is any system that validates someone else's certificate using a trust list that hasn't been updated. Column C is the long tail. The proxy deserves special mention because it reverses the browser story: behind TLS inspection, the browser's protection is irrelevant.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yes, we put a proviso on the browser position. Vendors fixed browsers without user action, but an enterprise can break that through blocked update endpoints, disabled auto-update, TLS inspection or stale images. Evidence is one representative test per managed configuration plus the device-management coverage report. Don't ask every user to test. The workbook's Browser &amp; desktop sheet calculates whether each configuration meets the proviso.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with the framing: once browsers are confirmed, the rest is the long tail of internet-, application- and certificate-dependent systems. The fastest way to list it is egress telemetry: every system that matters makes outbound TLS calls, and our proxy and firewall logs already record them. Direct-to-internet connections that bypass the proxy are a finding in their own right. The tail won't close on one date, so we propose a cut-off (D-09) after which unremediated items need an exception with a compensating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the tiering make sense? The principle does. But Tier 2 mixed vendor-protected browsers with the most exposed population, outbound API clients on frozen bundles. This matrix keeps the pack's tiers as the impact rating and adds verifier susceptibility. Browsers drop to P3/P4 under the proviso; a high-impact Java or Go client rises to P1. The windows are indicative for the incident lead to approve, because 'agree a date with the owner' alone tends to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paths where impersonation becomes something worse. The pack lists some of them as Tier 1 examples, but it doesn't name identity fetches, artifact proxies, or code-signing and application control. Each card points to its playbook. The inspection proxy goes first because one fix protects the most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pack mentions availability only in a footnote, and doesn't mention the 27 October change. A certificate issued to us by eMudhra isn't compromised; it will just stop being trusted. The bigger, quieter effect is on partners: when we update certifi, webpki-roots or the OS bundle, any partner still using that root breaks for our clients. We checked the package contents directly. Don't fix breakages by restoring the root globally.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pack says no mandatory historical investigation for every application, which is fair. But a small targeted hunt is cheap and decisive. If eMudhra's statement holds, there should be no legitimate certificates under these intermediates at all, so any match outside test hosts is an incident. Start with EDR signer data for the code-signing intermediates and inspection-proxy logs for the TLS ones. Be honest about retention: we won't have 18 months of most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unchanged from the pack, and it's the right design for an enterprise: one record per service, three closure routes, and platform teams publish evidence once so applications can reference it. The rules at the bottom are the mistakes we expect most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accountable owner per shared component. Platform teams own reusable evidence; application teams own confirmation that the platform applies to them, or Route B where it doesn't. The 72-hour actions focus on chokepoints, because each one protects many downstream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findability question. The pack's technical content is good, but it sits in one long document ordered by vendor mechanism. Each playbook opens with a yes/no 'applies if' test, then options in order of preference, a verification step that proves the running workload uses the fix, what to record, and when to escalate. The workbook tracker has a playbook column, so every record shows which steps were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days are about decisions, certificates and the service desk. The first week is about chokepoints and P1. After that it is a steady burn-down of the long tail, with a cut-off and an exception process so the incident can close cleanly. Remaining P3 and P4 items move into business-as-usual vulnerability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decisions unblock the first week. D-04 and D-16 (service desk only, no all-staff notice) are needed today because of the Chrome change tomorrow. Record the decision, rationale and date in the workbook so the incident has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evidence base and its limits. Package facts were checked directly from PyPI, crates.io, the Go module proxy and the Ubuntu changelog. Vendor browser and OS actions come from press coverage of vendor statements, because the review environment couldn't reach the primary pages. The response lead should confirm those before the pack is reissued.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rtlCol="0"/>
          <a:lstStyle>
            <a:lvl1pPr algn="l" indent="0" marL="0">
              <a:buNone/>
              <a:defRPr lang="en-US" sz="2000" dirty="0">
                <a:solidFill>
                  <a:srgbClr val="CADCFC"/>
                </a:solidFill>
                <a:latin typeface="Calibri" pitchFamily="34" charset="0"/>
                <a:ea typeface="Calibri" pitchFamily="34" charset="-122"/>
                <a:cs typeface="Calibri" pitchFamily="34" charset="-120"/>
              </a:defRPr>
            </a:lvl1pPr>
          </a:lstStyle>
          <a:p>
            <a:pPr algn="l" indent="0" marL="0">
              <a:buNone/>
            </a:pP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rtlCol="0"/>
          <a:lstStyle>
            <a:lvl1pPr algn="l" indent="0" marL="0">
              <a:buNone/>
              <a:defRPr lang="en-US" sz="1400" dirty="0">
                <a:solidFill>
                  <a:srgbClr val="AFC0DA"/>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603504"/>
            <a:ext cx="11277295" cy="786384"/>
          </a:xfrm>
          <a:prstGeom prst="rect">
            <a:avLst/>
          </a:prstGeom>
          <a:noFill/>
          <a:ln/>
        </p:spPr>
        <p:txBody>
          <a:bodyPr wrap="square" rtlCol="0"/>
          <a:lstStyle>
            <a:lvl1pPr algn="l" indent="0" marL="0">
              <a:buNone/>
              <a:defRPr lang="en-US" sz="2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ph idx="101" type="body" hasCustomPrompt="1"/>
          </p:nvPr>
        </p:nvSpPr>
        <p:spPr>
          <a:xfrm>
            <a:off x="457200" y="1463040"/>
            <a:ext cx="11277295" cy="365760"/>
          </a:xfrm>
          <a:prstGeom prst="rect">
            <a:avLst/>
          </a:prstGeom>
          <a:noFill/>
          <a:ln/>
        </p:spPr>
        <p:txBody>
          <a:bodyPr wrap="square" rtlCol="0"/>
          <a:lstStyle>
            <a:lvl1pPr algn="l" indent="0" marL="0">
              <a:buNone/>
              <a:defRPr lang="en-US" sz="1500" i="1" dirty="0">
                <a:solidFill>
                  <a:schemeClr val="accent5"/>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Text 0"/>
          <p:cNvSpPr/>
          <p:nvPr>
            <p:ph idx="102" type="body" hasCustomPrompt="1"/>
          </p:nvPr>
        </p:nvSpPr>
        <p:spPr>
          <a:xfrm>
            <a:off x="457200" y="6236208"/>
            <a:ext cx="9692640" cy="384048"/>
          </a:xfrm>
          <a:prstGeom prst="rect">
            <a:avLst/>
          </a:prstGeom>
          <a:noFill/>
          <a:ln/>
        </p:spPr>
        <p:txBody>
          <a:bodyPr wrap="square" rtlCol="0"/>
          <a:lstStyle>
            <a:lvl1pPr algn="l" indent="0" marL="0">
              <a:buNone/>
              <a:defRPr lang="en-US" sz="1000" dirty="0">
                <a:solidFill>
                  <a:srgbClr val="7A869A"/>
                </a:solidFill>
                <a:latin typeface="Calibri" pitchFamily="34" charset="0"/>
                <a:ea typeface="Calibri" pitchFamily="34" charset="-122"/>
                <a:cs typeface="Calibri" pitchFamily="34" charset="-120"/>
              </a:defRPr>
            </a:lvl1pPr>
          </a:lstStyle>
          <a:p>
            <a:pPr algn="l" indent="0" marL="0">
              <a:buNone/>
            </a:pPr>
            <a:endParaRPr lang="en-US" sz="1000" dirty="0"/>
          </a:p>
        </p:txBody>
      </p:sp>
      <p:sp>
        <p:nvSpPr>
          <p:cNvPr id="5" name="Text 0"/>
          <p:cNvSpPr/>
          <p:nvPr/>
        </p:nvSpPr>
        <p:spPr>
          <a:xfrm>
            <a:off x="8595360" y="6446520"/>
            <a:ext cx="2651760" cy="228600"/>
          </a:xfrm>
          <a:prstGeom prst="rect">
            <a:avLst/>
          </a:prstGeom>
          <a:noFill/>
          <a:ln/>
        </p:spPr>
        <p:txBody>
          <a:bodyPr wrap="square" lIns="0" tIns="0" rIns="0" bIns="0" rtlCol="0" anchor="ctr"/>
          <a:lstStyle/>
          <a:p>
            <a:pPr algn="r" indent="0" marL="0">
              <a:buNone/>
            </a:pPr>
            <a:r>
              <a:rPr lang="en-US" sz="1000" dirty="0">
                <a:solidFill>
                  <a:srgbClr val="7A869A"/>
                </a:solidFill>
                <a:latin typeface="Calibri" pitchFamily="34" charset="0"/>
                <a:ea typeface="Calibri" pitchFamily="34" charset="-122"/>
                <a:cs typeface="Calibri" pitchFamily="34" charset="-120"/>
              </a:rPr>
              <a:t>Draft for discussion · 26 Oct 2026</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rtlCol="0"/>
          <a:lstStyle>
            <a:lvl1pPr algn="l" indent="0" marL="0">
              <a:buNone/>
              <a:defRPr lang="en-US" sz="1500" i="1" dirty="0">
                <a:solidFill>
                  <a:srgbClr val="CADCFC"/>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eMudhra CA key compromise: enterprise response</a:t>
            </a: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lIns="0" tIns="0" rIns="0" bIns="0" rtlCol="0" anchor="t"/>
          <a:lstStyle/>
          <a:p>
            <a:pPr algn="l" indent="0" marL="0">
              <a:buNone/>
            </a:pPr>
            <a:r>
              <a:rPr lang="en-US" sz="2000" dirty="0">
                <a:solidFill>
                  <a:srgbClr val="CADCFC"/>
                </a:solidFill>
                <a:latin typeface="Calibri" pitchFamily="34" charset="0"/>
                <a:ea typeface="Calibri" pitchFamily="34" charset="-122"/>
                <a:cs typeface="Calibri" pitchFamily="34" charset="-120"/>
              </a:rPr>
              <a:t>What we need from service owners, and how we close the long tail</a:t>
            </a: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lIns="0" tIns="0" rIns="0" bIns="0" rtlCol="0" anchor="t"/>
          <a:lstStyle/>
          <a:p>
            <a:pPr algn="l" indent="0" marL="0">
              <a:buNone/>
            </a:pPr>
            <a:r>
              <a:rPr lang="en-US" sz="1400" dirty="0">
                <a:solidFill>
                  <a:srgbClr val="AFC0DA"/>
                </a:solidFill>
                <a:latin typeface="Calibri" pitchFamily="34" charset="0"/>
                <a:ea typeface="Calibri" pitchFamily="34" charset="-122"/>
                <a:cs typeface="Calibri" pitchFamily="34" charset="-120"/>
              </a:rPr>
              <a:t>Senior IT management and service owners · 26 October 2026</a:t>
            </a:r>
            <a:endParaRPr lang="en-US" sz="1400" dirty="0"/>
          </a:p>
          <a:p>
            <a:pPr algn="l" indent="0" marL="0">
              <a:buNone/>
            </a:pPr>
            <a:r>
              <a:rPr lang="en-US" sz="1400" dirty="0">
                <a:solidFill>
                  <a:srgbClr val="AFC0DA"/>
                </a:solidFill>
                <a:latin typeface="Calibri" pitchFamily="34" charset="0"/>
                <a:ea typeface="Calibri" pitchFamily="34" charset="-122"/>
                <a:cs typeface="Calibri" pitchFamily="34" charset="-120"/>
              </a:rPr>
              <a:t>Draft for discussion: no decisions taken, no enterprise assessment completed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ill"/>
          <p:cNvSpPr/>
          <p:nvPr/>
        </p:nvSpPr>
        <p:spPr>
          <a:xfrm>
            <a:off x="457200" y="292608"/>
            <a:ext cx="1504188" cy="256032"/>
          </a:xfrm>
          <a:prstGeom prst="roundRect">
            <a:avLst>
              <a:gd name="adj" fmla="val 50000"/>
            </a:avLst>
          </a:prstGeom>
          <a:solidFill>
            <a:schemeClr val="bg2"/>
          </a:solidFill>
          <a:ln/>
        </p:spPr>
      </p:sp>
      <p:sp>
        <p:nvSpPr>
          <p:cNvPr id="3" name="Eyebrow"/>
          <p:cNvSpPr txBox="1"/>
          <p:nvPr/>
        </p:nvSpPr>
        <p:spPr>
          <a:xfrm>
            <a:off x="457200" y="292608"/>
            <a:ext cx="1504188"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EXECUTIVE SUMMARY</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are protected; the remaining risk sits in software that keeps its own trust list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Three things to know, and five decisions requested this week</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See REVIEW.md §2.</a:t>
            </a:r>
            <a:endParaRPr lang="en-US" sz="1000" dirty="0"/>
          </a:p>
        </p:txBody>
      </p:sp>
      <p:sp>
        <p:nvSpPr>
          <p:cNvPr id="7" name="Card"/>
          <p:cNvSpPr/>
          <p:nvPr/>
        </p:nvSpPr>
        <p:spPr>
          <a:xfrm>
            <a:off x="457200" y="1920240"/>
            <a:ext cx="3576218" cy="2971800"/>
          </a:xfrm>
          <a:prstGeom prst="rect">
            <a:avLst/>
          </a:prstGeom>
          <a:solidFill>
            <a:schemeClr val="bg2"/>
          </a:solidFill>
          <a:ln/>
        </p:spPr>
      </p:sp>
      <p:sp>
        <p:nvSpPr>
          <p:cNvPr id="8" name="Text 6"/>
          <p:cNvSpPr txBox="1"/>
          <p:nvPr/>
        </p:nvSpPr>
        <p:spPr>
          <a:xfrm>
            <a:off x="685800"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HAPPENED</a:t>
            </a:r>
            <a:endParaRPr lang="en-US" sz="1300" dirty="0"/>
          </a:p>
        </p:txBody>
      </p:sp>
      <p:sp>
        <p:nvSpPr>
          <p:cNvPr id="9" name="Text 7"/>
          <p:cNvSpPr txBox="1"/>
          <p:nvPr/>
        </p:nvSpPr>
        <p:spPr>
          <a:xfrm>
            <a:off x="685800"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Eight eMudhra intermediate CA keys were weak from generation in April 2025 and can be recovered by anyone.</a:t>
            </a:r>
            <a:endParaRPr lang="en-US" sz="1400" dirty="0"/>
          </a:p>
          <a:p>
            <a:pPr marL="177800" indent="-177800">
              <a:spcAft>
                <a:spcPts val="400"/>
              </a:spcAft>
              <a:buSzPct val="100000"/>
              <a:buChar char="•"/>
            </a:pPr>
            <a:r>
              <a:rPr lang="en-US" sz="1400" dirty="0">
                <a:solidFill>
                  <a:schemeClr val="tx1"/>
                </a:solidFill>
              </a:rPr>
              <a:t>Six sign TLS certificates and two sign code. Anyone with a key can forge certificates that unprotected clients accept.</a:t>
            </a:r>
            <a:endParaRPr lang="en-US" sz="1400" dirty="0"/>
          </a:p>
        </p:txBody>
      </p:sp>
      <p:sp>
        <p:nvSpPr>
          <p:cNvPr id="10" name="Card"/>
          <p:cNvSpPr/>
          <p:nvPr/>
        </p:nvSpPr>
        <p:spPr>
          <a:xfrm>
            <a:off x="4307738" y="1920240"/>
            <a:ext cx="3576218" cy="2971800"/>
          </a:xfrm>
          <a:prstGeom prst="rect">
            <a:avLst/>
          </a:prstGeom>
          <a:solidFill>
            <a:schemeClr val="bg2"/>
          </a:solidFill>
          <a:ln/>
        </p:spPr>
      </p:sp>
      <p:sp>
        <p:nvSpPr>
          <p:cNvPr id="11" name="Text 9"/>
          <p:cNvSpPr txBox="1"/>
          <p:nvPr/>
        </p:nvSpPr>
        <p:spPr>
          <a:xfrm>
            <a:off x="4536338"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WHERE WE STAND</a:t>
            </a:r>
            <a:endParaRPr lang="en-US" sz="1300" dirty="0"/>
          </a:p>
        </p:txBody>
      </p:sp>
      <p:sp>
        <p:nvSpPr>
          <p:cNvPr id="12" name="Text 10"/>
          <p:cNvSpPr txBox="1"/>
          <p:nvPr/>
        </p:nvSpPr>
        <p:spPr>
          <a:xfrm>
            <a:off x="4536338"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Vendors blocked the keys in browsers and OS trust stores on 17–20 Oct, with no user action. That holds only under four enterprise conditions.</a:t>
            </a:r>
            <a:endParaRPr lang="en-US" sz="1400" dirty="0"/>
          </a:p>
          <a:p>
            <a:pPr marL="177800" indent="-177800">
              <a:spcAft>
                <a:spcPts val="400"/>
              </a:spcAft>
              <a:buSzPct val="100000"/>
              <a:buChar char="•"/>
            </a:pPr>
            <a:r>
              <a:rPr lang="en-US" sz="1400" dirty="0">
                <a:solidFill>
                  <a:schemeClr val="tx1"/>
                </a:solidFill>
              </a:rPr>
              <a:t>Java, Python, Node, Go, containers, appliances and agents stay exposed until updated.</a:t>
            </a:r>
            <a:endParaRPr lang="en-US" sz="1400" dirty="0"/>
          </a:p>
        </p:txBody>
      </p:sp>
      <p:sp>
        <p:nvSpPr>
          <p:cNvPr id="13" name="Card"/>
          <p:cNvSpPr/>
          <p:nvPr/>
        </p:nvSpPr>
        <p:spPr>
          <a:xfrm>
            <a:off x="8158277" y="1920240"/>
            <a:ext cx="3576218" cy="2971800"/>
          </a:xfrm>
          <a:prstGeom prst="rect">
            <a:avLst/>
          </a:prstGeom>
          <a:solidFill>
            <a:schemeClr val="bg2"/>
          </a:solidFill>
          <a:ln/>
        </p:spPr>
      </p:sp>
      <p:sp>
        <p:nvSpPr>
          <p:cNvPr id="14" name="Text 12"/>
          <p:cNvSpPr txBox="1"/>
          <p:nvPr/>
        </p:nvSpPr>
        <p:spPr>
          <a:xfrm>
            <a:off x="8386877"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WE ASK</a:t>
            </a:r>
            <a:endParaRPr lang="en-US" sz="1300" dirty="0"/>
          </a:p>
        </p:txBody>
      </p:sp>
      <p:sp>
        <p:nvSpPr>
          <p:cNvPr id="15" name="Text 13"/>
          <p:cNvSpPr txBox="1"/>
          <p:nvPr/>
        </p:nvSpPr>
        <p:spPr>
          <a:xfrm>
            <a:off x="8386877"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Every service returns one six-field record, worked in priority order.</a:t>
            </a:r>
            <a:endParaRPr lang="en-US" sz="1400" dirty="0"/>
          </a:p>
          <a:p>
            <a:pPr marL="177800" indent="-177800">
              <a:spcAft>
                <a:spcPts val="400"/>
              </a:spcAft>
              <a:buSzPct val="100000"/>
              <a:buChar char="•"/>
            </a:pPr>
            <a:r>
              <a:rPr lang="en-US" sz="1400" dirty="0">
                <a:solidFill>
                  <a:schemeClr val="tx1"/>
                </a:solidFill>
              </a:rPr>
              <a:t>Fix the inspection proxy, identity paths and build pipelines first.</a:t>
            </a:r>
            <a:endParaRPr lang="en-US" sz="1400" dirty="0"/>
          </a:p>
          <a:p>
            <a:pPr marL="177800" indent="-177800">
              <a:spcAft>
                <a:spcPts val="400"/>
              </a:spcAft>
              <a:buSzPct val="100000"/>
              <a:buChar char="•"/>
            </a:pPr>
            <a:r>
              <a:rPr lang="en-US" sz="1400" dirty="0">
                <a:solidFill>
                  <a:schemeClr val="tx1"/>
                </a:solidFill>
              </a:rPr>
              <a:t>Replace our certificates under emSign ECC Root CA - G3: Chrome drops it on 27 Oct.</a:t>
            </a:r>
            <a:endParaRPr lang="en-US" sz="1400" dirty="0"/>
          </a:p>
        </p:txBody>
      </p:sp>
      <p:sp>
        <p:nvSpPr>
          <p:cNvPr id="16" name="Decision band"/>
          <p:cNvSpPr/>
          <p:nvPr/>
        </p:nvSpPr>
        <p:spPr>
          <a:xfrm>
            <a:off x="457200" y="5074920"/>
            <a:ext cx="11277295" cy="960120"/>
          </a:xfrm>
          <a:prstGeom prst="rect">
            <a:avLst/>
          </a:prstGeom>
          <a:solidFill>
            <a:schemeClr val="tx1"/>
          </a:solidFill>
          <a:ln/>
        </p:spPr>
      </p:sp>
      <p:sp>
        <p:nvSpPr>
          <p:cNvPr id="17" name="Text 15"/>
          <p:cNvSpPr txBox="1"/>
          <p:nvPr/>
        </p:nvSpPr>
        <p:spPr>
          <a:xfrm>
            <a:off x="731520" y="5120640"/>
            <a:ext cx="10728655" cy="868680"/>
          </a:xfrm>
          <a:prstGeom prst="rect">
            <a:avLst/>
          </a:prstGeom>
          <a:noFill/>
          <a:ln/>
        </p:spPr>
        <p:txBody>
          <a:bodyPr wrap="square" lIns="0" tIns="0" rIns="0" bIns="0" rtlCol="0" anchor="ctr"/>
          <a:lstStyle/>
          <a:p>
            <a:pPr indent="0" marL="0">
              <a:buNone/>
            </a:pPr>
            <a:r>
              <a:rPr lang="en-US" sz="1300" b="1" spc="100" kern="0" dirty="0">
                <a:solidFill>
                  <a:srgbClr val="F2B8AD"/>
                </a:solidFill>
              </a:rPr>
              <a:t>DECISIONS THIS WEEK   </a:t>
            </a:r>
            <a:pPr indent="0" marL="0">
              <a:buNone/>
            </a:pPr>
            <a:r>
              <a:rPr lang="en-US" sz="1400" dirty="0">
                <a:solidFill>
                  <a:schemeClr val="bg1"/>
                </a:solidFill>
              </a:rPr>
              <a:t>D-01 prioritisation model · D-02 browser proviso · D-03 target windows · D-04 replace our emSign certificates · D-07 inspection-proxy policy</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HAPPENED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keys were weak for 18 months, and vendors closed the browser gap in four days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Exposure ran from key generation until each client was protected, and it is still open for unpatched software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See REVIEW.md §2.</a:t>
            </a:r>
            <a:endParaRPr lang="en-US" sz="1000" dirty="0"/>
          </a:p>
        </p:txBody>
      </p:sp>
      <p:sp>
        <p:nvSpPr>
          <p:cNvPr id="7" name="Exposure window line"/>
          <p:cNvSpPr/>
          <p:nvPr/>
        </p:nvSpPr>
        <p:spPr>
          <a:xfrm>
            <a:off x="1371600" y="3246120"/>
            <a:ext cx="2743200" cy="0"/>
          </a:xfrm>
          <a:prstGeom prst="line">
            <a:avLst/>
          </a:prstGeom>
          <a:noFill/>
          <a:ln w="31750">
            <a:solidFill>
              <a:srgbClr val="B3341F"/>
            </a:solidFill>
            <a:prstDash val="dash"/>
          </a:ln>
        </p:spPr>
      </p:sp>
      <p:sp>
        <p:nvSpPr>
          <p:cNvPr id="8" name="Response line"/>
          <p:cNvSpPr/>
          <p:nvPr/>
        </p:nvSpPr>
        <p:spPr>
          <a:xfrm>
            <a:off x="4114800" y="3246120"/>
            <a:ext cx="7223760" cy="0"/>
          </a:xfrm>
          <a:prstGeom prst="line">
            <a:avLst/>
          </a:prstGeom>
          <a:noFill/>
          <a:ln w="31750">
            <a:solidFill>
              <a:srgbClr val="1B2A4A"/>
            </a:solidFill>
            <a:prstDash val="solid"/>
          </a:ln>
        </p:spPr>
      </p:sp>
      <p:sp>
        <p:nvSpPr>
          <p:cNvPr id="9" name="Text 7"/>
          <p:cNvSpPr txBox="1"/>
          <p:nvPr/>
        </p:nvSpPr>
        <p:spPr>
          <a:xfrm>
            <a:off x="1280160" y="2862072"/>
            <a:ext cx="2926080" cy="292608"/>
          </a:xfrm>
          <a:prstGeom prst="rect">
            <a:avLst/>
          </a:prstGeom>
          <a:noFill/>
          <a:ln/>
        </p:spPr>
        <p:txBody>
          <a:bodyPr wrap="square" lIns="0" tIns="0" rIns="0" bIns="0" rtlCol="0" anchor="ctr"/>
          <a:lstStyle/>
          <a:p>
            <a:pPr algn="ctr" indent="0" marL="0">
              <a:buNone/>
            </a:pPr>
            <a:r>
              <a:rPr lang="en-US" sz="1300" i="1" dirty="0">
                <a:solidFill>
                  <a:schemeClr val="accent1"/>
                </a:solidFill>
              </a:rPr>
              <a:t>535 days: keys recoverable by anyone</a:t>
            </a:r>
            <a:endParaRPr lang="en-US" sz="1300" dirty="0"/>
          </a:p>
        </p:txBody>
      </p:sp>
      <p:sp>
        <p:nvSpPr>
          <p:cNvPr id="10" name="Timeline marker"/>
          <p:cNvSpPr/>
          <p:nvPr/>
        </p:nvSpPr>
        <p:spPr>
          <a:xfrm>
            <a:off x="1261872" y="3136392"/>
            <a:ext cx="219456" cy="219456"/>
          </a:xfrm>
          <a:prstGeom prst="ellipse">
            <a:avLst/>
          </a:prstGeom>
          <a:solidFill>
            <a:schemeClr val="accent1"/>
          </a:solidFill>
          <a:ln w="19050">
            <a:solidFill>
              <a:schemeClr val="bg1"/>
            </a:solidFill>
            <a:prstDash val="solid"/>
          </a:ln>
        </p:spPr>
      </p:sp>
      <p:sp>
        <p:nvSpPr>
          <p:cNvPr id="11" name="Text 9"/>
          <p:cNvSpPr txBox="1"/>
          <p:nvPr/>
        </p:nvSpPr>
        <p:spPr>
          <a:xfrm>
            <a:off x="54864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1"/>
                </a:solidFill>
              </a:rPr>
              <a:t>30 Apr 2025</a:t>
            </a:r>
            <a:endParaRPr lang="en-US" sz="1400" dirty="0"/>
          </a:p>
        </p:txBody>
      </p:sp>
      <p:sp>
        <p:nvSpPr>
          <p:cNvPr id="12" name="Text 10"/>
          <p:cNvSpPr txBox="1"/>
          <p:nvPr/>
        </p:nvSpPr>
        <p:spPr>
          <a:xfrm>
            <a:off x="4754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Weak keys generated at a key ceremony</a:t>
            </a:r>
            <a:endParaRPr lang="en-US" sz="1200" dirty="0"/>
          </a:p>
        </p:txBody>
      </p:sp>
      <p:sp>
        <p:nvSpPr>
          <p:cNvPr id="13" name="Timeline marker"/>
          <p:cNvSpPr/>
          <p:nvPr/>
        </p:nvSpPr>
        <p:spPr>
          <a:xfrm>
            <a:off x="4005072" y="3136392"/>
            <a:ext cx="219456" cy="219456"/>
          </a:xfrm>
          <a:prstGeom prst="ellipse">
            <a:avLst/>
          </a:prstGeom>
          <a:solidFill>
            <a:schemeClr val="tx1"/>
          </a:solidFill>
          <a:ln w="19050">
            <a:solidFill>
              <a:schemeClr val="bg1"/>
            </a:solidFill>
            <a:prstDash val="solid"/>
          </a:ln>
        </p:spPr>
      </p:sp>
      <p:sp>
        <p:nvSpPr>
          <p:cNvPr id="14" name="Text 12"/>
          <p:cNvSpPr txBox="1"/>
          <p:nvPr/>
        </p:nvSpPr>
        <p:spPr>
          <a:xfrm>
            <a:off x="329184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17 Oct</a:t>
            </a:r>
            <a:endParaRPr lang="en-US" sz="1400" dirty="0"/>
          </a:p>
        </p:txBody>
      </p:sp>
      <p:sp>
        <p:nvSpPr>
          <p:cNvPr id="15" name="Text 13"/>
          <p:cNvSpPr txBox="1"/>
          <p:nvPr/>
        </p:nvSpPr>
        <p:spPr>
          <a:xfrm>
            <a:off x="32186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Reported. Chrome CRLSet and Firefox OneCRL block the same day</a:t>
            </a:r>
            <a:endParaRPr lang="en-US" sz="1200" dirty="0"/>
          </a:p>
        </p:txBody>
      </p:sp>
      <p:sp>
        <p:nvSpPr>
          <p:cNvPr id="16" name="Timeline marker"/>
          <p:cNvSpPr/>
          <p:nvPr/>
        </p:nvSpPr>
        <p:spPr>
          <a:xfrm>
            <a:off x="5925312" y="3136392"/>
            <a:ext cx="219456" cy="219456"/>
          </a:xfrm>
          <a:prstGeom prst="ellipse">
            <a:avLst/>
          </a:prstGeom>
          <a:solidFill>
            <a:schemeClr val="tx1"/>
          </a:solidFill>
          <a:ln w="19050">
            <a:solidFill>
              <a:schemeClr val="bg1"/>
            </a:solidFill>
            <a:prstDash val="solid"/>
          </a:ln>
        </p:spPr>
      </p:sp>
      <p:sp>
        <p:nvSpPr>
          <p:cNvPr id="17" name="Text 15"/>
          <p:cNvSpPr txBox="1"/>
          <p:nvPr/>
        </p:nvSpPr>
        <p:spPr>
          <a:xfrm>
            <a:off x="521208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19 Oct</a:t>
            </a:r>
            <a:endParaRPr lang="en-US" sz="1400" dirty="0"/>
          </a:p>
        </p:txBody>
      </p:sp>
      <p:sp>
        <p:nvSpPr>
          <p:cNvPr id="18" name="Text 16"/>
          <p:cNvSpPr txBox="1"/>
          <p:nvPr/>
        </p:nvSpPr>
        <p:spPr>
          <a:xfrm>
            <a:off x="513892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Apple; Android via Play services; Sectigo revokes AAA cross-certificates; Go fix</a:t>
            </a:r>
            <a:endParaRPr lang="en-US" sz="1200" dirty="0"/>
          </a:p>
        </p:txBody>
      </p:sp>
      <p:sp>
        <p:nvSpPr>
          <p:cNvPr id="19" name="Timeline marker"/>
          <p:cNvSpPr/>
          <p:nvPr/>
        </p:nvSpPr>
        <p:spPr>
          <a:xfrm>
            <a:off x="7845552" y="3136392"/>
            <a:ext cx="219456" cy="219456"/>
          </a:xfrm>
          <a:prstGeom prst="ellipse">
            <a:avLst/>
          </a:prstGeom>
          <a:solidFill>
            <a:schemeClr val="tx1"/>
          </a:solidFill>
          <a:ln w="19050">
            <a:solidFill>
              <a:schemeClr val="bg1"/>
            </a:solidFill>
            <a:prstDash val="solid"/>
          </a:ln>
        </p:spPr>
      </p:sp>
      <p:sp>
        <p:nvSpPr>
          <p:cNvPr id="20" name="Text 18"/>
          <p:cNvSpPr txBox="1"/>
          <p:nvPr/>
        </p:nvSpPr>
        <p:spPr>
          <a:xfrm>
            <a:off x="713232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20 Oct</a:t>
            </a:r>
            <a:endParaRPr lang="en-US" sz="1400" dirty="0"/>
          </a:p>
        </p:txBody>
      </p:sp>
      <p:sp>
        <p:nvSpPr>
          <p:cNvPr id="21" name="Text 19"/>
          <p:cNvSpPr txBox="1"/>
          <p:nvPr/>
        </p:nvSpPr>
        <p:spPr>
          <a:xfrm>
            <a:off x="7059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Microsoft; Ubuntu ca-certificates. Node, Debian still pending</a:t>
            </a:r>
            <a:endParaRPr lang="en-US" sz="1200" dirty="0"/>
          </a:p>
        </p:txBody>
      </p:sp>
      <p:sp>
        <p:nvSpPr>
          <p:cNvPr id="22" name="Timeline marker"/>
          <p:cNvSpPr/>
          <p:nvPr/>
        </p:nvSpPr>
        <p:spPr>
          <a:xfrm>
            <a:off x="10131552" y="3136392"/>
            <a:ext cx="219456" cy="219456"/>
          </a:xfrm>
          <a:prstGeom prst="ellipse">
            <a:avLst/>
          </a:prstGeom>
          <a:solidFill>
            <a:schemeClr val="accent4"/>
          </a:solidFill>
          <a:ln w="19050">
            <a:solidFill>
              <a:schemeClr val="bg1"/>
            </a:solidFill>
            <a:prstDash val="solid"/>
          </a:ln>
        </p:spPr>
      </p:sp>
      <p:sp>
        <p:nvSpPr>
          <p:cNvPr id="23" name="Text 21"/>
          <p:cNvSpPr txBox="1"/>
          <p:nvPr/>
        </p:nvSpPr>
        <p:spPr>
          <a:xfrm>
            <a:off x="941832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4"/>
                </a:solidFill>
              </a:rPr>
              <a:t>27 Oct</a:t>
            </a:r>
            <a:endParaRPr lang="en-US" sz="1400" dirty="0"/>
          </a:p>
        </p:txBody>
      </p:sp>
      <p:sp>
        <p:nvSpPr>
          <p:cNvPr id="24" name="Text 22"/>
          <p:cNvSpPr txBox="1"/>
          <p:nvPr/>
        </p:nvSpPr>
        <p:spPr>
          <a:xfrm>
            <a:off x="9345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Chrome removes emSign ECC Root CA - G3: legitimate sites under it break</a:t>
            </a:r>
            <a:endParaRPr lang="en-US" sz="1200" dirty="0"/>
          </a:p>
        </p:txBody>
      </p:sp>
      <p:sp>
        <p:nvSpPr>
          <p:cNvPr id="25" name="Text 23"/>
          <p:cNvSpPr txBox="1"/>
          <p:nvPr/>
        </p:nvSpPr>
        <p:spPr>
          <a:xfrm>
            <a:off x="502920" y="2103120"/>
            <a:ext cx="329184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Exposure window</a:t>
            </a:r>
            <a:endParaRPr lang="en-US" sz="1200" dirty="0"/>
          </a:p>
        </p:txBody>
      </p:sp>
      <p:sp>
        <p:nvSpPr>
          <p:cNvPr id="26" name="Text 24"/>
          <p:cNvSpPr txBox="1"/>
          <p:nvPr/>
        </p:nvSpPr>
        <p:spPr>
          <a:xfrm>
            <a:off x="4114800" y="2103120"/>
            <a:ext cx="7223760" cy="274320"/>
          </a:xfrm>
          <a:prstGeom prst="rect">
            <a:avLst/>
          </a:prstGeom>
          <a:noFill/>
          <a:ln/>
        </p:spPr>
        <p:txBody>
          <a:bodyPr wrap="square" lIns="0" tIns="0" rIns="0" bIns="0" rtlCol="0" anchor="ctr"/>
          <a:lstStyle/>
          <a:p>
            <a:pPr indent="0" marL="0">
              <a:buNone/>
            </a:pPr>
            <a:r>
              <a:rPr lang="en-US" sz="1200" b="1" spc="100" kern="0" dirty="0">
                <a:solidFill>
                  <a:schemeClr val="tx1"/>
                </a:solidFill>
              </a:rPr>
              <a:t>Vendor response</a:t>
            </a:r>
            <a:endParaRPr lang="en-US" sz="1200" dirty="0"/>
          </a:p>
        </p:txBody>
      </p:sp>
      <p:sp>
        <p:nvSpPr>
          <p:cNvPr id="27" name="Stat value"/>
          <p:cNvSpPr txBox="1"/>
          <p:nvPr/>
        </p:nvSpPr>
        <p:spPr>
          <a:xfrm>
            <a:off x="82296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8</a:t>
            </a:r>
            <a:endParaRPr lang="en-US" sz="4000" dirty="0"/>
          </a:p>
        </p:txBody>
      </p:sp>
      <p:sp>
        <p:nvSpPr>
          <p:cNvPr id="28" name="Stat label"/>
          <p:cNvSpPr txBox="1"/>
          <p:nvPr/>
        </p:nvSpPr>
        <p:spPr>
          <a:xfrm>
            <a:off x="82296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intermediate keys: 6 TLS, 2 code-signing</a:t>
            </a:r>
            <a:endParaRPr lang="en-US" sz="1300" dirty="0"/>
          </a:p>
        </p:txBody>
      </p:sp>
      <p:sp>
        <p:nvSpPr>
          <p:cNvPr id="29" name="Stat value"/>
          <p:cNvSpPr txBox="1"/>
          <p:nvPr/>
        </p:nvSpPr>
        <p:spPr>
          <a:xfrm>
            <a:off x="457200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Stat label"/>
          <p:cNvSpPr txBox="1"/>
          <p:nvPr/>
        </p:nvSpPr>
        <p:spPr>
          <a:xfrm>
            <a:off x="457200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confirmed misuse reported by 21 Oct. Clients that don't check CT can't rule it out</a:t>
            </a:r>
            <a:endParaRPr lang="en-US" sz="1300" dirty="0"/>
          </a:p>
        </p:txBody>
      </p:sp>
      <p:sp>
        <p:nvSpPr>
          <p:cNvPr id="31" name="Stat value"/>
          <p:cNvSpPr txBox="1"/>
          <p:nvPr/>
        </p:nvSpPr>
        <p:spPr>
          <a:xfrm>
            <a:off x="8321040" y="4663440"/>
            <a:ext cx="3291840" cy="68580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~30,000</a:t>
            </a:r>
            <a:endParaRPr lang="en-US" sz="4000" dirty="0"/>
          </a:p>
        </p:txBody>
      </p:sp>
      <p:sp>
        <p:nvSpPr>
          <p:cNvPr id="32" name="Stat label"/>
          <p:cNvSpPr txBox="1"/>
          <p:nvPr/>
        </p:nvSpPr>
        <p:spPr>
          <a:xfrm>
            <a:off x="832104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legitimate certificates to migrate (eMudhra estimate)</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ill"/>
          <p:cNvSpPr/>
          <p:nvPr/>
        </p:nvSpPr>
        <p:spPr>
          <a:xfrm>
            <a:off x="457200" y="292608"/>
            <a:ext cx="1271016" cy="256032"/>
          </a:xfrm>
          <a:prstGeom prst="roundRect">
            <a:avLst>
              <a:gd name="adj" fmla="val 50000"/>
            </a:avLst>
          </a:prstGeom>
          <a:solidFill>
            <a:schemeClr val="bg2"/>
          </a:solidFill>
          <a:ln/>
        </p:spPr>
      </p:sp>
      <p:sp>
        <p:nvSpPr>
          <p:cNvPr id="3" name="Eyebrow"/>
          <p:cNvSpPr txBox="1"/>
          <p:nvPr/>
        </p:nvSpPr>
        <p:spPr>
          <a:xfrm>
            <a:off x="457200" y="292608"/>
            <a:ext cx="127101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WHO IS EXPOSED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Exposure depends on what a system trusts, not on whose certificates we buy</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The verifier decides. Four kinds, from protected to exposed</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An attacker needs to intercept or redirect traffic, except for inbound mTLS, where a forged client certificate connects directly.</a:t>
            </a:r>
            <a:endParaRPr lang="en-US" sz="1000" dirty="0"/>
          </a:p>
        </p:txBody>
      </p:sp>
      <p:sp>
        <p:nvSpPr>
          <p:cNvPr id="7" name="Card"/>
          <p:cNvSpPr/>
          <p:nvPr/>
        </p:nvSpPr>
        <p:spPr>
          <a:xfrm>
            <a:off x="457200" y="1965960"/>
            <a:ext cx="2647874" cy="2514600"/>
          </a:xfrm>
          <a:prstGeom prst="rect">
            <a:avLst/>
          </a:prstGeom>
          <a:solidFill>
            <a:schemeClr val="bg2"/>
          </a:solidFill>
          <a:ln/>
        </p:spPr>
      </p:sp>
      <p:sp>
        <p:nvSpPr>
          <p:cNvPr id="8" name="Shape 6"/>
          <p:cNvSpPr/>
          <p:nvPr/>
        </p:nvSpPr>
        <p:spPr>
          <a:xfrm>
            <a:off x="685800" y="2121408"/>
            <a:ext cx="475488" cy="475488"/>
          </a:xfrm>
          <a:prstGeom prst="ellipse">
            <a:avLst/>
          </a:prstGeom>
          <a:solidFill>
            <a:schemeClr val="accent3"/>
          </a:solidFill>
          <a:ln/>
        </p:spPr>
      </p:sp>
      <p:sp>
        <p:nvSpPr>
          <p:cNvPr id="9" name="Text 7"/>
          <p:cNvSpPr txBox="1"/>
          <p:nvPr/>
        </p:nvSpPr>
        <p:spPr>
          <a:xfrm>
            <a:off x="685800"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0" name="Text 8"/>
          <p:cNvSpPr txBox="1"/>
          <p:nvPr/>
        </p:nvSpPr>
        <p:spPr>
          <a:xfrm>
            <a:off x="1280160"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Browsers and OS trust stores</a:t>
            </a:r>
            <a:endParaRPr lang="en-US" sz="1500" dirty="0"/>
          </a:p>
        </p:txBody>
      </p:sp>
      <p:sp>
        <p:nvSpPr>
          <p:cNvPr id="11" name="Text 9"/>
          <p:cNvSpPr txBox="1"/>
          <p:nvPr/>
        </p:nvSpPr>
        <p:spPr>
          <a:xfrm>
            <a:off x="685800"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Chrome, Edge, Firefox, Safari; Windows and Apple stores; Android</a:t>
            </a:r>
            <a:endParaRPr lang="en-US" sz="1300" dirty="0"/>
          </a:p>
        </p:txBody>
      </p:sp>
      <p:sp>
        <p:nvSpPr>
          <p:cNvPr id="12" name="Text 10"/>
          <p:cNvSpPr txBox="1"/>
          <p:nvPr/>
        </p:nvSpPr>
        <p:spPr>
          <a:xfrm>
            <a:off x="685800" y="3822192"/>
            <a:ext cx="2190674" cy="548640"/>
          </a:xfrm>
          <a:prstGeom prst="rect">
            <a:avLst/>
          </a:prstGeom>
          <a:noFill/>
          <a:ln/>
        </p:spPr>
        <p:txBody>
          <a:bodyPr wrap="square" lIns="0" tIns="0" rIns="0" bIns="0" rtlCol="0" anchor="t"/>
          <a:lstStyle/>
          <a:p>
            <a:pPr indent="0" marL="0">
              <a:buNone/>
            </a:pPr>
            <a:r>
              <a:rPr lang="en-US" sz="1300" b="1" dirty="0">
                <a:solidFill>
                  <a:schemeClr val="accent3"/>
                </a:solidFill>
              </a:rPr>
              <a:t>Protected by vendor push. Confirm coverage</a:t>
            </a:r>
            <a:endParaRPr lang="en-US" sz="1300" dirty="0"/>
          </a:p>
        </p:txBody>
      </p:sp>
      <p:sp>
        <p:nvSpPr>
          <p:cNvPr id="13" name="Card"/>
          <p:cNvSpPr/>
          <p:nvPr/>
        </p:nvSpPr>
        <p:spPr>
          <a:xfrm>
            <a:off x="3333674" y="1965960"/>
            <a:ext cx="2647874" cy="2514600"/>
          </a:xfrm>
          <a:prstGeom prst="rect">
            <a:avLst/>
          </a:prstGeom>
          <a:solidFill>
            <a:schemeClr val="bg2"/>
          </a:solidFill>
          <a:ln/>
        </p:spPr>
      </p:sp>
      <p:sp>
        <p:nvSpPr>
          <p:cNvPr id="14" name="Shape 12"/>
          <p:cNvSpPr/>
          <p:nvPr/>
        </p:nvSpPr>
        <p:spPr>
          <a:xfrm>
            <a:off x="3562274" y="2121408"/>
            <a:ext cx="475488" cy="475488"/>
          </a:xfrm>
          <a:prstGeom prst="ellipse">
            <a:avLst/>
          </a:prstGeom>
          <a:solidFill>
            <a:schemeClr val="accent2"/>
          </a:solidFill>
          <a:ln/>
        </p:spPr>
      </p:sp>
      <p:sp>
        <p:nvSpPr>
          <p:cNvPr id="15" name="Text 13"/>
          <p:cNvSpPr txBox="1"/>
          <p:nvPr/>
        </p:nvSpPr>
        <p:spPr>
          <a:xfrm>
            <a:off x="3562274"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6" name="Text 14"/>
          <p:cNvSpPr txBox="1"/>
          <p:nvPr/>
        </p:nvSpPr>
        <p:spPr>
          <a:xfrm>
            <a:off x="4156634"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OS-store consumers</a:t>
            </a:r>
            <a:endParaRPr lang="en-US" sz="1500" dirty="0"/>
          </a:p>
        </p:txBody>
      </p:sp>
      <p:sp>
        <p:nvSpPr>
          <p:cNvPr id="17" name="Text 15"/>
          <p:cNvSpPr txBox="1"/>
          <p:nvPr/>
        </p:nvSpPr>
        <p:spPr>
          <a:xfrm>
            <a:off x="3562274"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.NET on Windows, curl, PHP, Ruby, Go on Linux using system roots</a:t>
            </a:r>
            <a:endParaRPr lang="en-US" sz="1300" dirty="0"/>
          </a:p>
        </p:txBody>
      </p:sp>
      <p:sp>
        <p:nvSpPr>
          <p:cNvPr id="18" name="Text 16"/>
          <p:cNvSpPr txBox="1"/>
          <p:nvPr/>
        </p:nvSpPr>
        <p:spPr>
          <a:xfrm>
            <a:off x="3562274" y="3822192"/>
            <a:ext cx="2190674" cy="548640"/>
          </a:xfrm>
          <a:prstGeom prst="rect">
            <a:avLst/>
          </a:prstGeom>
          <a:noFill/>
          <a:ln/>
        </p:spPr>
        <p:txBody>
          <a:bodyPr wrap="square" lIns="0" tIns="0" rIns="0" bIns="0" rtlCol="0" anchor="t"/>
          <a:lstStyle/>
          <a:p>
            <a:pPr indent="0" marL="0">
              <a:buNone/>
            </a:pPr>
            <a:r>
              <a:rPr lang="en-US" sz="1300" b="1" dirty="0">
                <a:solidFill>
                  <a:schemeClr val="accent2"/>
                </a:solidFill>
              </a:rPr>
              <a:t>Protected once the OS update is confirmed</a:t>
            </a:r>
            <a:endParaRPr lang="en-US" sz="1300" dirty="0"/>
          </a:p>
        </p:txBody>
      </p:sp>
      <p:sp>
        <p:nvSpPr>
          <p:cNvPr id="19" name="Card"/>
          <p:cNvSpPr/>
          <p:nvPr/>
        </p:nvSpPr>
        <p:spPr>
          <a:xfrm>
            <a:off x="6210148" y="1965960"/>
            <a:ext cx="2647874" cy="2514600"/>
          </a:xfrm>
          <a:prstGeom prst="rect">
            <a:avLst/>
          </a:prstGeom>
          <a:solidFill>
            <a:schemeClr val="bg2"/>
          </a:solidFill>
          <a:ln/>
        </p:spPr>
      </p:sp>
      <p:sp>
        <p:nvSpPr>
          <p:cNvPr id="20" name="Shape 18"/>
          <p:cNvSpPr/>
          <p:nvPr/>
        </p:nvSpPr>
        <p:spPr>
          <a:xfrm>
            <a:off x="6438748" y="2121408"/>
            <a:ext cx="475488" cy="475488"/>
          </a:xfrm>
          <a:prstGeom prst="ellipse">
            <a:avLst/>
          </a:prstGeom>
          <a:solidFill>
            <a:schemeClr val="accent4"/>
          </a:solidFill>
          <a:ln/>
        </p:spPr>
      </p:sp>
      <p:sp>
        <p:nvSpPr>
          <p:cNvPr id="21" name="Text 19"/>
          <p:cNvSpPr txBox="1"/>
          <p:nvPr/>
        </p:nvSpPr>
        <p:spPr>
          <a:xfrm>
            <a:off x="6438748"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22" name="Text 20"/>
          <p:cNvSpPr txBox="1"/>
          <p:nvPr/>
        </p:nvSpPr>
        <p:spPr>
          <a:xfrm>
            <a:off x="7033108"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Own or compiled trust list</a:t>
            </a:r>
            <a:endParaRPr lang="en-US" sz="1500" dirty="0"/>
          </a:p>
        </p:txBody>
      </p:sp>
      <p:sp>
        <p:nvSpPr>
          <p:cNvPr id="23" name="Text 21"/>
          <p:cNvSpPr txBox="1"/>
          <p:nvPr/>
        </p:nvSpPr>
        <p:spPr>
          <a:xfrm>
            <a:off x="6438748"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Java cacerts, Python certifi, Node built-in roots, Go/Rust binaries, container images</a:t>
            </a:r>
            <a:endParaRPr lang="en-US" sz="1300" dirty="0"/>
          </a:p>
        </p:txBody>
      </p:sp>
      <p:sp>
        <p:nvSpPr>
          <p:cNvPr id="24" name="Text 22"/>
          <p:cNvSpPr txBox="1"/>
          <p:nvPr/>
        </p:nvSpPr>
        <p:spPr>
          <a:xfrm>
            <a:off x="6438748" y="3822192"/>
            <a:ext cx="2190674" cy="548640"/>
          </a:xfrm>
          <a:prstGeom prst="rect">
            <a:avLst/>
          </a:prstGeom>
          <a:noFill/>
          <a:ln/>
        </p:spPr>
        <p:txBody>
          <a:bodyPr wrap="square" lIns="0" tIns="0" rIns="0" bIns="0" rtlCol="0" anchor="t"/>
          <a:lstStyle/>
          <a:p>
            <a:pPr indent="0" marL="0">
              <a:buNone/>
            </a:pPr>
            <a:r>
              <a:rPr lang="en-US" sz="1300" b="1" dirty="0">
                <a:solidFill>
                  <a:schemeClr val="accent4"/>
                </a:solidFill>
              </a:rPr>
              <a:t>Exposed until updated or rebuilt</a:t>
            </a:r>
            <a:endParaRPr lang="en-US" sz="1300" dirty="0"/>
          </a:p>
        </p:txBody>
      </p:sp>
      <p:sp>
        <p:nvSpPr>
          <p:cNvPr id="25" name="Card"/>
          <p:cNvSpPr/>
          <p:nvPr/>
        </p:nvSpPr>
        <p:spPr>
          <a:xfrm>
            <a:off x="9086621" y="1965960"/>
            <a:ext cx="2647874" cy="2514600"/>
          </a:xfrm>
          <a:prstGeom prst="rect">
            <a:avLst/>
          </a:prstGeom>
          <a:solidFill>
            <a:schemeClr val="bg2"/>
          </a:solidFill>
          <a:ln/>
        </p:spPr>
      </p:sp>
      <p:sp>
        <p:nvSpPr>
          <p:cNvPr id="26" name="Shape 24"/>
          <p:cNvSpPr/>
          <p:nvPr/>
        </p:nvSpPr>
        <p:spPr>
          <a:xfrm>
            <a:off x="9315221" y="2121408"/>
            <a:ext cx="475488" cy="475488"/>
          </a:xfrm>
          <a:prstGeom prst="ellipse">
            <a:avLst/>
          </a:prstGeom>
          <a:solidFill>
            <a:schemeClr val="accent1"/>
          </a:solidFill>
          <a:ln/>
        </p:spPr>
      </p:sp>
      <p:sp>
        <p:nvSpPr>
          <p:cNvPr id="27" name="Text 25"/>
          <p:cNvSpPr txBox="1"/>
          <p:nvPr/>
        </p:nvSpPr>
        <p:spPr>
          <a:xfrm>
            <a:off x="9315221"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28" name="Text 26"/>
          <p:cNvSpPr txBox="1"/>
          <p:nvPr/>
        </p:nvSpPr>
        <p:spPr>
          <a:xfrm>
            <a:off x="9909581"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Embedded or vendor-controlled</a:t>
            </a:r>
            <a:endParaRPr lang="en-US" sz="1500" dirty="0"/>
          </a:p>
        </p:txBody>
      </p:sp>
      <p:sp>
        <p:nvSpPr>
          <p:cNvPr id="29" name="Text 27"/>
          <p:cNvSpPr txBox="1"/>
          <p:nvPr/>
        </p:nvSpPr>
        <p:spPr>
          <a:xfrm>
            <a:off x="9315221"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Appliances, agents, packaged products, OT/IoT, SaaS</a:t>
            </a:r>
            <a:endParaRPr lang="en-US" sz="1300" dirty="0"/>
          </a:p>
        </p:txBody>
      </p:sp>
      <p:sp>
        <p:nvSpPr>
          <p:cNvPr id="30" name="Text 28"/>
          <p:cNvSpPr txBox="1"/>
          <p:nvPr/>
        </p:nvSpPr>
        <p:spPr>
          <a:xfrm>
            <a:off x="9315221" y="3822192"/>
            <a:ext cx="2190674" cy="548640"/>
          </a:xfrm>
          <a:prstGeom prst="rect">
            <a:avLst/>
          </a:prstGeom>
          <a:noFill/>
          <a:ln/>
        </p:spPr>
        <p:txBody>
          <a:bodyPr wrap="square" lIns="0" tIns="0" rIns="0" bIns="0" rtlCol="0" anchor="t"/>
          <a:lstStyle/>
          <a:p>
            <a:pPr indent="0" marL="0">
              <a:buNone/>
            </a:pPr>
            <a:r>
              <a:rPr lang="en-US" sz="1300" b="1" dirty="0">
                <a:solidFill>
                  <a:schemeClr val="accent1"/>
                </a:solidFill>
              </a:rPr>
              <a:t>Exposed until the vendor fixes it</a:t>
            </a:r>
            <a:endParaRPr lang="en-US" sz="1300" dirty="0"/>
          </a:p>
        </p:txBody>
      </p:sp>
      <p:sp>
        <p:nvSpPr>
          <p:cNvPr id="31" name="Proxy band"/>
          <p:cNvSpPr/>
          <p:nvPr/>
        </p:nvSpPr>
        <p:spPr>
          <a:xfrm>
            <a:off x="457200" y="4709160"/>
            <a:ext cx="11277295" cy="1280160"/>
          </a:xfrm>
          <a:prstGeom prst="rect">
            <a:avLst/>
          </a:prstGeom>
          <a:solidFill>
            <a:schemeClr val="tx1"/>
          </a:solidFill>
          <a:ln/>
        </p:spPr>
      </p:sp>
      <p:pic>
        <p:nvPicPr>
          <p:cNvPr id="32" name="Image 0" descr="preencoded.png">    </p:cNvPr>
          <p:cNvPicPr>
            <a:picLocks noChangeAspect="1"/>
          </p:cNvPicPr>
          <p:nvPr/>
        </p:nvPicPr>
        <p:blipFill>
          <a:blip r:embed="rId1"/>
          <a:stretch>
            <a:fillRect/>
          </a:stretch>
        </p:blipFill>
        <p:spPr>
          <a:xfrm>
            <a:off x="777240" y="5029200"/>
            <a:ext cx="594360" cy="594360"/>
          </a:xfrm>
          <a:prstGeom prst="rect">
            <a:avLst/>
          </a:prstGeom>
        </p:spPr>
      </p:pic>
      <p:sp>
        <p:nvSpPr>
          <p:cNvPr id="33" name="Text 30"/>
          <p:cNvSpPr txBox="1"/>
          <p:nvPr/>
        </p:nvSpPr>
        <p:spPr>
          <a:xfrm>
            <a:off x="1645920" y="4773168"/>
            <a:ext cx="9814255" cy="1152144"/>
          </a:xfrm>
          <a:prstGeom prst="rect">
            <a:avLst/>
          </a:prstGeom>
          <a:noFill/>
          <a:ln/>
        </p:spPr>
        <p:txBody>
          <a:bodyPr wrap="square" lIns="0" tIns="0" rIns="0" bIns="0" rtlCol="0" anchor="ctr"/>
          <a:lstStyle/>
          <a:p>
            <a:pPr indent="0" marL="0">
              <a:buNone/>
            </a:pPr>
            <a:r>
              <a:rPr lang="en-US" sz="1600" b="1" dirty="0">
                <a:solidFill>
                  <a:schemeClr val="bg1"/>
                </a:solidFill>
              </a:rPr>
              <a:t>TLS-inspection proxy: it is the verifier for every client behind it.</a:t>
            </a:r>
            <a:endParaRPr lang="en-US" sz="1600" dirty="0"/>
          </a:p>
          <a:p>
            <a:pPr indent="0" marL="0">
              <a:buNone/>
            </a:pPr>
            <a:r>
              <a:rPr lang="en-US" sz="1400" dirty="0">
                <a:solidFill>
                  <a:srgbClr val="CADCFC"/>
                </a:solidFill>
              </a:rPr>
              <a:t>Browsers only see the proxy's re-signed certificate, so their blocks never see the real chain. Fix the proxy once and every inspected client is protected on that path, including non-browser software.</a:t>
            </a:r>
            <a:endParaRPr lang="en-US" sz="16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BROWSERS AND DESKTOPS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count as protected only when four enterprise conditions hold</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We record them as “Validated” from a coverage report, not as “fixed” by assumption</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See REVIEW.md §2. Not covered: macOS curl result from lilting.ch test, 21 Oct.</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4937760" cy="914400"/>
        </p:xfrm>
        <a:graphic>
          <a:graphicData uri="http://schemas.openxmlformats.org/drawingml/2006/table">
            <a:tbl>
              <a:tblPr/>
              <a:tblGrid>
                <a:gridCol w="1417320"/>
                <a:gridCol w="2377440"/>
                <a:gridCol w="1143000"/>
              </a:tblGrid>
              <a:tr h="365760">
                <a:tc>
                  <a:txBody>
                    <a:bodyPr/>
                    <a:lstStyle/>
                    <a:p>
                      <a:pPr indent="0" marL="0">
                        <a:buNone/>
                      </a:pPr>
                      <a:r>
                        <a:rPr lang="en-US" sz="1300" b="1" dirty="0">
                          <a:solidFill>
                            <a:schemeClr val="bg1"/>
                          </a:solidFill>
                        </a:rPr>
                        <a:t>Platform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Mechanism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Date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CRLSet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Firefox</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OneCRL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Apple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Trust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Android</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Google Play services</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 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Windows / Edge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Microsoft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20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Root removal (availability)</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8" name="Card"/>
          <p:cNvSpPr/>
          <p:nvPr/>
        </p:nvSpPr>
        <p:spPr>
          <a:xfrm>
            <a:off x="5715000" y="1965960"/>
            <a:ext cx="2895448" cy="1417320"/>
          </a:xfrm>
          <a:prstGeom prst="rect">
            <a:avLst/>
          </a:prstGeom>
          <a:solidFill>
            <a:schemeClr val="bg2"/>
          </a:solidFill>
          <a:ln/>
        </p:spPr>
      </p:sp>
      <p:sp>
        <p:nvSpPr>
          <p:cNvPr id="9" name="Shape 6"/>
          <p:cNvSpPr/>
          <p:nvPr/>
        </p:nvSpPr>
        <p:spPr>
          <a:xfrm>
            <a:off x="5879592" y="2121408"/>
            <a:ext cx="384048" cy="384048"/>
          </a:xfrm>
          <a:prstGeom prst="ellipse">
            <a:avLst/>
          </a:prstGeom>
          <a:solidFill>
            <a:schemeClr val="accent2"/>
          </a:solidFill>
          <a:ln/>
        </p:spPr>
      </p:sp>
      <p:sp>
        <p:nvSpPr>
          <p:cNvPr id="10" name="Text 7"/>
          <p:cNvSpPr txBox="1"/>
          <p:nvPr/>
        </p:nvSpPr>
        <p:spPr>
          <a:xfrm>
            <a:off x="5879592"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8"/>
          <p:cNvSpPr txBox="1"/>
          <p:nvPr/>
        </p:nvSpPr>
        <p:spPr>
          <a:xfrm>
            <a:off x="6373368"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Reachability</a:t>
            </a:r>
            <a:endParaRPr lang="en-US" sz="1500" dirty="0"/>
          </a:p>
        </p:txBody>
      </p:sp>
      <p:sp>
        <p:nvSpPr>
          <p:cNvPr id="12" name="Text 9"/>
          <p:cNvSpPr txBox="1"/>
          <p:nvPr/>
        </p:nvSpPr>
        <p:spPr>
          <a:xfrm>
            <a:off x="5879592"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Devices online since 20 Oct; nothing blocks browser component updates, Remote Settings or Windows root auto-update.</a:t>
            </a:r>
            <a:endParaRPr lang="en-US" sz="1200" dirty="0"/>
          </a:p>
        </p:txBody>
      </p:sp>
      <p:sp>
        <p:nvSpPr>
          <p:cNvPr id="13" name="Card"/>
          <p:cNvSpPr/>
          <p:nvPr/>
        </p:nvSpPr>
        <p:spPr>
          <a:xfrm>
            <a:off x="8839048" y="1965960"/>
            <a:ext cx="2895448" cy="1417320"/>
          </a:xfrm>
          <a:prstGeom prst="rect">
            <a:avLst/>
          </a:prstGeom>
          <a:solidFill>
            <a:schemeClr val="bg2"/>
          </a:solidFill>
          <a:ln/>
        </p:spPr>
      </p:sp>
      <p:sp>
        <p:nvSpPr>
          <p:cNvPr id="14" name="Shape 11"/>
          <p:cNvSpPr/>
          <p:nvPr/>
        </p:nvSpPr>
        <p:spPr>
          <a:xfrm>
            <a:off x="9003640" y="2121408"/>
            <a:ext cx="384048" cy="384048"/>
          </a:xfrm>
          <a:prstGeom prst="ellipse">
            <a:avLst/>
          </a:prstGeom>
          <a:solidFill>
            <a:schemeClr val="accent2"/>
          </a:solidFill>
          <a:ln/>
        </p:spPr>
      </p:sp>
      <p:sp>
        <p:nvSpPr>
          <p:cNvPr id="15" name="Text 12"/>
          <p:cNvSpPr txBox="1"/>
          <p:nvPr/>
        </p:nvSpPr>
        <p:spPr>
          <a:xfrm>
            <a:off x="9003640"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3"/>
          <p:cNvSpPr txBox="1"/>
          <p:nvPr/>
        </p:nvSpPr>
        <p:spPr>
          <a:xfrm>
            <a:off x="9497416"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Currency</a:t>
            </a:r>
            <a:endParaRPr lang="en-US" sz="1500" dirty="0"/>
          </a:p>
        </p:txBody>
      </p:sp>
      <p:sp>
        <p:nvSpPr>
          <p:cNvPr id="17" name="Text 14"/>
          <p:cNvSpPr txBox="1"/>
          <p:nvPr/>
        </p:nvSpPr>
        <p:spPr>
          <a:xfrm>
            <a:off x="9003640"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Supported browser and OS versions; Android Play services current.</a:t>
            </a:r>
            <a:endParaRPr lang="en-US" sz="1200" dirty="0"/>
          </a:p>
        </p:txBody>
      </p:sp>
      <p:sp>
        <p:nvSpPr>
          <p:cNvPr id="18" name="Card"/>
          <p:cNvSpPr/>
          <p:nvPr/>
        </p:nvSpPr>
        <p:spPr>
          <a:xfrm>
            <a:off x="5715000" y="3566160"/>
            <a:ext cx="2895448" cy="1417320"/>
          </a:xfrm>
          <a:prstGeom prst="rect">
            <a:avLst/>
          </a:prstGeom>
          <a:solidFill>
            <a:schemeClr val="bg2"/>
          </a:solidFill>
          <a:ln/>
        </p:spPr>
      </p:sp>
      <p:sp>
        <p:nvSpPr>
          <p:cNvPr id="19" name="Shape 16"/>
          <p:cNvSpPr/>
          <p:nvPr/>
        </p:nvSpPr>
        <p:spPr>
          <a:xfrm>
            <a:off x="5879592" y="3721608"/>
            <a:ext cx="384048" cy="384048"/>
          </a:xfrm>
          <a:prstGeom prst="ellipse">
            <a:avLst/>
          </a:prstGeom>
          <a:solidFill>
            <a:schemeClr val="accent2"/>
          </a:solidFill>
          <a:ln/>
        </p:spPr>
      </p:sp>
      <p:sp>
        <p:nvSpPr>
          <p:cNvPr id="20" name="Text 17"/>
          <p:cNvSpPr txBox="1"/>
          <p:nvPr/>
        </p:nvSpPr>
        <p:spPr>
          <a:xfrm>
            <a:off x="5879592"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8"/>
          <p:cNvSpPr txBox="1"/>
          <p:nvPr/>
        </p:nvSpPr>
        <p:spPr>
          <a:xfrm>
            <a:off x="6373368"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No interception</a:t>
            </a:r>
            <a:endParaRPr lang="en-US" sz="1500" dirty="0"/>
          </a:p>
        </p:txBody>
      </p:sp>
      <p:sp>
        <p:nvSpPr>
          <p:cNvPr id="22" name="Text 19"/>
          <p:cNvSpPr txBox="1"/>
          <p:nvPr/>
        </p:nvSpPr>
        <p:spPr>
          <a:xfrm>
            <a:off x="5879592"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Traffic not decrypted by a TLS-inspection proxy, or the proxy has passed PB-09.</a:t>
            </a:r>
            <a:endParaRPr lang="en-US" sz="1200" dirty="0"/>
          </a:p>
        </p:txBody>
      </p:sp>
      <p:sp>
        <p:nvSpPr>
          <p:cNvPr id="23" name="Card"/>
          <p:cNvSpPr/>
          <p:nvPr/>
        </p:nvSpPr>
        <p:spPr>
          <a:xfrm>
            <a:off x="8839048" y="3566160"/>
            <a:ext cx="2895448" cy="1417320"/>
          </a:xfrm>
          <a:prstGeom prst="rect">
            <a:avLst/>
          </a:prstGeom>
          <a:solidFill>
            <a:schemeClr val="bg2"/>
          </a:solidFill>
          <a:ln/>
        </p:spPr>
      </p:sp>
      <p:sp>
        <p:nvSpPr>
          <p:cNvPr id="24" name="Shape 21"/>
          <p:cNvSpPr/>
          <p:nvPr/>
        </p:nvSpPr>
        <p:spPr>
          <a:xfrm>
            <a:off x="9003640" y="3721608"/>
            <a:ext cx="384048" cy="384048"/>
          </a:xfrm>
          <a:prstGeom prst="ellipse">
            <a:avLst/>
          </a:prstGeom>
          <a:solidFill>
            <a:schemeClr val="accent2"/>
          </a:solidFill>
          <a:ln/>
        </p:spPr>
      </p:sp>
      <p:sp>
        <p:nvSpPr>
          <p:cNvPr id="25" name="Text 22"/>
          <p:cNvSpPr txBox="1"/>
          <p:nvPr/>
        </p:nvSpPr>
        <p:spPr>
          <a:xfrm>
            <a:off x="9003640"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3"/>
          <p:cNvSpPr txBox="1"/>
          <p:nvPr/>
        </p:nvSpPr>
        <p:spPr>
          <a:xfrm>
            <a:off x="9497416"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Image hygiene</a:t>
            </a:r>
            <a:endParaRPr lang="en-US" sz="1500" dirty="0"/>
          </a:p>
        </p:txBody>
      </p:sp>
      <p:sp>
        <p:nvSpPr>
          <p:cNvPr id="27" name="Text 24"/>
          <p:cNvSpPr txBox="1"/>
          <p:nvPr/>
        </p:nvSpPr>
        <p:spPr>
          <a:xfrm>
            <a:off x="9003640"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VDI golden images, kiosks and long-offline devices refreshed or checked.</a:t>
            </a:r>
            <a:endParaRPr lang="en-US" sz="1200" dirty="0"/>
          </a:p>
        </p:txBody>
      </p:sp>
      <p:sp>
        <p:nvSpPr>
          <p:cNvPr id="28" name="Not covered band"/>
          <p:cNvSpPr/>
          <p:nvPr/>
        </p:nvSpPr>
        <p:spPr>
          <a:xfrm>
            <a:off x="457200" y="5120640"/>
            <a:ext cx="11277295" cy="960120"/>
          </a:xfrm>
          <a:prstGeom prst="rect">
            <a:avLst/>
          </a:prstGeom>
          <a:solidFill>
            <a:schemeClr val="accent6"/>
          </a:solidFill>
          <a:ln/>
        </p:spPr>
      </p:sp>
      <p:sp>
        <p:nvSpPr>
          <p:cNvPr id="29" name="Text 26"/>
          <p:cNvSpPr txBox="1"/>
          <p:nvPr/>
        </p:nvSpPr>
        <p:spPr>
          <a:xfrm>
            <a:off x="731520" y="5138928"/>
            <a:ext cx="10728655" cy="914400"/>
          </a:xfrm>
          <a:prstGeom prst="rect">
            <a:avLst/>
          </a:prstGeom>
          <a:noFill/>
          <a:ln/>
        </p:spPr>
        <p:txBody>
          <a:bodyPr wrap="square" lIns="0" tIns="0" rIns="0" bIns="0" rtlCol="0" anchor="ctr"/>
          <a:lstStyle/>
          <a:p>
            <a:pPr indent="0" marL="0">
              <a:buNone/>
            </a:pPr>
            <a:r>
              <a:rPr lang="en-US" sz="1400" b="1" dirty="0">
                <a:solidFill>
                  <a:schemeClr val="accent1"/>
                </a:solidFill>
              </a:rPr>
              <a:t>Not covered by the proviso: </a:t>
            </a:r>
            <a:pPr indent="0" marL="0">
              <a:buNone/>
            </a:pPr>
            <a:r>
              <a:rPr lang="en-US" sz="1400" dirty="0">
                <a:solidFill>
                  <a:schemeClr val="tx1"/>
                </a:solidFill>
              </a:rPr>
              <a:t>other software on the same desktop. That includes CLI tools (macOS's built-in curl still accepted the chain after Apple's block), Java, Python, Node and Go apps, Electron apps, VPN/ZTNA and management agents, and developer toolchains. These belong to the long tail.</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THE LONG TAIL</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long tail is where the remaining work and risk sit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Phase 1 confirms vendor coverage. Phase 2 finds, fixes or contains everything that keeps its own trust list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Discovery uses egress telemetry we already hold. No CBOM, new scanner or full certificate inventory is required (pack principle retained).</a:t>
            </a:r>
            <a:endParaRPr lang="en-US" sz="1000" dirty="0"/>
          </a:p>
        </p:txBody>
      </p:sp>
      <p:sp>
        <p:nvSpPr>
          <p:cNvPr id="7" name="Phase 1"/>
          <p:cNvSpPr/>
          <p:nvPr/>
        </p:nvSpPr>
        <p:spPr>
          <a:xfrm>
            <a:off x="457200" y="1920240"/>
            <a:ext cx="3291840" cy="502920"/>
          </a:xfrm>
          <a:prstGeom prst="rect">
            <a:avLst/>
          </a:prstGeom>
          <a:solidFill>
            <a:schemeClr val="accent3"/>
          </a:solidFill>
          <a:ln/>
        </p:spPr>
      </p:sp>
      <p:sp>
        <p:nvSpPr>
          <p:cNvPr id="8" name="Text 6"/>
          <p:cNvSpPr txBox="1"/>
          <p:nvPr/>
        </p:nvSpPr>
        <p:spPr>
          <a:xfrm>
            <a:off x="59436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1 · Vendor-protected: confirm coverage</a:t>
            </a:r>
            <a:endParaRPr lang="en-US" sz="1300" dirty="0"/>
          </a:p>
        </p:txBody>
      </p:sp>
      <p:sp>
        <p:nvSpPr>
          <p:cNvPr id="9" name="Phase 2"/>
          <p:cNvSpPr/>
          <p:nvPr/>
        </p:nvSpPr>
        <p:spPr>
          <a:xfrm>
            <a:off x="3931920" y="1920240"/>
            <a:ext cx="3291840" cy="502920"/>
          </a:xfrm>
          <a:prstGeom prst="rect">
            <a:avLst/>
          </a:prstGeom>
          <a:solidFill>
            <a:schemeClr val="accent1"/>
          </a:solidFill>
          <a:ln/>
        </p:spPr>
      </p:sp>
      <p:sp>
        <p:nvSpPr>
          <p:cNvPr id="10" name="Text 8"/>
          <p:cNvSpPr txBox="1"/>
          <p:nvPr/>
        </p:nvSpPr>
        <p:spPr>
          <a:xfrm>
            <a:off x="406908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2 · Long tail: find, fix or contain, prove</a:t>
            </a:r>
            <a:endParaRPr lang="en-US" sz="1300" dirty="0"/>
          </a:p>
        </p:txBody>
      </p:sp>
      <p:sp>
        <p:nvSpPr>
          <p:cNvPr id="11" name="Card"/>
          <p:cNvSpPr/>
          <p:nvPr/>
        </p:nvSpPr>
        <p:spPr>
          <a:xfrm>
            <a:off x="457200" y="2606040"/>
            <a:ext cx="3291840" cy="548640"/>
          </a:xfrm>
          <a:prstGeom prst="rect">
            <a:avLst/>
          </a:prstGeom>
          <a:solidFill>
            <a:schemeClr val="bg2"/>
          </a:solidFill>
          <a:ln/>
        </p:spPr>
      </p:sp>
      <p:sp>
        <p:nvSpPr>
          <p:cNvPr id="12" name="Text 10"/>
          <p:cNvSpPr txBox="1"/>
          <p:nvPr/>
        </p:nvSpPr>
        <p:spPr>
          <a:xfrm>
            <a:off x="64008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Server-side API clients</a:t>
            </a:r>
            <a:endParaRPr lang="en-US" sz="1400" dirty="0"/>
          </a:p>
        </p:txBody>
      </p:sp>
      <p:sp>
        <p:nvSpPr>
          <p:cNvPr id="13" name="Card"/>
          <p:cNvSpPr/>
          <p:nvPr/>
        </p:nvSpPr>
        <p:spPr>
          <a:xfrm>
            <a:off x="3931920" y="2606040"/>
            <a:ext cx="3291840" cy="548640"/>
          </a:xfrm>
          <a:prstGeom prst="rect">
            <a:avLst/>
          </a:prstGeom>
          <a:solidFill>
            <a:schemeClr val="bg2"/>
          </a:solidFill>
          <a:ln/>
        </p:spPr>
      </p:sp>
      <p:sp>
        <p:nvSpPr>
          <p:cNvPr id="14" name="Text 12"/>
          <p:cNvSpPr txBox="1"/>
          <p:nvPr/>
        </p:nvSpPr>
        <p:spPr>
          <a:xfrm>
            <a:off x="411480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Runtimes with own bundles</a:t>
            </a:r>
            <a:endParaRPr lang="en-US" sz="1400" dirty="0"/>
          </a:p>
        </p:txBody>
      </p:sp>
      <p:sp>
        <p:nvSpPr>
          <p:cNvPr id="15" name="Card"/>
          <p:cNvSpPr/>
          <p:nvPr/>
        </p:nvSpPr>
        <p:spPr>
          <a:xfrm>
            <a:off x="457200" y="3273552"/>
            <a:ext cx="3291840" cy="548640"/>
          </a:xfrm>
          <a:prstGeom prst="rect">
            <a:avLst/>
          </a:prstGeom>
          <a:solidFill>
            <a:schemeClr val="bg2"/>
          </a:solidFill>
          <a:ln/>
        </p:spPr>
      </p:sp>
      <p:sp>
        <p:nvSpPr>
          <p:cNvPr id="16" name="Text 14"/>
          <p:cNvSpPr txBox="1"/>
          <p:nvPr/>
        </p:nvSpPr>
        <p:spPr>
          <a:xfrm>
            <a:off x="64008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Containers and serverless</a:t>
            </a:r>
            <a:endParaRPr lang="en-US" sz="1400" dirty="0"/>
          </a:p>
        </p:txBody>
      </p:sp>
      <p:sp>
        <p:nvSpPr>
          <p:cNvPr id="17" name="Card"/>
          <p:cNvSpPr/>
          <p:nvPr/>
        </p:nvSpPr>
        <p:spPr>
          <a:xfrm>
            <a:off x="3931920" y="3273552"/>
            <a:ext cx="3291840" cy="548640"/>
          </a:xfrm>
          <a:prstGeom prst="rect">
            <a:avLst/>
          </a:prstGeom>
          <a:solidFill>
            <a:schemeClr val="bg2"/>
          </a:solidFill>
          <a:ln/>
        </p:spPr>
      </p:sp>
      <p:sp>
        <p:nvSpPr>
          <p:cNvPr id="18" name="Text 16"/>
          <p:cNvSpPr txBox="1"/>
          <p:nvPr/>
        </p:nvSpPr>
        <p:spPr>
          <a:xfrm>
            <a:off x="411480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CI/CD and artifact proxies</a:t>
            </a:r>
            <a:endParaRPr lang="en-US" sz="1400" dirty="0"/>
          </a:p>
        </p:txBody>
      </p:sp>
      <p:sp>
        <p:nvSpPr>
          <p:cNvPr id="19" name="Card"/>
          <p:cNvSpPr/>
          <p:nvPr/>
        </p:nvSpPr>
        <p:spPr>
          <a:xfrm>
            <a:off x="457200" y="3941064"/>
            <a:ext cx="3291840" cy="548640"/>
          </a:xfrm>
          <a:prstGeom prst="rect">
            <a:avLst/>
          </a:prstGeom>
          <a:solidFill>
            <a:schemeClr val="bg2"/>
          </a:solidFill>
          <a:ln/>
        </p:spPr>
      </p:sp>
      <p:sp>
        <p:nvSpPr>
          <p:cNvPr id="20" name="Text 18"/>
          <p:cNvSpPr txBox="1"/>
          <p:nvPr/>
        </p:nvSpPr>
        <p:spPr>
          <a:xfrm>
            <a:off x="64008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Desktop non-browser software</a:t>
            </a:r>
            <a:endParaRPr lang="en-US" sz="1400" dirty="0"/>
          </a:p>
        </p:txBody>
      </p:sp>
      <p:sp>
        <p:nvSpPr>
          <p:cNvPr id="21" name="Card"/>
          <p:cNvSpPr/>
          <p:nvPr/>
        </p:nvSpPr>
        <p:spPr>
          <a:xfrm>
            <a:off x="3931920" y="3941064"/>
            <a:ext cx="3291840" cy="548640"/>
          </a:xfrm>
          <a:prstGeom prst="rect">
            <a:avLst/>
          </a:prstGeom>
          <a:solidFill>
            <a:schemeClr val="bg2"/>
          </a:solidFill>
          <a:ln/>
        </p:spPr>
      </p:sp>
      <p:sp>
        <p:nvSpPr>
          <p:cNvPr id="22" name="Text 20"/>
          <p:cNvSpPr txBox="1"/>
          <p:nvPr/>
        </p:nvSpPr>
        <p:spPr>
          <a:xfrm>
            <a:off x="411480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Network and security appliances</a:t>
            </a:r>
            <a:endParaRPr lang="en-US" sz="1400" dirty="0"/>
          </a:p>
        </p:txBody>
      </p:sp>
      <p:sp>
        <p:nvSpPr>
          <p:cNvPr id="23" name="Card"/>
          <p:cNvSpPr/>
          <p:nvPr/>
        </p:nvSpPr>
        <p:spPr>
          <a:xfrm>
            <a:off x="457200" y="4608576"/>
            <a:ext cx="3291840" cy="548640"/>
          </a:xfrm>
          <a:prstGeom prst="rect">
            <a:avLst/>
          </a:prstGeom>
          <a:solidFill>
            <a:schemeClr val="bg2"/>
          </a:solidFill>
          <a:ln/>
        </p:spPr>
      </p:sp>
      <p:sp>
        <p:nvSpPr>
          <p:cNvPr id="24" name="Text 22"/>
          <p:cNvSpPr txBox="1"/>
          <p:nvPr/>
        </p:nvSpPr>
        <p:spPr>
          <a:xfrm>
            <a:off x="64008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VPN, ZTNA and agents</a:t>
            </a:r>
            <a:endParaRPr lang="en-US" sz="1400" dirty="0"/>
          </a:p>
        </p:txBody>
      </p:sp>
      <p:sp>
        <p:nvSpPr>
          <p:cNvPr id="25" name="Card"/>
          <p:cNvSpPr/>
          <p:nvPr/>
        </p:nvSpPr>
        <p:spPr>
          <a:xfrm>
            <a:off x="3931920" y="4608576"/>
            <a:ext cx="3291840" cy="548640"/>
          </a:xfrm>
          <a:prstGeom prst="rect">
            <a:avLst/>
          </a:prstGeom>
          <a:solidFill>
            <a:schemeClr val="bg2"/>
          </a:solidFill>
          <a:ln/>
        </p:spPr>
      </p:sp>
      <p:sp>
        <p:nvSpPr>
          <p:cNvPr id="26" name="Text 24"/>
          <p:cNvSpPr txBox="1"/>
          <p:nvPr/>
        </p:nvSpPr>
        <p:spPr>
          <a:xfrm>
            <a:off x="411480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OT, IoT and facilities</a:t>
            </a:r>
            <a:endParaRPr lang="en-US" sz="1400" dirty="0"/>
          </a:p>
        </p:txBody>
      </p:sp>
      <p:sp>
        <p:nvSpPr>
          <p:cNvPr id="27" name="Card"/>
          <p:cNvSpPr/>
          <p:nvPr/>
        </p:nvSpPr>
        <p:spPr>
          <a:xfrm>
            <a:off x="457200" y="5276088"/>
            <a:ext cx="3291840" cy="548640"/>
          </a:xfrm>
          <a:prstGeom prst="rect">
            <a:avLst/>
          </a:prstGeom>
          <a:solidFill>
            <a:schemeClr val="bg2"/>
          </a:solidFill>
          <a:ln/>
        </p:spPr>
      </p:sp>
      <p:sp>
        <p:nvSpPr>
          <p:cNvPr id="28" name="Text 26"/>
          <p:cNvSpPr txBox="1"/>
          <p:nvPr/>
        </p:nvSpPr>
        <p:spPr>
          <a:xfrm>
            <a:off x="64008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In-house mobile apps</a:t>
            </a:r>
            <a:endParaRPr lang="en-US" sz="1400" dirty="0"/>
          </a:p>
        </p:txBody>
      </p:sp>
      <p:sp>
        <p:nvSpPr>
          <p:cNvPr id="29" name="Card"/>
          <p:cNvSpPr/>
          <p:nvPr/>
        </p:nvSpPr>
        <p:spPr>
          <a:xfrm>
            <a:off x="3931920" y="5276088"/>
            <a:ext cx="3291840" cy="548640"/>
          </a:xfrm>
          <a:prstGeom prst="rect">
            <a:avLst/>
          </a:prstGeom>
          <a:solidFill>
            <a:schemeClr val="bg2"/>
          </a:solidFill>
          <a:ln/>
        </p:spPr>
      </p:sp>
      <p:sp>
        <p:nvSpPr>
          <p:cNvPr id="30" name="Text 28"/>
          <p:cNvSpPr txBox="1"/>
          <p:nvPr/>
        </p:nvSpPr>
        <p:spPr>
          <a:xfrm>
            <a:off x="411480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Suppliers, SaaS and inbound mTLS</a:t>
            </a:r>
            <a:endParaRPr lang="en-US" sz="1400" dirty="0"/>
          </a:p>
        </p:txBody>
      </p:sp>
      <p:sp>
        <p:nvSpPr>
          <p:cNvPr id="31" name="Discovery panel"/>
          <p:cNvSpPr/>
          <p:nvPr/>
        </p:nvSpPr>
        <p:spPr>
          <a:xfrm>
            <a:off x="7543800" y="1920240"/>
            <a:ext cx="4190695" cy="4114800"/>
          </a:xfrm>
          <a:prstGeom prst="rect">
            <a:avLst/>
          </a:prstGeom>
          <a:solidFill>
            <a:schemeClr val="tx1"/>
          </a:solidFill>
          <a:ln/>
        </p:spPr>
      </p:sp>
      <p:sp>
        <p:nvSpPr>
          <p:cNvPr id="32" name="Text 30"/>
          <p:cNvSpPr txBox="1"/>
          <p:nvPr/>
        </p:nvSpPr>
        <p:spPr>
          <a:xfrm>
            <a:off x="7818120" y="2057400"/>
            <a:ext cx="3642055"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Find it without a CBOM</a:t>
            </a:r>
            <a:endParaRPr lang="en-US" sz="1800" dirty="0"/>
          </a:p>
        </p:txBody>
      </p:sp>
      <p:sp>
        <p:nvSpPr>
          <p:cNvPr id="33" name="Text 31"/>
          <p:cNvSpPr txBox="1"/>
          <p:nvPr/>
        </p:nvSpPr>
        <p:spPr>
          <a:xfrm>
            <a:off x="7818120" y="2606040"/>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1</a:t>
            </a:r>
            <a:endParaRPr lang="en-US" sz="1800" dirty="0"/>
          </a:p>
        </p:txBody>
      </p:sp>
      <p:sp>
        <p:nvSpPr>
          <p:cNvPr id="34" name="Text 32"/>
          <p:cNvSpPr txBox="1"/>
          <p:nvPr/>
        </p:nvSpPr>
        <p:spPr>
          <a:xfrm>
            <a:off x="8229600" y="2606040"/>
            <a:ext cx="3276295" cy="777240"/>
          </a:xfrm>
          <a:prstGeom prst="rect">
            <a:avLst/>
          </a:prstGeom>
          <a:noFill/>
          <a:ln/>
        </p:spPr>
        <p:txBody>
          <a:bodyPr wrap="square" lIns="0" tIns="0" rIns="0" bIns="0" rtlCol="0" anchor="t"/>
          <a:lstStyle/>
          <a:p>
            <a:pPr indent="0" marL="0">
              <a:buNone/>
            </a:pPr>
            <a:r>
              <a:rPr lang="en-US" sz="1400" b="1" dirty="0">
                <a:solidFill>
                  <a:schemeClr val="bg1"/>
                </a:solidFill>
              </a:rPr>
              <a:t>Egress telemetry</a:t>
            </a:r>
            <a:endParaRPr lang="en-US" sz="1400" dirty="0"/>
          </a:p>
          <a:p>
            <a:pPr indent="0" marL="0">
              <a:buNone/>
            </a:pPr>
            <a:r>
              <a:rPr lang="en-US" sz="1200" dirty="0">
                <a:solidFill>
                  <a:srgbClr val="CADCFC"/>
                </a:solidFill>
              </a:rPr>
              <a:t>30 days of outbound TLS from proxy, firewall, NAT and cloud egress logs, by source.</a:t>
            </a:r>
            <a:endParaRPr lang="en-US" sz="1400" dirty="0"/>
          </a:p>
        </p:txBody>
      </p:sp>
      <p:sp>
        <p:nvSpPr>
          <p:cNvPr id="35" name="Text 33"/>
          <p:cNvSpPr txBox="1"/>
          <p:nvPr/>
        </p:nvSpPr>
        <p:spPr>
          <a:xfrm>
            <a:off x="7818120" y="3447288"/>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2</a:t>
            </a:r>
            <a:endParaRPr lang="en-US" sz="1800" dirty="0"/>
          </a:p>
        </p:txBody>
      </p:sp>
      <p:sp>
        <p:nvSpPr>
          <p:cNvPr id="36" name="Text 34"/>
          <p:cNvSpPr txBox="1"/>
          <p:nvPr/>
        </p:nvSpPr>
        <p:spPr>
          <a:xfrm>
            <a:off x="8229600" y="3447288"/>
            <a:ext cx="3276295" cy="777240"/>
          </a:xfrm>
          <a:prstGeom prst="rect">
            <a:avLst/>
          </a:prstGeom>
          <a:noFill/>
          <a:ln/>
        </p:spPr>
        <p:txBody>
          <a:bodyPr wrap="square" lIns="0" tIns="0" rIns="0" bIns="0" rtlCol="0" anchor="t"/>
          <a:lstStyle/>
          <a:p>
            <a:pPr indent="0" marL="0">
              <a:buNone/>
            </a:pPr>
            <a:r>
              <a:rPr lang="en-US" sz="1400" b="1" dirty="0">
                <a:solidFill>
                  <a:schemeClr val="bg1"/>
                </a:solidFill>
              </a:rPr>
              <a:t>Map to owners</a:t>
            </a:r>
            <a:endParaRPr lang="en-US" sz="1400" dirty="0"/>
          </a:p>
          <a:p>
            <a:pPr indent="0" marL="0">
              <a:buNone/>
            </a:pPr>
            <a:r>
              <a:rPr lang="en-US" sz="1200" dirty="0">
                <a:solidFill>
                  <a:srgbClr val="CADCFC"/>
                </a:solidFill>
              </a:rPr>
              <a:t>Each source becomes a long-tail record (workbook sheet).</a:t>
            </a:r>
            <a:endParaRPr lang="en-US" sz="1400" dirty="0"/>
          </a:p>
        </p:txBody>
      </p:sp>
      <p:sp>
        <p:nvSpPr>
          <p:cNvPr id="37" name="Text 35"/>
          <p:cNvSpPr txBox="1"/>
          <p:nvPr/>
        </p:nvSpPr>
        <p:spPr>
          <a:xfrm>
            <a:off x="7818120" y="4288536"/>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3</a:t>
            </a:r>
            <a:endParaRPr lang="en-US" sz="1800" dirty="0"/>
          </a:p>
        </p:txBody>
      </p:sp>
      <p:sp>
        <p:nvSpPr>
          <p:cNvPr id="38" name="Text 36"/>
          <p:cNvSpPr txBox="1"/>
          <p:nvPr/>
        </p:nvSpPr>
        <p:spPr>
          <a:xfrm>
            <a:off x="8229600" y="4288536"/>
            <a:ext cx="3276295" cy="777240"/>
          </a:xfrm>
          <a:prstGeom prst="rect">
            <a:avLst/>
          </a:prstGeom>
          <a:noFill/>
          <a:ln/>
        </p:spPr>
        <p:txBody>
          <a:bodyPr wrap="square" lIns="0" tIns="0" rIns="0" bIns="0" rtlCol="0" anchor="t"/>
          <a:lstStyle/>
          <a:p>
            <a:pPr indent="0" marL="0">
              <a:buNone/>
            </a:pPr>
            <a:r>
              <a:rPr lang="en-US" sz="1400" b="1" dirty="0">
                <a:solidFill>
                  <a:schemeClr val="bg1"/>
                </a:solidFill>
              </a:rPr>
              <a:t>Direct-to-internet = finding</a:t>
            </a:r>
            <a:endParaRPr lang="en-US" sz="1400" dirty="0"/>
          </a:p>
          <a:p>
            <a:pPr indent="0" marL="0">
              <a:buNone/>
            </a:pPr>
            <a:r>
              <a:rPr lang="en-US" sz="1200" dirty="0">
                <a:solidFill>
                  <a:srgbClr val="CADCFC"/>
                </a:solidFill>
              </a:rPr>
              <a:t>TLS that bypasses the proxy has no shared control.</a:t>
            </a:r>
            <a:endParaRPr lang="en-US" sz="1400" dirty="0"/>
          </a:p>
        </p:txBody>
      </p:sp>
      <p:sp>
        <p:nvSpPr>
          <p:cNvPr id="39" name="Text 37"/>
          <p:cNvSpPr txBox="1"/>
          <p:nvPr/>
        </p:nvSpPr>
        <p:spPr>
          <a:xfrm>
            <a:off x="7818120" y="5129784"/>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4</a:t>
            </a:r>
            <a:endParaRPr lang="en-US" sz="1800" dirty="0"/>
          </a:p>
        </p:txBody>
      </p:sp>
      <p:sp>
        <p:nvSpPr>
          <p:cNvPr id="40" name="Text 38"/>
          <p:cNvSpPr txBox="1"/>
          <p:nvPr/>
        </p:nvSpPr>
        <p:spPr>
          <a:xfrm>
            <a:off x="8229600" y="5129784"/>
            <a:ext cx="3276295" cy="777240"/>
          </a:xfrm>
          <a:prstGeom prst="rect">
            <a:avLst/>
          </a:prstGeom>
          <a:noFill/>
          <a:ln/>
        </p:spPr>
        <p:txBody>
          <a:bodyPr wrap="square" lIns="0" tIns="0" rIns="0" bIns="0" rtlCol="0" anchor="t"/>
          <a:lstStyle/>
          <a:p>
            <a:pPr indent="0" marL="0">
              <a:buNone/>
            </a:pPr>
            <a:r>
              <a:rPr lang="en-US" sz="1400" b="1" dirty="0">
                <a:solidFill>
                  <a:schemeClr val="bg1"/>
                </a:solidFill>
              </a:rPr>
              <a:t>Add inventories</a:t>
            </a:r>
            <a:endParaRPr lang="en-US" sz="1400" dirty="0"/>
          </a:p>
          <a:p>
            <a:pPr indent="0" marL="0">
              <a:buNone/>
            </a:pPr>
            <a:r>
              <a:rPr lang="en-US" sz="1200" dirty="0">
                <a:solidFill>
                  <a:srgbClr val="CADCFC"/>
                </a:solidFill>
              </a:rPr>
              <a:t>Software inventory, container registry, supplier register.</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ill"/>
          <p:cNvSpPr/>
          <p:nvPr/>
        </p:nvSpPr>
        <p:spPr>
          <a:xfrm>
            <a:off x="457200" y="292608"/>
            <a:ext cx="1271016" cy="256032"/>
          </a:xfrm>
          <a:prstGeom prst="roundRect">
            <a:avLst>
              <a:gd name="adj" fmla="val 50000"/>
            </a:avLst>
          </a:prstGeom>
          <a:solidFill>
            <a:schemeClr val="bg2"/>
          </a:solidFill>
          <a:ln/>
        </p:spPr>
      </p:sp>
      <p:sp>
        <p:nvSpPr>
          <p:cNvPr id="3" name="Eyebrow"/>
          <p:cNvSpPr txBox="1"/>
          <p:nvPr/>
        </p:nvSpPr>
        <p:spPr>
          <a:xfrm>
            <a:off x="457200" y="292608"/>
            <a:ext cx="127101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PRIORITISATION</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Priority combines business impact with how exposed the verifier still is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This keeps the pack's tiers as the impact axis and adds a second axis for the verifier (decision D-01)</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Impact: H = pack Tier 1 (credentials, sensitive data, privileged action, many downstream systems); M = Tier 2/3; L = Tier 4. Windows are indicative pending D-03.</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7040880" cy="914400"/>
        </p:xfrm>
        <a:graphic>
          <a:graphicData uri="http://schemas.openxmlformats.org/drawingml/2006/table">
            <a:tbl>
              <a:tblPr/>
              <a:tblGrid>
                <a:gridCol w="822960"/>
                <a:gridCol w="1243584"/>
                <a:gridCol w="1243584"/>
                <a:gridCol w="1243584"/>
                <a:gridCol w="1243584"/>
                <a:gridCol w="1243584"/>
              </a:tblGrid>
              <a:tr h="566928">
                <a:tc>
                  <a:txBody>
                    <a:bodyPr/>
                    <a:lstStyle/>
                    <a:p>
                      <a:pPr algn="ctr" indent="0" marL="0">
                        <a:buNone/>
                      </a:pPr>
                      <a:r>
                        <a:rPr lang="en-US" sz="1200" b="1" dirty="0">
                          <a:solidFill>
                            <a:schemeClr val="bg1"/>
                          </a:solidFill>
                        </a:rPr>
                        <a:t>Impact</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A  Vendor-protected</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B  OS store, confirm</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C  Own bundle</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D  Embedded / vendor</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Unknown</a:t>
                      </a:r>
                      <a:endParaRPr lang="en-US" sz="12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r>
              <a:tr h="822960">
                <a:tc>
                  <a:txBody>
                    <a:bodyPr/>
                    <a:lstStyle/>
                    <a:p>
                      <a:pPr algn="ctr" indent="0" marL="0">
                        <a:buNone/>
                      </a:pPr>
                      <a:r>
                        <a:rPr lang="en-US" sz="1600" b="1" dirty="0">
                          <a:solidFill>
                            <a:schemeClr val="tx1"/>
                          </a:solidFill>
                        </a:rPr>
                        <a:t>H</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r>
              <a:tr h="822960">
                <a:tc>
                  <a:txBody>
                    <a:bodyPr/>
                    <a:lstStyle/>
                    <a:p>
                      <a:pPr algn="ctr" indent="0" marL="0">
                        <a:buNone/>
                      </a:pPr>
                      <a:r>
                        <a:rPr lang="en-US" sz="1600" b="1" dirty="0">
                          <a:solidFill>
                            <a:schemeClr val="tx1"/>
                          </a:solidFill>
                        </a:rPr>
                        <a:t>M</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r>
              <a:tr h="822960">
                <a:tc>
                  <a:txBody>
                    <a:bodyPr/>
                    <a:lstStyle/>
                    <a:p>
                      <a:pPr algn="ctr" indent="0" marL="0">
                        <a:buNone/>
                      </a:pPr>
                      <a:r>
                        <a:rPr lang="en-US" sz="1600" b="1" dirty="0">
                          <a:solidFill>
                            <a:schemeClr val="tx1"/>
                          </a:solidFill>
                        </a:rPr>
                        <a:t>L</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 assess</a:t>
                      </a:r>
                      <a:endParaRPr lang="en-US" sz="1600" dirty="0"/>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r>
            </a:tbl>
          </a:graphicData>
        </a:graphic>
      </p:graphicFrame>
      <p:sp>
        <p:nvSpPr>
          <p:cNvPr id="8" name="Text 5"/>
          <p:cNvSpPr txBox="1"/>
          <p:nvPr/>
        </p:nvSpPr>
        <p:spPr>
          <a:xfrm>
            <a:off x="457200" y="5166360"/>
            <a:ext cx="7040880" cy="640080"/>
          </a:xfrm>
          <a:prstGeom prst="rect">
            <a:avLst/>
          </a:prstGeom>
          <a:noFill/>
          <a:ln/>
        </p:spPr>
        <p:txBody>
          <a:bodyPr wrap="square" lIns="0" tIns="0" rIns="0" bIns="0" rtlCol="0" anchor="ctr"/>
          <a:lstStyle/>
          <a:p>
            <a:pPr indent="0" marL="0">
              <a:buNone/>
            </a:pPr>
            <a:r>
              <a:rPr lang="en-US" sz="1400" i="1" dirty="0">
                <a:solidFill>
                  <a:schemeClr val="tx2"/>
                </a:solidFill>
              </a:rPr>
              <a:t>Unknown is not low: a high-impact system we haven't assessed yet is scheduled at P1.</a:t>
            </a:r>
            <a:endParaRPr lang="en-US" sz="1400" dirty="0"/>
          </a:p>
        </p:txBody>
      </p:sp>
      <p:sp>
        <p:nvSpPr>
          <p:cNvPr id="9" name="Text 6"/>
          <p:cNvSpPr txBox="1"/>
          <p:nvPr/>
        </p:nvSpPr>
        <p:spPr>
          <a:xfrm>
            <a:off x="7955280" y="2011680"/>
            <a:ext cx="3779215"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Indicative windows (D-03)</a:t>
            </a:r>
            <a:endParaRPr lang="en-US" sz="1700" dirty="0"/>
          </a:p>
        </p:txBody>
      </p:sp>
      <p:sp>
        <p:nvSpPr>
          <p:cNvPr id="10" name="Shape 7"/>
          <p:cNvSpPr/>
          <p:nvPr/>
        </p:nvSpPr>
        <p:spPr>
          <a:xfrm>
            <a:off x="7955280" y="2514600"/>
            <a:ext cx="777240" cy="548640"/>
          </a:xfrm>
          <a:prstGeom prst="roundRect">
            <a:avLst>
              <a:gd name="adj" fmla="val 13333"/>
            </a:avLst>
          </a:prstGeom>
          <a:solidFill>
            <a:schemeClr val="accent1"/>
          </a:solidFill>
          <a:ln/>
        </p:spPr>
      </p:sp>
      <p:sp>
        <p:nvSpPr>
          <p:cNvPr id="11" name="Text 8"/>
          <p:cNvSpPr txBox="1"/>
          <p:nvPr/>
        </p:nvSpPr>
        <p:spPr>
          <a:xfrm>
            <a:off x="7955280" y="2514600"/>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P1</a:t>
            </a:r>
            <a:endParaRPr lang="en-US" sz="1600" dirty="0"/>
          </a:p>
        </p:txBody>
      </p:sp>
      <p:sp>
        <p:nvSpPr>
          <p:cNvPr id="12" name="Text 9"/>
          <p:cNvSpPr txBox="1"/>
          <p:nvPr/>
        </p:nvSpPr>
        <p:spPr>
          <a:xfrm>
            <a:off x="8869680" y="2514600"/>
            <a:ext cx="2864815" cy="548640"/>
          </a:xfrm>
          <a:prstGeom prst="rect">
            <a:avLst/>
          </a:prstGeom>
          <a:noFill/>
          <a:ln/>
        </p:spPr>
        <p:txBody>
          <a:bodyPr wrap="square" lIns="0" tIns="0" rIns="0" bIns="0" rtlCol="0" anchor="ctr"/>
          <a:lstStyle/>
          <a:p>
            <a:pPr indent="0" marL="0">
              <a:buNone/>
            </a:pPr>
            <a:r>
              <a:rPr lang="en-US" sz="1400" dirty="0">
                <a:solidFill>
                  <a:schemeClr val="tx1"/>
                </a:solidFill>
              </a:rPr>
              <a:t>Contain in 72 h, close in 7 days</a:t>
            </a:r>
            <a:endParaRPr lang="en-US" sz="1400" dirty="0"/>
          </a:p>
        </p:txBody>
      </p:sp>
      <p:sp>
        <p:nvSpPr>
          <p:cNvPr id="13" name="Shape 10"/>
          <p:cNvSpPr/>
          <p:nvPr/>
        </p:nvSpPr>
        <p:spPr>
          <a:xfrm>
            <a:off x="7955280" y="3264408"/>
            <a:ext cx="777240" cy="548640"/>
          </a:xfrm>
          <a:prstGeom prst="roundRect">
            <a:avLst>
              <a:gd name="adj" fmla="val 13333"/>
            </a:avLst>
          </a:prstGeom>
          <a:solidFill>
            <a:schemeClr val="accent4"/>
          </a:solidFill>
          <a:ln/>
        </p:spPr>
      </p:sp>
      <p:sp>
        <p:nvSpPr>
          <p:cNvPr id="14" name="Text 11"/>
          <p:cNvSpPr txBox="1"/>
          <p:nvPr/>
        </p:nvSpPr>
        <p:spPr>
          <a:xfrm>
            <a:off x="7955280" y="3264408"/>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P2</a:t>
            </a:r>
            <a:endParaRPr lang="en-US" sz="1600" dirty="0"/>
          </a:p>
        </p:txBody>
      </p:sp>
      <p:sp>
        <p:nvSpPr>
          <p:cNvPr id="15" name="Text 12"/>
          <p:cNvSpPr txBox="1"/>
          <p:nvPr/>
        </p:nvSpPr>
        <p:spPr>
          <a:xfrm>
            <a:off x="8869680" y="3264408"/>
            <a:ext cx="2864815" cy="548640"/>
          </a:xfrm>
          <a:prstGeom prst="rect">
            <a:avLst/>
          </a:prstGeom>
          <a:noFill/>
          <a:ln/>
        </p:spPr>
        <p:txBody>
          <a:bodyPr wrap="square" lIns="0" tIns="0" rIns="0" bIns="0" rtlCol="0" anchor="ctr"/>
          <a:lstStyle/>
          <a:p>
            <a:pPr indent="0" marL="0">
              <a:buNone/>
            </a:pPr>
            <a:r>
              <a:rPr lang="en-US" sz="1400" dirty="0">
                <a:solidFill>
                  <a:schemeClr val="tx1"/>
                </a:solidFill>
              </a:rPr>
              <a:t>Close in 14 days</a:t>
            </a:r>
            <a:endParaRPr lang="en-US" sz="1400" dirty="0"/>
          </a:p>
        </p:txBody>
      </p:sp>
      <p:sp>
        <p:nvSpPr>
          <p:cNvPr id="16" name="Shape 13"/>
          <p:cNvSpPr/>
          <p:nvPr/>
        </p:nvSpPr>
        <p:spPr>
          <a:xfrm>
            <a:off x="7955280" y="4014216"/>
            <a:ext cx="777240" cy="548640"/>
          </a:xfrm>
          <a:prstGeom prst="roundRect">
            <a:avLst>
              <a:gd name="adj" fmla="val 13333"/>
            </a:avLst>
          </a:prstGeom>
          <a:solidFill>
            <a:schemeClr val="accent5"/>
          </a:solidFill>
          <a:ln/>
        </p:spPr>
      </p:sp>
      <p:sp>
        <p:nvSpPr>
          <p:cNvPr id="17" name="Text 14"/>
          <p:cNvSpPr txBox="1"/>
          <p:nvPr/>
        </p:nvSpPr>
        <p:spPr>
          <a:xfrm>
            <a:off x="7955280" y="4014216"/>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P3</a:t>
            </a:r>
            <a:endParaRPr lang="en-US" sz="1600" dirty="0"/>
          </a:p>
        </p:txBody>
      </p:sp>
      <p:sp>
        <p:nvSpPr>
          <p:cNvPr id="18" name="Text 15"/>
          <p:cNvSpPr txBox="1"/>
          <p:nvPr/>
        </p:nvSpPr>
        <p:spPr>
          <a:xfrm>
            <a:off x="8869680" y="4014216"/>
            <a:ext cx="2864815" cy="548640"/>
          </a:xfrm>
          <a:prstGeom prst="rect">
            <a:avLst/>
          </a:prstGeom>
          <a:noFill/>
          <a:ln/>
        </p:spPr>
        <p:txBody>
          <a:bodyPr wrap="square" lIns="0" tIns="0" rIns="0" bIns="0" rtlCol="0" anchor="ctr"/>
          <a:lstStyle/>
          <a:p>
            <a:pPr indent="0" marL="0">
              <a:buNone/>
            </a:pPr>
            <a:r>
              <a:rPr lang="en-US" sz="1400" dirty="0">
                <a:solidFill>
                  <a:schemeClr val="tx1"/>
                </a:solidFill>
              </a:rPr>
              <a:t>Close in 30 days</a:t>
            </a:r>
            <a:endParaRPr lang="en-US" sz="1400" dirty="0"/>
          </a:p>
        </p:txBody>
      </p:sp>
      <p:sp>
        <p:nvSpPr>
          <p:cNvPr id="19" name="Shape 16"/>
          <p:cNvSpPr/>
          <p:nvPr/>
        </p:nvSpPr>
        <p:spPr>
          <a:xfrm>
            <a:off x="7955280" y="4764024"/>
            <a:ext cx="777240" cy="548640"/>
          </a:xfrm>
          <a:prstGeom prst="roundRect">
            <a:avLst>
              <a:gd name="adj" fmla="val 13333"/>
            </a:avLst>
          </a:prstGeom>
          <a:solidFill>
            <a:schemeClr val="accent3"/>
          </a:solidFill>
          <a:ln/>
        </p:spPr>
      </p:sp>
      <p:sp>
        <p:nvSpPr>
          <p:cNvPr id="20" name="Text 17"/>
          <p:cNvSpPr txBox="1"/>
          <p:nvPr/>
        </p:nvSpPr>
        <p:spPr>
          <a:xfrm>
            <a:off x="7955280" y="4764024"/>
            <a:ext cx="777240" cy="548640"/>
          </a:xfrm>
          <a:prstGeom prst="rect">
            <a:avLst/>
          </a:prstGeom>
          <a:noFill/>
          <a:ln/>
        </p:spPr>
        <p:txBody>
          <a:bodyPr wrap="square" lIns="0" tIns="0" rIns="0" bIns="0" rtlCol="0" anchor="ctr"/>
          <a:lstStyle/>
          <a:p>
            <a:pPr algn="ctr" indent="0" marL="0">
              <a:buNone/>
            </a:pPr>
            <a:r>
              <a:rPr lang="en-US" sz="1600" b="1" dirty="0">
                <a:solidFill>
                  <a:schemeClr val="bg1"/>
                </a:solidFill>
              </a:rPr>
              <a:t>P4</a:t>
            </a:r>
            <a:endParaRPr lang="en-US" sz="1600" dirty="0"/>
          </a:p>
        </p:txBody>
      </p:sp>
      <p:sp>
        <p:nvSpPr>
          <p:cNvPr id="21" name="Text 18"/>
          <p:cNvSpPr txBox="1"/>
          <p:nvPr/>
        </p:nvSpPr>
        <p:spPr>
          <a:xfrm>
            <a:off x="8869680" y="4764024"/>
            <a:ext cx="2864815" cy="548640"/>
          </a:xfrm>
          <a:prstGeom prst="rect">
            <a:avLst/>
          </a:prstGeom>
          <a:noFill/>
          <a:ln/>
        </p:spPr>
        <p:txBody>
          <a:bodyPr wrap="square" lIns="0" tIns="0" rIns="0" bIns="0" rtlCol="0" anchor="ctr"/>
          <a:lstStyle/>
          <a:p>
            <a:pPr indent="0" marL="0">
              <a:buNone/>
            </a:pPr>
            <a:r>
              <a:rPr lang="en-US" sz="1400" dirty="0">
                <a:solidFill>
                  <a:schemeClr val="tx1"/>
                </a:solidFill>
              </a:rPr>
              <a:t>Confirm in the normal cycle</a:t>
            </a:r>
            <a:endParaRPr lang="en-US" sz="1400" dirty="0"/>
          </a:p>
        </p:txBody>
      </p:sp>
      <p:sp>
        <p:nvSpPr>
          <p:cNvPr id="22" name="Text 19"/>
          <p:cNvSpPr txBox="1"/>
          <p:nvPr/>
        </p:nvSpPr>
        <p:spPr>
          <a:xfrm>
            <a:off x="7955280" y="5532120"/>
            <a:ext cx="3779215" cy="548640"/>
          </a:xfrm>
          <a:prstGeom prst="rect">
            <a:avLst/>
          </a:prstGeom>
          <a:noFill/>
          <a:ln/>
        </p:spPr>
        <p:txBody>
          <a:bodyPr wrap="square" lIns="0" tIns="0" rIns="0" bIns="0" rtlCol="0" anchor="ctr"/>
          <a:lstStyle/>
          <a:p>
            <a:pPr indent="0" marL="0">
              <a:buNone/>
            </a:pPr>
            <a:r>
              <a:rPr lang="en-US" sz="1200" dirty="0">
                <a:solidFill>
                  <a:schemeClr val="tx2"/>
                </a:solidFill>
              </a:rPr>
              <a:t>Suspected exploitation escalates immediately, at any priority. Reassigned work keeps its original date.</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ill"/>
          <p:cNvSpPr/>
          <p:nvPr/>
        </p:nvSpPr>
        <p:spPr>
          <a:xfrm>
            <a:off x="457200" y="292608"/>
            <a:ext cx="882396" cy="256032"/>
          </a:xfrm>
          <a:prstGeom prst="roundRect">
            <a:avLst>
              <a:gd name="adj" fmla="val 50000"/>
            </a:avLst>
          </a:prstGeom>
          <a:solidFill>
            <a:schemeClr val="bg2"/>
          </a:solidFill>
          <a:ln/>
        </p:spPr>
      </p:sp>
      <p:sp>
        <p:nvSpPr>
          <p:cNvPr id="3" name="Eyebrow"/>
          <p:cNvSpPr txBox="1"/>
          <p:nvPr/>
        </p:nvSpPr>
        <p:spPr>
          <a:xfrm>
            <a:off x="457200" y="292608"/>
            <a:ext cx="88239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FIX FIRST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 paths turn a forged certificate into stolen credentials or code execution</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Treat these as P1 wherever the verifier is not yet confirmed</a:t>
            </a:r>
            <a:endParaRPr lang="en-US" sz="1500" dirty="0"/>
          </a:p>
        </p:txBody>
      </p:sp>
      <p:sp>
        <p:nvSpPr>
          <p:cNvPr id="6" name="Card"/>
          <p:cNvSpPr/>
          <p:nvPr/>
        </p:nvSpPr>
        <p:spPr>
          <a:xfrm>
            <a:off x="457200" y="1920240"/>
            <a:ext cx="2647874" cy="1965960"/>
          </a:xfrm>
          <a:prstGeom prst="rect">
            <a:avLst/>
          </a:prstGeom>
          <a:solidFill>
            <a:schemeClr val="bg2"/>
          </a:solidFill>
          <a:ln/>
        </p:spPr>
      </p:sp>
      <p:sp>
        <p:nvSpPr>
          <p:cNvPr id="7" name="Shape 5"/>
          <p:cNvSpPr/>
          <p:nvPr/>
        </p:nvSpPr>
        <p:spPr>
          <a:xfrm>
            <a:off x="640080" y="2103120"/>
            <a:ext cx="548640" cy="548640"/>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768096" y="2231136"/>
            <a:ext cx="292608" cy="292608"/>
          </a:xfrm>
          <a:prstGeom prst="rect">
            <a:avLst/>
          </a:prstGeom>
        </p:spPr>
      </p:pic>
      <p:sp>
        <p:nvSpPr>
          <p:cNvPr id="9" name="Text 6"/>
          <p:cNvSpPr txBox="1"/>
          <p:nvPr/>
        </p:nvSpPr>
        <p:spPr>
          <a:xfrm>
            <a:off x="2053514"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PB-09</a:t>
            </a:r>
            <a:endParaRPr lang="en-US" sz="1100" dirty="0"/>
          </a:p>
        </p:txBody>
      </p:sp>
      <p:sp>
        <p:nvSpPr>
          <p:cNvPr id="10" name="Text 7"/>
          <p:cNvSpPr txBox="1"/>
          <p:nvPr/>
        </p:nvSpPr>
        <p:spPr>
          <a:xfrm>
            <a:off x="640080"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Inspection and egress proxies</a:t>
            </a:r>
            <a:endParaRPr lang="en-US" sz="1400" dirty="0"/>
          </a:p>
        </p:txBody>
      </p:sp>
      <p:sp>
        <p:nvSpPr>
          <p:cNvPr id="11" name="Text 8"/>
          <p:cNvSpPr txBox="1"/>
          <p:nvPr/>
        </p:nvSpPr>
        <p:spPr>
          <a:xfrm>
            <a:off x="640080"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Decide trust for every client behind them. Block untrusted upstream certificates (D-07).</a:t>
            </a:r>
            <a:endParaRPr lang="en-US" sz="1200" dirty="0"/>
          </a:p>
        </p:txBody>
      </p:sp>
      <p:sp>
        <p:nvSpPr>
          <p:cNvPr id="12" name="Card"/>
          <p:cNvSpPr/>
          <p:nvPr/>
        </p:nvSpPr>
        <p:spPr>
          <a:xfrm>
            <a:off x="3333674" y="1920240"/>
            <a:ext cx="2647874" cy="1965960"/>
          </a:xfrm>
          <a:prstGeom prst="rect">
            <a:avLst/>
          </a:prstGeom>
          <a:solidFill>
            <a:schemeClr val="bg2"/>
          </a:solidFill>
          <a:ln/>
        </p:spPr>
      </p:sp>
      <p:sp>
        <p:nvSpPr>
          <p:cNvPr id="13" name="Shape 10"/>
          <p:cNvSpPr/>
          <p:nvPr/>
        </p:nvSpPr>
        <p:spPr>
          <a:xfrm>
            <a:off x="3516554" y="21031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44570" y="2231136"/>
            <a:ext cx="292608" cy="292608"/>
          </a:xfrm>
          <a:prstGeom prst="rect">
            <a:avLst/>
          </a:prstGeom>
        </p:spPr>
      </p:pic>
      <p:sp>
        <p:nvSpPr>
          <p:cNvPr id="15" name="Text 11"/>
          <p:cNvSpPr txBox="1"/>
          <p:nvPr/>
        </p:nvSpPr>
        <p:spPr>
          <a:xfrm>
            <a:off x="4929988"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16" name="Text 12"/>
          <p:cNvSpPr txBox="1"/>
          <p:nvPr/>
        </p:nvSpPr>
        <p:spPr>
          <a:xfrm>
            <a:off x="3516554"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Identity: JWKS, SAML metadata, tokens</a:t>
            </a:r>
            <a:endParaRPr lang="en-US" sz="1400" dirty="0"/>
          </a:p>
        </p:txBody>
      </p:sp>
      <p:sp>
        <p:nvSpPr>
          <p:cNvPr id="17" name="Text 13"/>
          <p:cNvSpPr txBox="1"/>
          <p:nvPr/>
        </p:nvSpPr>
        <p:spPr>
          <a:xfrm>
            <a:off x="3516554"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 forged JWKS endpoint lets an attacker mint tokens your API accepts.</a:t>
            </a:r>
            <a:endParaRPr lang="en-US" sz="1200" dirty="0"/>
          </a:p>
        </p:txBody>
      </p:sp>
      <p:sp>
        <p:nvSpPr>
          <p:cNvPr id="18" name="Card"/>
          <p:cNvSpPr/>
          <p:nvPr/>
        </p:nvSpPr>
        <p:spPr>
          <a:xfrm>
            <a:off x="6210148" y="1920240"/>
            <a:ext cx="2647874" cy="1965960"/>
          </a:xfrm>
          <a:prstGeom prst="rect">
            <a:avLst/>
          </a:prstGeom>
          <a:solidFill>
            <a:schemeClr val="bg2"/>
          </a:solidFill>
          <a:ln/>
        </p:spPr>
      </p:sp>
      <p:sp>
        <p:nvSpPr>
          <p:cNvPr id="19" name="Shape 15"/>
          <p:cNvSpPr/>
          <p:nvPr/>
        </p:nvSpPr>
        <p:spPr>
          <a:xfrm>
            <a:off x="6393028" y="2103120"/>
            <a:ext cx="548640" cy="548640"/>
          </a:xfrm>
          <a:prstGeom prst="ellipse">
            <a:avLst/>
          </a:prstGeom>
          <a:solidFill>
            <a:schemeClr val="accent1"/>
          </a:solidFill>
          <a:ln/>
        </p:spPr>
      </p:sp>
      <p:pic>
        <p:nvPicPr>
          <p:cNvPr id="20" name="Image 2" descr="preencoded.png">    </p:cNvPr>
          <p:cNvPicPr>
            <a:picLocks noChangeAspect="1"/>
          </p:cNvPicPr>
          <p:nvPr/>
        </p:nvPicPr>
        <p:blipFill>
          <a:blip r:embed="rId3"/>
          <a:stretch>
            <a:fillRect/>
          </a:stretch>
        </p:blipFill>
        <p:spPr>
          <a:xfrm>
            <a:off x="6521044" y="2231136"/>
            <a:ext cx="292608" cy="292608"/>
          </a:xfrm>
          <a:prstGeom prst="rect">
            <a:avLst/>
          </a:prstGeom>
        </p:spPr>
      </p:pic>
      <p:sp>
        <p:nvSpPr>
          <p:cNvPr id="21" name="Text 16"/>
          <p:cNvSpPr txBox="1"/>
          <p:nvPr/>
        </p:nvSpPr>
        <p:spPr>
          <a:xfrm>
            <a:off x="7806461"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PB-08</a:t>
            </a:r>
            <a:endParaRPr lang="en-US" sz="1100" dirty="0"/>
          </a:p>
        </p:txBody>
      </p:sp>
      <p:sp>
        <p:nvSpPr>
          <p:cNvPr id="22" name="Text 17"/>
          <p:cNvSpPr txBox="1"/>
          <p:nvPr/>
        </p:nvSpPr>
        <p:spPr>
          <a:xfrm>
            <a:off x="6393028"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Build pipelines and artifact proxies</a:t>
            </a:r>
            <a:endParaRPr lang="en-US" sz="1400" dirty="0"/>
          </a:p>
        </p:txBody>
      </p:sp>
      <p:sp>
        <p:nvSpPr>
          <p:cNvPr id="23" name="Text 18"/>
          <p:cNvSpPr txBox="1"/>
          <p:nvPr/>
        </p:nvSpPr>
        <p:spPr>
          <a:xfrm>
            <a:off x="6393028"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Artifactory/Nexus pull for every build. Usually Java: fix the JVM store.</a:t>
            </a:r>
            <a:endParaRPr lang="en-US" sz="1200" dirty="0"/>
          </a:p>
        </p:txBody>
      </p:sp>
      <p:sp>
        <p:nvSpPr>
          <p:cNvPr id="24" name="Card"/>
          <p:cNvSpPr/>
          <p:nvPr/>
        </p:nvSpPr>
        <p:spPr>
          <a:xfrm>
            <a:off x="9086621" y="1920240"/>
            <a:ext cx="2647874" cy="1965960"/>
          </a:xfrm>
          <a:prstGeom prst="rect">
            <a:avLst/>
          </a:prstGeom>
          <a:solidFill>
            <a:schemeClr val="bg2"/>
          </a:solidFill>
          <a:ln/>
        </p:spPr>
      </p:sp>
      <p:sp>
        <p:nvSpPr>
          <p:cNvPr id="25" name="Shape 20"/>
          <p:cNvSpPr/>
          <p:nvPr/>
        </p:nvSpPr>
        <p:spPr>
          <a:xfrm>
            <a:off x="9269501" y="21031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9397517" y="2231136"/>
            <a:ext cx="292608" cy="292608"/>
          </a:xfrm>
          <a:prstGeom prst="rect">
            <a:avLst/>
          </a:prstGeom>
        </p:spPr>
      </p:pic>
      <p:sp>
        <p:nvSpPr>
          <p:cNvPr id="27" name="Text 21"/>
          <p:cNvSpPr txBox="1"/>
          <p:nvPr/>
        </p:nvSpPr>
        <p:spPr>
          <a:xfrm>
            <a:off x="10682935"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PB-04–07</a:t>
            </a:r>
            <a:endParaRPr lang="en-US" sz="1100" dirty="0"/>
          </a:p>
        </p:txBody>
      </p:sp>
      <p:sp>
        <p:nvSpPr>
          <p:cNvPr id="28" name="Text 22"/>
          <p:cNvSpPr txBox="1"/>
          <p:nvPr/>
        </p:nvSpPr>
        <p:spPr>
          <a:xfrm>
            <a:off x="9269501"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Payment and customer-data APIs</a:t>
            </a:r>
            <a:endParaRPr lang="en-US" sz="1400" dirty="0"/>
          </a:p>
        </p:txBody>
      </p:sp>
      <p:sp>
        <p:nvSpPr>
          <p:cNvPr id="29" name="Text 23"/>
          <p:cNvSpPr txBox="1"/>
          <p:nvPr/>
        </p:nvSpPr>
        <p:spPr>
          <a:xfrm>
            <a:off x="9269501"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Outbound calls from Java, Python, Node and Go services carrying sensitive data.</a:t>
            </a:r>
            <a:endParaRPr lang="en-US" sz="1200" dirty="0"/>
          </a:p>
        </p:txBody>
      </p:sp>
      <p:sp>
        <p:nvSpPr>
          <p:cNvPr id="30" name="Card"/>
          <p:cNvSpPr/>
          <p:nvPr/>
        </p:nvSpPr>
        <p:spPr>
          <a:xfrm>
            <a:off x="1895437" y="4087368"/>
            <a:ext cx="2647874" cy="1965960"/>
          </a:xfrm>
          <a:prstGeom prst="rect">
            <a:avLst/>
          </a:prstGeom>
          <a:solidFill>
            <a:schemeClr val="bg2"/>
          </a:solidFill>
          <a:ln/>
        </p:spPr>
      </p:sp>
      <p:sp>
        <p:nvSpPr>
          <p:cNvPr id="31" name="Shape 25"/>
          <p:cNvSpPr/>
          <p:nvPr/>
        </p:nvSpPr>
        <p:spPr>
          <a:xfrm>
            <a:off x="2078317" y="4270248"/>
            <a:ext cx="548640" cy="548640"/>
          </a:xfrm>
          <a:prstGeom prst="ellipse">
            <a:avLst/>
          </a:prstGeom>
          <a:solidFill>
            <a:schemeClr val="accent1"/>
          </a:solidFill>
          <a:ln/>
        </p:spPr>
      </p:sp>
      <p:pic>
        <p:nvPicPr>
          <p:cNvPr id="32" name="Image 4" descr="preencoded.png">    </p:cNvPr>
          <p:cNvPicPr>
            <a:picLocks noChangeAspect="1"/>
          </p:cNvPicPr>
          <p:nvPr/>
        </p:nvPicPr>
        <p:blipFill>
          <a:blip r:embed="rId5"/>
          <a:stretch>
            <a:fillRect/>
          </a:stretch>
        </p:blipFill>
        <p:spPr>
          <a:xfrm>
            <a:off x="2206333" y="4398264"/>
            <a:ext cx="292608" cy="292608"/>
          </a:xfrm>
          <a:prstGeom prst="rect">
            <a:avLst/>
          </a:prstGeom>
        </p:spPr>
      </p:pic>
      <p:sp>
        <p:nvSpPr>
          <p:cNvPr id="33" name="Text 26"/>
          <p:cNvSpPr txBox="1"/>
          <p:nvPr/>
        </p:nvSpPr>
        <p:spPr>
          <a:xfrm>
            <a:off x="3491751"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34" name="Text 27"/>
          <p:cNvSpPr txBox="1"/>
          <p:nvPr/>
        </p:nvSpPr>
        <p:spPr>
          <a:xfrm>
            <a:off x="2078317"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Inbound mTLS trusting public roots</a:t>
            </a:r>
            <a:endParaRPr lang="en-US" sz="1400" dirty="0"/>
          </a:p>
        </p:txBody>
      </p:sp>
      <p:sp>
        <p:nvSpPr>
          <p:cNvPr id="35" name="Text 28"/>
          <p:cNvSpPr txBox="1"/>
          <p:nvPr/>
        </p:nvSpPr>
        <p:spPr>
          <a:xfrm>
            <a:off x="2078317"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No interception needed: the attacker connects directly with a forged client certificate.</a:t>
            </a:r>
            <a:endParaRPr lang="en-US" sz="1200" dirty="0"/>
          </a:p>
        </p:txBody>
      </p:sp>
      <p:sp>
        <p:nvSpPr>
          <p:cNvPr id="36" name="Card"/>
          <p:cNvSpPr/>
          <p:nvPr/>
        </p:nvSpPr>
        <p:spPr>
          <a:xfrm>
            <a:off x="4771911" y="4087368"/>
            <a:ext cx="2647874" cy="1965960"/>
          </a:xfrm>
          <a:prstGeom prst="rect">
            <a:avLst/>
          </a:prstGeom>
          <a:solidFill>
            <a:schemeClr val="bg2"/>
          </a:solidFill>
          <a:ln/>
        </p:spPr>
      </p:sp>
      <p:sp>
        <p:nvSpPr>
          <p:cNvPr id="37" name="Shape 30"/>
          <p:cNvSpPr/>
          <p:nvPr/>
        </p:nvSpPr>
        <p:spPr>
          <a:xfrm>
            <a:off x="4954791" y="4270248"/>
            <a:ext cx="548640" cy="548640"/>
          </a:xfrm>
          <a:prstGeom prst="ellipse">
            <a:avLst/>
          </a:prstGeom>
          <a:solidFill>
            <a:schemeClr val="accent1"/>
          </a:solidFill>
          <a:ln/>
        </p:spPr>
      </p:sp>
      <p:pic>
        <p:nvPicPr>
          <p:cNvPr id="38" name="Image 5" descr="preencoded.png">    </p:cNvPr>
          <p:cNvPicPr>
            <a:picLocks noChangeAspect="1"/>
          </p:cNvPicPr>
          <p:nvPr/>
        </p:nvPicPr>
        <p:blipFill>
          <a:blip r:embed="rId6"/>
          <a:stretch>
            <a:fillRect/>
          </a:stretch>
        </p:blipFill>
        <p:spPr>
          <a:xfrm>
            <a:off x="5082807" y="4398264"/>
            <a:ext cx="292608" cy="292608"/>
          </a:xfrm>
          <a:prstGeom prst="rect">
            <a:avLst/>
          </a:prstGeom>
        </p:spPr>
      </p:pic>
      <p:sp>
        <p:nvSpPr>
          <p:cNvPr id="39" name="Text 31"/>
          <p:cNvSpPr txBox="1"/>
          <p:nvPr/>
        </p:nvSpPr>
        <p:spPr>
          <a:xfrm>
            <a:off x="6368225"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PB-12</a:t>
            </a:r>
            <a:endParaRPr lang="en-US" sz="1100" dirty="0"/>
          </a:p>
        </p:txBody>
      </p:sp>
      <p:sp>
        <p:nvSpPr>
          <p:cNvPr id="40" name="Text 32"/>
          <p:cNvSpPr txBox="1"/>
          <p:nvPr/>
        </p:nvSpPr>
        <p:spPr>
          <a:xfrm>
            <a:off x="4954791"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Code signing and application control</a:t>
            </a:r>
            <a:endParaRPr lang="en-US" sz="1400" dirty="0"/>
          </a:p>
        </p:txBody>
      </p:sp>
      <p:sp>
        <p:nvSpPr>
          <p:cNvPr id="41" name="Text 33"/>
          <p:cNvSpPr txBox="1"/>
          <p:nvPr/>
        </p:nvSpPr>
        <p:spPr>
          <a:xfrm>
            <a:off x="4954791"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Publisher-name rules could accept forged signatures while Windows trusted the chain.</a:t>
            </a:r>
            <a:endParaRPr lang="en-US" sz="1200" dirty="0"/>
          </a:p>
        </p:txBody>
      </p:sp>
      <p:sp>
        <p:nvSpPr>
          <p:cNvPr id="42" name="Card"/>
          <p:cNvSpPr/>
          <p:nvPr/>
        </p:nvSpPr>
        <p:spPr>
          <a:xfrm>
            <a:off x="7648385" y="4087368"/>
            <a:ext cx="2647874" cy="1965960"/>
          </a:xfrm>
          <a:prstGeom prst="rect">
            <a:avLst/>
          </a:prstGeom>
          <a:solidFill>
            <a:schemeClr val="bg2"/>
          </a:solidFill>
          <a:ln/>
        </p:spPr>
      </p:sp>
      <p:sp>
        <p:nvSpPr>
          <p:cNvPr id="43" name="Shape 35"/>
          <p:cNvSpPr/>
          <p:nvPr/>
        </p:nvSpPr>
        <p:spPr>
          <a:xfrm>
            <a:off x="7831265" y="4270248"/>
            <a:ext cx="548640" cy="548640"/>
          </a:xfrm>
          <a:prstGeom prst="ellipse">
            <a:avLst/>
          </a:prstGeom>
          <a:solidFill>
            <a:schemeClr val="accent1"/>
          </a:solidFill>
          <a:ln/>
        </p:spPr>
      </p:sp>
      <p:pic>
        <p:nvPicPr>
          <p:cNvPr id="44" name="Image 6" descr="preencoded.png">    </p:cNvPr>
          <p:cNvPicPr>
            <a:picLocks noChangeAspect="1"/>
          </p:cNvPicPr>
          <p:nvPr/>
        </p:nvPicPr>
        <p:blipFill>
          <a:blip r:embed="rId7"/>
          <a:stretch>
            <a:fillRect/>
          </a:stretch>
        </p:blipFill>
        <p:spPr>
          <a:xfrm>
            <a:off x="7959281" y="4398264"/>
            <a:ext cx="292608" cy="292608"/>
          </a:xfrm>
          <a:prstGeom prst="rect">
            <a:avLst/>
          </a:prstGeom>
        </p:spPr>
      </p:pic>
      <p:sp>
        <p:nvSpPr>
          <p:cNvPr id="45" name="Text 36"/>
          <p:cNvSpPr txBox="1"/>
          <p:nvPr/>
        </p:nvSpPr>
        <p:spPr>
          <a:xfrm>
            <a:off x="9244698"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PB-01</a:t>
            </a:r>
            <a:endParaRPr lang="en-US" sz="1100" dirty="0"/>
          </a:p>
        </p:txBody>
      </p:sp>
      <p:sp>
        <p:nvSpPr>
          <p:cNvPr id="46" name="Text 37"/>
          <p:cNvSpPr txBox="1"/>
          <p:nvPr/>
        </p:nvSpPr>
        <p:spPr>
          <a:xfrm>
            <a:off x="7831265"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Admin and developer workstations</a:t>
            </a:r>
            <a:endParaRPr lang="en-US" sz="1400" dirty="0"/>
          </a:p>
        </p:txBody>
      </p:sp>
      <p:sp>
        <p:nvSpPr>
          <p:cNvPr id="47" name="Text 38"/>
          <p:cNvSpPr txBox="1"/>
          <p:nvPr/>
        </p:nvSpPr>
        <p:spPr>
          <a:xfrm>
            <a:off x="7831265"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CLI tools and SDKs holding cloud credentials or signing keys sit outside the browser proviso.</a:t>
            </a:r>
            <a:endParaRPr lang="en-US" sz="1200" dirty="0"/>
          </a:p>
        </p:txBody>
      </p:sp>
      <p:sp>
        <p:nvSpPr>
          <p:cNvPr id="4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ill"/>
          <p:cNvSpPr/>
          <p:nvPr/>
        </p:nvSpPr>
        <p:spPr>
          <a:xfrm>
            <a:off x="457200" y="292608"/>
            <a:ext cx="2747772" cy="256032"/>
          </a:xfrm>
          <a:prstGeom prst="roundRect">
            <a:avLst>
              <a:gd name="adj" fmla="val 50000"/>
            </a:avLst>
          </a:prstGeom>
          <a:solidFill>
            <a:schemeClr val="bg2"/>
          </a:solidFill>
          <a:ln/>
        </p:spPr>
      </p:sp>
      <p:sp>
        <p:nvSpPr>
          <p:cNvPr id="3" name="Eyebrow"/>
          <p:cNvSpPr txBox="1"/>
          <p:nvPr/>
        </p:nvSpPr>
        <p:spPr>
          <a:xfrm>
            <a:off x="457200" y="292608"/>
            <a:ext cx="274777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AVAILABILITY · TUESDAY 27 OCTOBER</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Chrome stops trusting emSign ECC Root CA - G3 tomorrow, and legitimate sites will break</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A separate track from the security tiers, with its own owner and date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(root removal, ~30,000 estimate). certifi and webpki-roots contents checked 26 Oct on PyPI and crates.io.</a:t>
            </a:r>
            <a:endParaRPr lang="en-US" sz="1000" dirty="0"/>
          </a:p>
        </p:txBody>
      </p:sp>
      <p:sp>
        <p:nvSpPr>
          <p:cNvPr id="7" name="Date panel"/>
          <p:cNvSpPr/>
          <p:nvPr/>
        </p:nvSpPr>
        <p:spPr>
          <a:xfrm>
            <a:off x="457200" y="1920240"/>
            <a:ext cx="3108960" cy="4114800"/>
          </a:xfrm>
          <a:prstGeom prst="rect">
            <a:avLst/>
          </a:prstGeom>
          <a:solidFill>
            <a:schemeClr val="tx1"/>
          </a:solidFill>
          <a:ln/>
        </p:spPr>
      </p:sp>
      <p:sp>
        <p:nvSpPr>
          <p:cNvPr id="8" name="Text 6"/>
          <p:cNvSpPr txBox="1"/>
          <p:nvPr/>
        </p:nvSpPr>
        <p:spPr>
          <a:xfrm>
            <a:off x="731520" y="2103120"/>
            <a:ext cx="2560320" cy="822960"/>
          </a:xfrm>
          <a:prstGeom prst="rect">
            <a:avLst/>
          </a:prstGeom>
          <a:noFill/>
          <a:ln/>
        </p:spPr>
        <p:txBody>
          <a:bodyPr wrap="square" lIns="0" tIns="0" rIns="0" bIns="0" rtlCol="0" anchor="ctr"/>
          <a:lstStyle/>
          <a:p>
            <a:pPr indent="0" marL="0">
              <a:buNone/>
            </a:pPr>
            <a:r>
              <a:rPr lang="en-US" sz="4400" b="1" dirty="0">
                <a:solidFill>
                  <a:srgbClr val="F2B8AD"/>
                </a:solidFill>
                <a:latin typeface="Cambria" pitchFamily="34" charset="0"/>
                <a:ea typeface="Cambria" pitchFamily="34" charset="-122"/>
                <a:cs typeface="Cambria" pitchFamily="34" charset="-120"/>
              </a:rPr>
              <a:t>27 Oct</a:t>
            </a:r>
            <a:endParaRPr lang="en-US" sz="4400" dirty="0"/>
          </a:p>
        </p:txBody>
      </p:sp>
      <p:sp>
        <p:nvSpPr>
          <p:cNvPr id="9" name="Text 7"/>
          <p:cNvSpPr txBox="1"/>
          <p:nvPr/>
        </p:nvSpPr>
        <p:spPr>
          <a:xfrm>
            <a:off x="731520" y="2926080"/>
            <a:ext cx="2560320" cy="731520"/>
          </a:xfrm>
          <a:prstGeom prst="rect">
            <a:avLst/>
          </a:prstGeom>
          <a:noFill/>
          <a:ln/>
        </p:spPr>
        <p:txBody>
          <a:bodyPr wrap="square" lIns="0" tIns="0" rIns="0" bIns="0" rtlCol="0" anchor="ctr"/>
          <a:lstStyle/>
          <a:p>
            <a:pPr indent="0" marL="0">
              <a:buNone/>
            </a:pPr>
            <a:r>
              <a:rPr lang="en-US" sz="1500" dirty="0">
                <a:solidFill>
                  <a:schemeClr val="bg1"/>
                </a:solidFill>
              </a:rPr>
              <a:t>Chrome Root Store drops emSign ECC Root CA - G3</a:t>
            </a:r>
            <a:endParaRPr lang="en-US" sz="1500" dirty="0"/>
          </a:p>
        </p:txBody>
      </p:sp>
      <p:sp>
        <p:nvSpPr>
          <p:cNvPr id="10" name="Text 8"/>
          <p:cNvSpPr txBox="1"/>
          <p:nvPr/>
        </p:nvSpPr>
        <p:spPr>
          <a:xfrm>
            <a:off x="731520" y="3886200"/>
            <a:ext cx="2560320" cy="685800"/>
          </a:xfrm>
          <a:prstGeom prst="rect">
            <a:avLst/>
          </a:prstGeom>
          <a:noFill/>
          <a:ln/>
        </p:spPr>
        <p:txBody>
          <a:bodyPr wrap="square" lIns="0" tIns="0" rIns="0" bIns="0" rtlCol="0" anchor="ctr"/>
          <a:lstStyle/>
          <a:p>
            <a:pPr indent="0" marL="0">
              <a:buNone/>
            </a:pPr>
            <a:r>
              <a:rPr lang="en-US" sz="3600" b="1" dirty="0">
                <a:solidFill>
                  <a:srgbClr val="F2B8AD"/>
                </a:solidFill>
                <a:latin typeface="Cambria" pitchFamily="34" charset="0"/>
                <a:ea typeface="Cambria" pitchFamily="34" charset="-122"/>
                <a:cs typeface="Cambria" pitchFamily="34" charset="-120"/>
              </a:rPr>
              <a:t>~30,000</a:t>
            </a:r>
            <a:endParaRPr lang="en-US" sz="3600" dirty="0"/>
          </a:p>
        </p:txBody>
      </p:sp>
      <p:sp>
        <p:nvSpPr>
          <p:cNvPr id="11" name="Text 9"/>
          <p:cNvSpPr txBox="1"/>
          <p:nvPr/>
        </p:nvSpPr>
        <p:spPr>
          <a:xfrm>
            <a:off x="731520" y="4572000"/>
            <a:ext cx="2560320" cy="731520"/>
          </a:xfrm>
          <a:prstGeom prst="rect">
            <a:avLst/>
          </a:prstGeom>
          <a:noFill/>
          <a:ln/>
        </p:spPr>
        <p:txBody>
          <a:bodyPr wrap="square" lIns="0" tIns="0" rIns="0" bIns="0" rtlCol="0" anchor="ctr"/>
          <a:lstStyle/>
          <a:p>
            <a:pPr indent="0" marL="0">
              <a:buNone/>
            </a:pPr>
            <a:r>
              <a:rPr lang="en-US" sz="1300" dirty="0">
                <a:solidFill>
                  <a:srgbClr val="CADCFC"/>
                </a:solidFill>
              </a:rPr>
              <a:t>legitimate certificates to migrate worldwide (eMudhra estimate)</a:t>
            </a:r>
            <a:endParaRPr lang="en-US" sz="1300" dirty="0"/>
          </a:p>
        </p:txBody>
      </p:sp>
      <p:sp>
        <p:nvSpPr>
          <p:cNvPr id="12" name="Card"/>
          <p:cNvSpPr/>
          <p:nvPr/>
        </p:nvSpPr>
        <p:spPr>
          <a:xfrm>
            <a:off x="3794760" y="1920240"/>
            <a:ext cx="2494178" cy="4114800"/>
          </a:xfrm>
          <a:prstGeom prst="rect">
            <a:avLst/>
          </a:prstGeom>
          <a:solidFill>
            <a:schemeClr val="bg2"/>
          </a:solidFill>
          <a:ln/>
        </p:spPr>
      </p:sp>
      <p:sp>
        <p:nvSpPr>
          <p:cNvPr id="13" name="Text 11"/>
          <p:cNvSpPr txBox="1"/>
          <p:nvPr/>
        </p:nvSpPr>
        <p:spPr>
          <a:xfrm>
            <a:off x="3995928"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Our certificates</a:t>
            </a:r>
            <a:endParaRPr lang="en-US" sz="1600" dirty="0"/>
          </a:p>
        </p:txBody>
      </p:sp>
      <p:sp>
        <p:nvSpPr>
          <p:cNvPr id="14" name="Text 12"/>
          <p:cNvSpPr txBox="1"/>
          <p:nvPr/>
        </p:nvSpPr>
        <p:spPr>
          <a:xfrm>
            <a:off x="3995928"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Find: lifecycle tool, CT search of our domains, endpoint scan</a:t>
            </a:r>
            <a:endParaRPr lang="en-US" sz="1300" dirty="0"/>
          </a:p>
          <a:p>
            <a:pPr marL="177800" indent="-177800">
              <a:spcAft>
                <a:spcPts val="400"/>
              </a:spcAft>
              <a:buSzPct val="100000"/>
              <a:buChar char="•"/>
            </a:pPr>
            <a:r>
              <a:rPr lang="en-US" sz="1300" dirty="0">
                <a:solidFill>
                  <a:schemeClr val="tx2"/>
                </a:solidFill>
              </a:rPr>
              <a:t>Replace now with another public CA (D-04)</a:t>
            </a:r>
            <a:endParaRPr lang="en-US" sz="1300" dirty="0"/>
          </a:p>
          <a:p>
            <a:pPr marL="177800" indent="-177800">
              <a:spcAft>
                <a:spcPts val="400"/>
              </a:spcAft>
              <a:buSzPct val="100000"/>
              <a:buChar char="•"/>
            </a:pPr>
            <a:r>
              <a:rPr lang="en-US" sz="1300" dirty="0">
                <a:solidFill>
                  <a:schemeClr val="tx2"/>
                </a:solidFill>
              </a:rPr>
              <a:t>Watch for appliances and pinned clients</a:t>
            </a:r>
            <a:endParaRPr lang="en-US" sz="1300" dirty="0"/>
          </a:p>
        </p:txBody>
      </p:sp>
      <p:sp>
        <p:nvSpPr>
          <p:cNvPr id="15" name="Text 13"/>
          <p:cNvSpPr txBox="1"/>
          <p:nvPr/>
        </p:nvSpPr>
        <p:spPr>
          <a:xfrm>
            <a:off x="3995928"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16" name="Card"/>
          <p:cNvSpPr/>
          <p:nvPr/>
        </p:nvSpPr>
        <p:spPr>
          <a:xfrm>
            <a:off x="6517538" y="1920240"/>
            <a:ext cx="2494178" cy="4114800"/>
          </a:xfrm>
          <a:prstGeom prst="rect">
            <a:avLst/>
          </a:prstGeom>
          <a:solidFill>
            <a:schemeClr val="bg2"/>
          </a:solidFill>
          <a:ln/>
        </p:spPr>
      </p:sp>
      <p:sp>
        <p:nvSpPr>
          <p:cNvPr id="17" name="Text 15"/>
          <p:cNvSpPr txBox="1"/>
          <p:nvPr/>
        </p:nvSpPr>
        <p:spPr>
          <a:xfrm>
            <a:off x="6718706"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Partners we call</a:t>
            </a:r>
            <a:endParaRPr lang="en-US" sz="1600" dirty="0"/>
          </a:p>
        </p:txBody>
      </p:sp>
      <p:sp>
        <p:nvSpPr>
          <p:cNvPr id="18" name="Text 16"/>
          <p:cNvSpPr txBox="1"/>
          <p:nvPr/>
        </p:nvSpPr>
        <p:spPr>
          <a:xfrm>
            <a:off x="6718706"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Root removal in certifi ≥ 2026.10.18, webpki-roots ≥ 1.0.10 and Ubuntu breaks their emSign chains</a:t>
            </a:r>
            <a:endParaRPr lang="en-US" sz="1300" dirty="0"/>
          </a:p>
          <a:p>
            <a:pPr marL="177800" indent="-177800">
              <a:spcAft>
                <a:spcPts val="400"/>
              </a:spcAft>
              <a:buSzPct val="100000"/>
              <a:buChar char="•"/>
            </a:pPr>
            <a:r>
              <a:rPr lang="en-US" sz="1300" dirty="0">
                <a:solidFill>
                  <a:schemeClr val="tx2"/>
                </a:solidFill>
              </a:rPr>
              <a:t>certifi 2026.10.23 also drops emSign C1 and ECC C3</a:t>
            </a:r>
            <a:endParaRPr lang="en-US" sz="1300" dirty="0"/>
          </a:p>
          <a:p>
            <a:pPr marL="177800" indent="-177800">
              <a:spcAft>
                <a:spcPts val="400"/>
              </a:spcAft>
              <a:buSzPct val="100000"/>
              <a:buChar char="•"/>
            </a:pPr>
            <a:r>
              <a:rPr lang="en-US" sz="1300" dirty="0">
                <a:solidFill>
                  <a:schemeClr val="tx2"/>
                </a:solidFill>
              </a:rPr>
              <a:t>Time-boxed exceptions only (D-05)</a:t>
            </a:r>
            <a:endParaRPr lang="en-US" sz="1300" dirty="0"/>
          </a:p>
        </p:txBody>
      </p:sp>
      <p:sp>
        <p:nvSpPr>
          <p:cNvPr id="19" name="Text 17"/>
          <p:cNvSpPr txBox="1"/>
          <p:nvPr/>
        </p:nvSpPr>
        <p:spPr>
          <a:xfrm>
            <a:off x="6718706"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20" name="Card"/>
          <p:cNvSpPr/>
          <p:nvPr/>
        </p:nvSpPr>
        <p:spPr>
          <a:xfrm>
            <a:off x="9240317" y="1920240"/>
            <a:ext cx="2494178" cy="4114800"/>
          </a:xfrm>
          <a:prstGeom prst="rect">
            <a:avLst/>
          </a:prstGeom>
          <a:solidFill>
            <a:schemeClr val="bg2"/>
          </a:solidFill>
          <a:ln/>
        </p:spPr>
      </p:sp>
      <p:sp>
        <p:nvSpPr>
          <p:cNvPr id="21" name="Text 19"/>
          <p:cNvSpPr txBox="1"/>
          <p:nvPr/>
        </p:nvSpPr>
        <p:spPr>
          <a:xfrm>
            <a:off x="9441485"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Service desk</a:t>
            </a:r>
            <a:endParaRPr lang="en-US" sz="1600" dirty="0"/>
          </a:p>
        </p:txBody>
      </p:sp>
      <p:sp>
        <p:nvSpPr>
          <p:cNvPr id="22" name="Text 20"/>
          <p:cNvSpPr txBox="1"/>
          <p:nvPr/>
        </p:nvSpPr>
        <p:spPr>
          <a:xfrm>
            <a:off x="9441485"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Knowledge article live before 27 Oct</a:t>
            </a:r>
            <a:endParaRPr lang="en-US" sz="1300" dirty="0"/>
          </a:p>
          <a:p>
            <a:pPr marL="177800" indent="-177800">
              <a:spcAft>
                <a:spcPts val="400"/>
              </a:spcAft>
              <a:buSzPct val="100000"/>
              <a:buChar char="•"/>
            </a:pPr>
            <a:r>
              <a:rPr lang="en-US" sz="1300" dirty="0">
                <a:solidFill>
                  <a:schemeClr val="tx2"/>
                </a:solidFill>
              </a:rPr>
              <a:t>Issuer says eMudhra/emSign: route by owner</a:t>
            </a:r>
            <a:endParaRPr lang="en-US" sz="1300" dirty="0"/>
          </a:p>
          <a:p>
            <a:pPr marL="177800" indent="-177800">
              <a:spcAft>
                <a:spcPts val="400"/>
              </a:spcAft>
              <a:buSzPct val="100000"/>
              <a:buChar char="•"/>
            </a:pPr>
            <a:r>
              <a:rPr lang="en-US" sz="1300" dirty="0">
                <a:solidFill>
                  <a:schemeClr val="tx2"/>
                </a:solidFill>
              </a:rPr>
              <a:t>Never advise bypassing warnings</a:t>
            </a:r>
            <a:endParaRPr lang="en-US" sz="1300" dirty="0"/>
          </a:p>
        </p:txBody>
      </p:sp>
      <p:sp>
        <p:nvSpPr>
          <p:cNvPr id="23" name="Text 21"/>
          <p:cNvSpPr txBox="1"/>
          <p:nvPr/>
        </p:nvSpPr>
        <p:spPr>
          <a:xfrm>
            <a:off x="9441485"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PB-15</a:t>
            </a:r>
            <a:endParaRPr lang="en-US" sz="11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RETROSPECTIVE HUNT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Any certificate chaining to these keys is presumptively forged, which makes hunting cheap</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eMudhra says the affected intermediates issued no end-entity certificates, so a single hit is an incident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Advanced Hunting retention is about 30 days; SIEM and archive retention varies. Record the gap to 30 Apr 2025 as a documented limitation (D-08).</a:t>
            </a:r>
            <a:endParaRPr lang="en-US" sz="1000" dirty="0"/>
          </a:p>
        </p:txBody>
      </p:sp>
      <p:sp>
        <p:nvSpPr>
          <p:cNvPr id="7" name="Stat value"/>
          <p:cNvSpPr txBox="1"/>
          <p:nvPr/>
        </p:nvSpPr>
        <p:spPr>
          <a:xfrm>
            <a:off x="457200" y="1920240"/>
            <a:ext cx="301752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535 days</a:t>
            </a:r>
            <a:endParaRPr lang="en-US" sz="4000" dirty="0"/>
          </a:p>
        </p:txBody>
      </p:sp>
      <p:sp>
        <p:nvSpPr>
          <p:cNvPr id="8" name="Stat label"/>
          <p:cNvSpPr txBox="1"/>
          <p:nvPr/>
        </p:nvSpPr>
        <p:spPr>
          <a:xfrm>
            <a:off x="457200" y="2651760"/>
            <a:ext cx="3017520" cy="548640"/>
          </a:xfrm>
          <a:prstGeom prst="rect">
            <a:avLst/>
          </a:prstGeom>
          <a:noFill/>
          <a:ln/>
        </p:spPr>
        <p:txBody>
          <a:bodyPr wrap="square" lIns="0" tIns="0" rIns="0" bIns="0" rtlCol="0" anchor="t"/>
          <a:lstStyle/>
          <a:p>
            <a:pPr indent="0" marL="0">
              <a:buNone/>
            </a:pPr>
            <a:r>
              <a:rPr lang="en-US" sz="1300" dirty="0">
                <a:solidFill>
                  <a:schemeClr val="tx2"/>
                </a:solidFill>
              </a:rPr>
              <a:t>from key generation (30 Apr 2025) to the first block (17 Oct 2026), and longer for unpatched clients</a:t>
            </a:r>
            <a:endParaRPr lang="en-US" sz="1300" dirty="0"/>
          </a:p>
        </p:txBody>
      </p:sp>
      <p:sp>
        <p:nvSpPr>
          <p:cNvPr id="9" name="Text 7"/>
          <p:cNvSpPr txBox="1"/>
          <p:nvPr/>
        </p:nvSpPr>
        <p:spPr>
          <a:xfrm>
            <a:off x="457200" y="3566160"/>
            <a:ext cx="3017520" cy="1188720"/>
          </a:xfrm>
          <a:prstGeom prst="rect">
            <a:avLst/>
          </a:prstGeom>
          <a:noFill/>
          <a:ln/>
        </p:spPr>
        <p:txBody>
          <a:bodyPr wrap="square" lIns="0" tIns="0" rIns="0" bIns="0" rtlCol="0" anchor="ctr"/>
          <a:lstStyle/>
          <a:p>
            <a:pPr indent="0" marL="0">
              <a:buNone/>
            </a:pPr>
            <a:r>
              <a:rPr lang="en-US" sz="1400" b="1" dirty="0">
                <a:solidFill>
                  <a:schemeClr val="tx1"/>
                </a:solidFill>
              </a:rPr>
              <a:t>Code signing is the highest-value hunt: endpoint signer telemetry often has the longest look-back.</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0" y="1920240"/>
          <a:ext cx="7894015" cy="914400"/>
        </p:xfrm>
        <a:graphic>
          <a:graphicData uri="http://schemas.openxmlformats.org/drawingml/2006/table">
            <a:tbl>
              <a:tblPr/>
              <a:tblGrid>
                <a:gridCol w="640080"/>
                <a:gridCol w="2743200"/>
                <a:gridCol w="4510735"/>
              </a:tblGrid>
              <a:tr h="475488">
                <a:tc>
                  <a:txBody>
                    <a:bodyPr/>
                    <a:lstStyle/>
                    <a:p>
                      <a:pPr indent="0" marL="0">
                        <a:buNone/>
                      </a:pPr>
                      <a:r>
                        <a:rPr lang="en-US" sz="1200" b="1" dirty="0">
                          <a:solidFill>
                            <a:schemeClr val="bg1"/>
                          </a:solidFill>
                        </a:rPr>
                        <a:t>Hunt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Data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Look for</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75488">
                <a:tc>
                  <a:txBody>
                    <a:bodyPr/>
                    <a:lstStyle/>
                    <a:p>
                      <a:pPr indent="0" marL="0">
                        <a:buNone/>
                      </a:pPr>
                      <a:r>
                        <a:rPr lang="en-US" sz="1200" b="1" dirty="0">
                          <a:solidFill>
                            <a:schemeClr val="tx1"/>
                          </a:solidFill>
                        </a:rPr>
                        <a:t>H1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EDR file-signature telemetry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Binaries signed under the two code-signing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TLS-inspection / SWG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Upstream certificates issued by the six TLS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NDR / Zeek x509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Same issuers. TLS 1.3 hides certificates from passive sensors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Application TLS logs (P1)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Peer certificate details on critical integrations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Certificate Transparency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Our domains. Google found none before the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IdP and API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Unexpected JWKS key IDs or SAML signing changes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11" name="Text 8"/>
          <p:cNvSpPr txBox="1"/>
          <p:nvPr/>
        </p:nvSpPr>
        <p:spPr>
          <a:xfrm>
            <a:off x="3840480" y="5486400"/>
            <a:ext cx="7894015" cy="365760"/>
          </a:xfrm>
          <a:prstGeom prst="rect">
            <a:avLst/>
          </a:prstGeom>
          <a:noFill/>
          <a:ln/>
        </p:spPr>
        <p:txBody>
          <a:bodyPr wrap="square" lIns="0" tIns="0" rIns="0" bIns="0" rtlCol="0" anchor="ctr"/>
          <a:lstStyle/>
          <a:p>
            <a:pPr indent="0" marL="0">
              <a:buNone/>
            </a:pPr>
            <a:r>
              <a:rPr lang="en-US" sz="1200" i="1" dirty="0">
                <a:solidFill>
                  <a:schemeClr val="tx2"/>
                </a:solidFill>
              </a:rPr>
              <a:t>Exclude *.we-have-a-problem.com: staff testing generates legitimate hits.</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WE NEED FROM YOU</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Every service returns one six-field record and closes by one of three routes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Shared platform evidence is reused: applications reference it rather than repeat it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From the eMudhraResponse pack (ACTION_PLAN, COMPLETION_TRACKER), retained unchanged. Tracker columns are in the workbook's Service tracker sheet.</a:t>
            </a:r>
            <a:endParaRPr lang="en-US" sz="1000" dirty="0"/>
          </a:p>
        </p:txBody>
      </p:sp>
      <p:sp>
        <p:nvSpPr>
          <p:cNvPr id="7" name="Text 5"/>
          <p:cNvSpPr txBox="1"/>
          <p:nvPr/>
        </p:nvSpPr>
        <p:spPr>
          <a:xfrm>
            <a:off x="457200" y="1920240"/>
            <a:ext cx="438912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Six fields</a:t>
            </a:r>
            <a:endParaRPr lang="en-US" sz="1700" dirty="0"/>
          </a:p>
        </p:txBody>
      </p:sp>
      <p:sp>
        <p:nvSpPr>
          <p:cNvPr id="8" name="Shape 6"/>
          <p:cNvSpPr/>
          <p:nvPr/>
        </p:nvSpPr>
        <p:spPr>
          <a:xfrm>
            <a:off x="457200" y="2377440"/>
            <a:ext cx="402336" cy="402336"/>
          </a:xfrm>
          <a:prstGeom prst="ellipse">
            <a:avLst/>
          </a:prstGeom>
          <a:solidFill>
            <a:schemeClr val="accent2"/>
          </a:solidFill>
          <a:ln/>
        </p:spPr>
      </p:sp>
      <p:sp>
        <p:nvSpPr>
          <p:cNvPr id="9" name="Text 7"/>
          <p:cNvSpPr txBox="1"/>
          <p:nvPr/>
        </p:nvSpPr>
        <p:spPr>
          <a:xfrm>
            <a:off x="457200" y="23774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005840" y="2377440"/>
            <a:ext cx="3840480" cy="402336"/>
          </a:xfrm>
          <a:prstGeom prst="rect">
            <a:avLst/>
          </a:prstGeom>
          <a:noFill/>
          <a:ln/>
        </p:spPr>
        <p:txBody>
          <a:bodyPr wrap="square" lIns="0" tIns="0" rIns="0" bIns="0" rtlCol="0" anchor="ctr"/>
          <a:lstStyle/>
          <a:p>
            <a:pPr indent="0" marL="0">
              <a:buNone/>
            </a:pPr>
            <a:r>
              <a:rPr lang="en-US" sz="1500" dirty="0">
                <a:solidFill>
                  <a:schemeClr val="tx1"/>
                </a:solidFill>
              </a:rPr>
              <a:t>Scope and owner</a:t>
            </a:r>
            <a:endParaRPr lang="en-US" sz="1500" dirty="0"/>
          </a:p>
        </p:txBody>
      </p:sp>
      <p:sp>
        <p:nvSpPr>
          <p:cNvPr id="11" name="Shape 9"/>
          <p:cNvSpPr/>
          <p:nvPr/>
        </p:nvSpPr>
        <p:spPr>
          <a:xfrm>
            <a:off x="457200" y="2880360"/>
            <a:ext cx="402336" cy="402336"/>
          </a:xfrm>
          <a:prstGeom prst="ellipse">
            <a:avLst/>
          </a:prstGeom>
          <a:solidFill>
            <a:schemeClr val="accent2"/>
          </a:solidFill>
          <a:ln/>
        </p:spPr>
      </p:sp>
      <p:sp>
        <p:nvSpPr>
          <p:cNvPr id="12" name="Text 10"/>
          <p:cNvSpPr txBox="1"/>
          <p:nvPr/>
        </p:nvSpPr>
        <p:spPr>
          <a:xfrm>
            <a:off x="457200" y="28803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005840" y="2880360"/>
            <a:ext cx="3840480" cy="402336"/>
          </a:xfrm>
          <a:prstGeom prst="rect">
            <a:avLst/>
          </a:prstGeom>
          <a:noFill/>
          <a:ln/>
        </p:spPr>
        <p:txBody>
          <a:bodyPr wrap="square" lIns="0" tIns="0" rIns="0" bIns="0" rtlCol="0" anchor="ctr"/>
          <a:lstStyle/>
          <a:p>
            <a:pPr indent="0" marL="0">
              <a:buNone/>
            </a:pPr>
            <a:r>
              <a:rPr lang="en-US" sz="1500" dirty="0">
                <a:solidFill>
                  <a:schemeClr val="tx1"/>
                </a:solidFill>
              </a:rPr>
              <a:t>Tier/priority and rationale</a:t>
            </a:r>
            <a:endParaRPr lang="en-US" sz="1500" dirty="0"/>
          </a:p>
        </p:txBody>
      </p:sp>
      <p:sp>
        <p:nvSpPr>
          <p:cNvPr id="14" name="Shape 12"/>
          <p:cNvSpPr/>
          <p:nvPr/>
        </p:nvSpPr>
        <p:spPr>
          <a:xfrm>
            <a:off x="457200" y="3383280"/>
            <a:ext cx="402336" cy="402336"/>
          </a:xfrm>
          <a:prstGeom prst="ellipse">
            <a:avLst/>
          </a:prstGeom>
          <a:solidFill>
            <a:schemeClr val="accent2"/>
          </a:solidFill>
          <a:ln/>
        </p:spPr>
      </p:sp>
      <p:sp>
        <p:nvSpPr>
          <p:cNvPr id="15" name="Text 13"/>
          <p:cNvSpPr txBox="1"/>
          <p:nvPr/>
        </p:nvSpPr>
        <p:spPr>
          <a:xfrm>
            <a:off x="457200" y="3383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005840" y="3383280"/>
            <a:ext cx="3840480" cy="402336"/>
          </a:xfrm>
          <a:prstGeom prst="rect">
            <a:avLst/>
          </a:prstGeom>
          <a:noFill/>
          <a:ln/>
        </p:spPr>
        <p:txBody>
          <a:bodyPr wrap="square" lIns="0" tIns="0" rIns="0" bIns="0" rtlCol="0" anchor="ctr"/>
          <a:lstStyle/>
          <a:p>
            <a:pPr indent="0" marL="0">
              <a:buNone/>
            </a:pPr>
            <a:r>
              <a:rPr lang="en-US" sz="1500" dirty="0">
                <a:solidFill>
                  <a:schemeClr val="tx1"/>
                </a:solidFill>
              </a:rPr>
              <a:t>Trust configuration</a:t>
            </a:r>
            <a:endParaRPr lang="en-US" sz="1500" dirty="0"/>
          </a:p>
        </p:txBody>
      </p:sp>
      <p:sp>
        <p:nvSpPr>
          <p:cNvPr id="17" name="Shape 15"/>
          <p:cNvSpPr/>
          <p:nvPr/>
        </p:nvSpPr>
        <p:spPr>
          <a:xfrm>
            <a:off x="457200" y="3886200"/>
            <a:ext cx="402336" cy="402336"/>
          </a:xfrm>
          <a:prstGeom prst="ellipse">
            <a:avLst/>
          </a:prstGeom>
          <a:solidFill>
            <a:schemeClr val="accent2"/>
          </a:solidFill>
          <a:ln/>
        </p:spPr>
      </p:sp>
      <p:sp>
        <p:nvSpPr>
          <p:cNvPr id="18" name="Text 16"/>
          <p:cNvSpPr txBox="1"/>
          <p:nvPr/>
        </p:nvSpPr>
        <p:spPr>
          <a:xfrm>
            <a:off x="457200" y="38862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 17"/>
          <p:cNvSpPr txBox="1"/>
          <p:nvPr/>
        </p:nvSpPr>
        <p:spPr>
          <a:xfrm>
            <a:off x="1005840" y="3886200"/>
            <a:ext cx="3840480" cy="402336"/>
          </a:xfrm>
          <a:prstGeom prst="rect">
            <a:avLst/>
          </a:prstGeom>
          <a:noFill/>
          <a:ln/>
        </p:spPr>
        <p:txBody>
          <a:bodyPr wrap="square" lIns="0" tIns="0" rIns="0" bIns="0" rtlCol="0" anchor="ctr"/>
          <a:lstStyle/>
          <a:p>
            <a:pPr indent="0" marL="0">
              <a:buNone/>
            </a:pPr>
            <a:r>
              <a:rPr lang="en-US" sz="1500" dirty="0">
                <a:solidFill>
                  <a:schemeClr val="tx1"/>
                </a:solidFill>
              </a:rPr>
              <a:t>Status and action</a:t>
            </a:r>
            <a:endParaRPr lang="en-US" sz="1500" dirty="0"/>
          </a:p>
        </p:txBody>
      </p:sp>
      <p:sp>
        <p:nvSpPr>
          <p:cNvPr id="20" name="Shape 18"/>
          <p:cNvSpPr/>
          <p:nvPr/>
        </p:nvSpPr>
        <p:spPr>
          <a:xfrm>
            <a:off x="457200" y="4389120"/>
            <a:ext cx="402336" cy="402336"/>
          </a:xfrm>
          <a:prstGeom prst="ellipse">
            <a:avLst/>
          </a:prstGeom>
          <a:solidFill>
            <a:schemeClr val="accent2"/>
          </a:solidFill>
          <a:ln/>
        </p:spPr>
      </p:sp>
      <p:sp>
        <p:nvSpPr>
          <p:cNvPr id="21" name="Text 19"/>
          <p:cNvSpPr txBox="1"/>
          <p:nvPr/>
        </p:nvSpPr>
        <p:spPr>
          <a:xfrm>
            <a:off x="457200" y="438912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20"/>
          <p:cNvSpPr txBox="1"/>
          <p:nvPr/>
        </p:nvSpPr>
        <p:spPr>
          <a:xfrm>
            <a:off x="1005840" y="4389120"/>
            <a:ext cx="3840480" cy="402336"/>
          </a:xfrm>
          <a:prstGeom prst="rect">
            <a:avLst/>
          </a:prstGeom>
          <a:noFill/>
          <a:ln/>
        </p:spPr>
        <p:txBody>
          <a:bodyPr wrap="square" lIns="0" tIns="0" rIns="0" bIns="0" rtlCol="0" anchor="ctr"/>
          <a:lstStyle/>
          <a:p>
            <a:pPr indent="0" marL="0">
              <a:buNone/>
            </a:pPr>
            <a:r>
              <a:rPr lang="en-US" sz="1500" dirty="0">
                <a:solidFill>
                  <a:schemeClr val="tx1"/>
                </a:solidFill>
              </a:rPr>
              <a:t>Evidence reference</a:t>
            </a:r>
            <a:endParaRPr lang="en-US" sz="1500" dirty="0"/>
          </a:p>
        </p:txBody>
      </p:sp>
      <p:sp>
        <p:nvSpPr>
          <p:cNvPr id="23" name="Shape 21"/>
          <p:cNvSpPr/>
          <p:nvPr/>
        </p:nvSpPr>
        <p:spPr>
          <a:xfrm>
            <a:off x="457200" y="4892040"/>
            <a:ext cx="402336" cy="402336"/>
          </a:xfrm>
          <a:prstGeom prst="ellipse">
            <a:avLst/>
          </a:prstGeom>
          <a:solidFill>
            <a:schemeClr val="accent2"/>
          </a:solidFill>
          <a:ln/>
        </p:spPr>
      </p:sp>
      <p:sp>
        <p:nvSpPr>
          <p:cNvPr id="24" name="Text 22"/>
          <p:cNvSpPr txBox="1"/>
          <p:nvPr/>
        </p:nvSpPr>
        <p:spPr>
          <a:xfrm>
            <a:off x="457200" y="48920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Text 23"/>
          <p:cNvSpPr txBox="1"/>
          <p:nvPr/>
        </p:nvSpPr>
        <p:spPr>
          <a:xfrm>
            <a:off x="1005840" y="4892040"/>
            <a:ext cx="3840480" cy="402336"/>
          </a:xfrm>
          <a:prstGeom prst="rect">
            <a:avLst/>
          </a:prstGeom>
          <a:noFill/>
          <a:ln/>
        </p:spPr>
        <p:txBody>
          <a:bodyPr wrap="square" lIns="0" tIns="0" rIns="0" bIns="0" rtlCol="0" anchor="ctr"/>
          <a:lstStyle/>
          <a:p>
            <a:pPr indent="0" marL="0">
              <a:buNone/>
            </a:pPr>
            <a:r>
              <a:rPr lang="en-US" sz="1500" dirty="0">
                <a:solidFill>
                  <a:schemeClr val="tx1"/>
                </a:solidFill>
              </a:rPr>
              <a:t>Outstanding work and date</a:t>
            </a:r>
            <a:endParaRPr lang="en-US" sz="1500" dirty="0"/>
          </a:p>
        </p:txBody>
      </p:sp>
      <p:sp>
        <p:nvSpPr>
          <p:cNvPr id="26" name="Card"/>
          <p:cNvSpPr/>
          <p:nvPr/>
        </p:nvSpPr>
        <p:spPr>
          <a:xfrm>
            <a:off x="5303520" y="1920240"/>
            <a:ext cx="6430975" cy="1024128"/>
          </a:xfrm>
          <a:prstGeom prst="rect">
            <a:avLst/>
          </a:prstGeom>
          <a:solidFill>
            <a:schemeClr val="bg2"/>
          </a:solidFill>
          <a:ln/>
        </p:spPr>
      </p:sp>
      <p:sp>
        <p:nvSpPr>
          <p:cNvPr id="27" name="Text 25"/>
          <p:cNvSpPr txBox="1"/>
          <p:nvPr/>
        </p:nvSpPr>
        <p:spPr>
          <a:xfrm>
            <a:off x="5486400" y="2029968"/>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A</a:t>
            </a:r>
            <a:endParaRPr lang="en-US" sz="3600" dirty="0"/>
          </a:p>
        </p:txBody>
      </p:sp>
      <p:sp>
        <p:nvSpPr>
          <p:cNvPr id="28" name="Text 26"/>
          <p:cNvSpPr txBox="1"/>
          <p:nvPr/>
        </p:nvSpPr>
        <p:spPr>
          <a:xfrm>
            <a:off x="6172200" y="1993392"/>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Standard platform assurance</a:t>
            </a:r>
            <a:endParaRPr lang="en-US" sz="1500" dirty="0"/>
          </a:p>
          <a:p>
            <a:pPr indent="0" marL="0">
              <a:buNone/>
            </a:pPr>
            <a:r>
              <a:rPr lang="en-US" sz="1200" dirty="0">
                <a:solidFill>
                  <a:schemeClr val="tx2"/>
                </a:solidFill>
              </a:rPr>
              <a:t>Uses a centrally remediated platform with no custom trust. Evidence: assurance record + deployment coverage + “no overrides”.</a:t>
            </a:r>
            <a:endParaRPr lang="en-US" sz="1500" dirty="0"/>
          </a:p>
        </p:txBody>
      </p:sp>
      <p:sp>
        <p:nvSpPr>
          <p:cNvPr id="29" name="Card"/>
          <p:cNvSpPr/>
          <p:nvPr/>
        </p:nvSpPr>
        <p:spPr>
          <a:xfrm>
            <a:off x="5303520" y="3081528"/>
            <a:ext cx="6430975" cy="1024128"/>
          </a:xfrm>
          <a:prstGeom prst="rect">
            <a:avLst/>
          </a:prstGeom>
          <a:solidFill>
            <a:schemeClr val="bg2"/>
          </a:solidFill>
          <a:ln/>
        </p:spPr>
      </p:sp>
      <p:sp>
        <p:nvSpPr>
          <p:cNvPr id="30" name="Text 28"/>
          <p:cNvSpPr txBox="1"/>
          <p:nvPr/>
        </p:nvSpPr>
        <p:spPr>
          <a:xfrm>
            <a:off x="5486400" y="3191256"/>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B</a:t>
            </a:r>
            <a:endParaRPr lang="en-US" sz="3600" dirty="0"/>
          </a:p>
        </p:txBody>
      </p:sp>
      <p:sp>
        <p:nvSpPr>
          <p:cNvPr id="31" name="Text 29"/>
          <p:cNvSpPr txBox="1"/>
          <p:nvPr/>
        </p:nvSpPr>
        <p:spPr>
          <a:xfrm>
            <a:off x="6172200" y="3154680"/>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Application-specific validation</a:t>
            </a:r>
            <a:endParaRPr lang="en-US" sz="1500" dirty="0"/>
          </a:p>
          <a:p>
            <a:pPr indent="0" marL="0">
              <a:buNone/>
            </a:pPr>
            <a:r>
              <a:rPr lang="en-US" sz="1200" dirty="0">
                <a:solidFill>
                  <a:schemeClr val="tx2"/>
                </a:solidFill>
              </a:rPr>
              <a:t>Custom bundles, embedded runtimes, critical paths. Evidence: fix, activation and a test through the real client.</a:t>
            </a:r>
            <a:endParaRPr lang="en-US" sz="1500" dirty="0"/>
          </a:p>
        </p:txBody>
      </p:sp>
      <p:sp>
        <p:nvSpPr>
          <p:cNvPr id="32" name="Card"/>
          <p:cNvSpPr/>
          <p:nvPr/>
        </p:nvSpPr>
        <p:spPr>
          <a:xfrm>
            <a:off x="5303520" y="4242816"/>
            <a:ext cx="6430975" cy="1024128"/>
          </a:xfrm>
          <a:prstGeom prst="rect">
            <a:avLst/>
          </a:prstGeom>
          <a:solidFill>
            <a:schemeClr val="bg2"/>
          </a:solidFill>
          <a:ln/>
        </p:spPr>
      </p:sp>
      <p:sp>
        <p:nvSpPr>
          <p:cNvPr id="33" name="Text 31"/>
          <p:cNvSpPr txBox="1"/>
          <p:nvPr/>
        </p:nvSpPr>
        <p:spPr>
          <a:xfrm>
            <a:off x="5486400" y="4352544"/>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C</a:t>
            </a:r>
            <a:endParaRPr lang="en-US" sz="3600" dirty="0"/>
          </a:p>
        </p:txBody>
      </p:sp>
      <p:sp>
        <p:nvSpPr>
          <p:cNvPr id="34" name="Text 32"/>
          <p:cNvSpPr txBox="1"/>
          <p:nvPr/>
        </p:nvSpPr>
        <p:spPr>
          <a:xfrm>
            <a:off x="6172200" y="4315968"/>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Not applicable to the assessed role</a:t>
            </a:r>
            <a:endParaRPr lang="en-US" sz="1500" dirty="0"/>
          </a:p>
          <a:p>
            <a:pPr indent="0" marL="0">
              <a:buNone/>
            </a:pPr>
            <a:r>
              <a:rPr lang="en-US" sz="1200" dirty="0">
                <a:solidFill>
                  <a:schemeClr val="tx2"/>
                </a:solidFill>
              </a:rPr>
              <a:t>Serve-only or private-CA-only, with evidence. “We don't buy eMudhra certificates” is not a reason.</a:t>
            </a:r>
            <a:endParaRPr lang="en-US" sz="1500" dirty="0"/>
          </a:p>
        </p:txBody>
      </p:sp>
      <p:sp>
        <p:nvSpPr>
          <p:cNvPr id="35" name="Rules band"/>
          <p:cNvSpPr/>
          <p:nvPr/>
        </p:nvSpPr>
        <p:spPr>
          <a:xfrm>
            <a:off x="457200" y="5559552"/>
            <a:ext cx="11277295" cy="502920"/>
          </a:xfrm>
          <a:prstGeom prst="rect">
            <a:avLst/>
          </a:prstGeom>
          <a:solidFill>
            <a:schemeClr val="tx1"/>
          </a:solidFill>
          <a:ln/>
        </p:spPr>
      </p:sp>
      <p:sp>
        <p:nvSpPr>
          <p:cNvPr id="36" name="Text 34"/>
          <p:cNvSpPr txBox="1"/>
          <p:nvPr/>
        </p:nvSpPr>
        <p:spPr>
          <a:xfrm>
            <a:off x="457200" y="5559552"/>
            <a:ext cx="11277295" cy="502920"/>
          </a:xfrm>
          <a:prstGeom prst="rect">
            <a:avLst/>
          </a:prstGeom>
          <a:noFill/>
          <a:ln/>
        </p:spPr>
        <p:txBody>
          <a:bodyPr wrap="square" lIns="0" tIns="0" rIns="0" bIns="0" rtlCol="0" anchor="ctr"/>
          <a:lstStyle/>
          <a:p>
            <a:pPr algn="ctr" indent="0" marL="0">
              <a:buNone/>
            </a:pPr>
            <a:r>
              <a:rPr lang="en-US" sz="1400" b="1" dirty="0">
                <a:solidFill>
                  <a:schemeClr val="bg1"/>
                </a:solidFill>
              </a:rPr>
              <a:t>Unknown ≠ low   ·   Clean scan ≠ protected   ·   Deleting a cached intermediate ≠ distrust   ·   Adding CAs never removes trust</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ill"/>
          <p:cNvSpPr/>
          <p:nvPr/>
        </p:nvSpPr>
        <p:spPr>
          <a:xfrm>
            <a:off x="457200" y="292608"/>
            <a:ext cx="1426464" cy="256032"/>
          </a:xfrm>
          <a:prstGeom prst="roundRect">
            <a:avLst>
              <a:gd name="adj" fmla="val 50000"/>
            </a:avLst>
          </a:prstGeom>
          <a:solidFill>
            <a:schemeClr val="bg2"/>
          </a:solidFill>
          <a:ln/>
        </p:spPr>
      </p:sp>
      <p:sp>
        <p:nvSpPr>
          <p:cNvPr id="3" name="Eyebrow"/>
          <p:cNvSpPr txBox="1"/>
          <p:nvPr/>
        </p:nvSpPr>
        <p:spPr>
          <a:xfrm>
            <a:off x="457200" y="292608"/>
            <a:ext cx="142646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RESPONSIBILITIES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Each team owns its shared components, and applications point at that evidence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First actions for the next 72 hours (to 29 October)</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Map each functional team to a named owner and queue. No messages have been sent.</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2926080"/>
                <a:gridCol w="6519672"/>
                <a:gridCol w="1828800"/>
              </a:tblGrid>
              <a:tr h="374904">
                <a:tc>
                  <a:txBody>
                    <a:bodyPr/>
                    <a:lstStyle/>
                    <a:p>
                      <a:pPr indent="0" marL="0">
                        <a:buNone/>
                      </a:pPr>
                      <a:r>
                        <a:rPr lang="en-US" sz="1200" b="1" dirty="0">
                          <a:solidFill>
                            <a:schemeClr val="bg1"/>
                          </a:solidFill>
                        </a:rPr>
                        <a:t>Team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First action (72 h)</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Playbook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74904">
                <a:tc>
                  <a:txBody>
                    <a:bodyPr/>
                    <a:lstStyle/>
                    <a:p>
                      <a:pPr indent="0" marL="0">
                        <a:buNone/>
                      </a:pPr>
                      <a:r>
                        <a:rPr lang="en-US" sz="1200" b="1" dirty="0">
                          <a:solidFill>
                            <a:schemeClr val="tx1"/>
                          </a:solidFill>
                        </a:rPr>
                        <a:t>Network / security engineering</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Validate inspection proxy; set block on untrusted upstream; share issuer-log query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PKI / certificate management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Replace our emSign ECC G3 certificates; publish test matrix and certificate reference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PB-13, PB-00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IAM / API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Assess JWKS, SAML metadata and inbound mTLS trust lists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Container platform / DevSecOps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Rebuild base images; fix artifact-proxy JVM; list workloads by digest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PB-08</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Linux and Windows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Publish Route A records per build; distribute disallowed certs where auto-update is off</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PB-02, PB-03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Desktop / EUC and mobile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Coverage report against the four proviso conditions; inventory non-browser apps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PB-01, PB-10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Application owners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Identify runtime and trust store; P1 paths first; return the six-field record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PB-04 to PB-07</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Endpoint security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Check application-control publisher rules; Windows distrust coverage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SOC</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Start hunts H1 and H2; record retention per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Supplier management / service desk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Requests to critical suppliers; knowledge article live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PB-11, PB-15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FIND YOUR PLAYBOOK</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Seventeen playbooks, one format: applies if, fix, verify, record, escalate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Indexed by team and by what you run, in playbooks/README.md</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Playbooks reorganise the pack's REMEDIATION_OPTIONS and APPLICATION_VALIDATION content and add the gaps from the review. Commands are illustrative and not yet run against our estate.</a:t>
            </a:r>
            <a:endParaRPr lang="en-US" sz="1000" dirty="0"/>
          </a:p>
        </p:txBody>
      </p:sp>
      <p:sp>
        <p:nvSpPr>
          <p:cNvPr id="7" name="Playbook tile"/>
          <p:cNvSpPr/>
          <p:nvPr/>
        </p:nvSpPr>
        <p:spPr>
          <a:xfrm>
            <a:off x="457200" y="1920240"/>
            <a:ext cx="1742389" cy="1078992"/>
          </a:xfrm>
          <a:prstGeom prst="rect">
            <a:avLst/>
          </a:prstGeom>
          <a:solidFill>
            <a:schemeClr val="accent1"/>
          </a:solidFill>
          <a:ln/>
        </p:spPr>
      </p:sp>
      <p:sp>
        <p:nvSpPr>
          <p:cNvPr id="8" name="Text 6"/>
          <p:cNvSpPr txBox="1"/>
          <p:nvPr/>
        </p:nvSpPr>
        <p:spPr>
          <a:xfrm>
            <a:off x="594360"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PB-00</a:t>
            </a:r>
            <a:endParaRPr lang="en-US" sz="1400" dirty="0"/>
          </a:p>
          <a:p>
            <a:pPr indent="0" marL="0">
              <a:buNone/>
            </a:pPr>
            <a:r>
              <a:rPr lang="en-US" sz="1300" dirty="0">
                <a:solidFill>
                  <a:schemeClr val="bg1"/>
                </a:solidFill>
              </a:rPr>
              <a:t>Test and evidence</a:t>
            </a:r>
            <a:endParaRPr lang="en-US" sz="1400" dirty="0"/>
          </a:p>
        </p:txBody>
      </p:sp>
      <p:sp>
        <p:nvSpPr>
          <p:cNvPr id="9" name="Playbook tile"/>
          <p:cNvSpPr/>
          <p:nvPr/>
        </p:nvSpPr>
        <p:spPr>
          <a:xfrm>
            <a:off x="2364181" y="1920240"/>
            <a:ext cx="1742389" cy="1078992"/>
          </a:xfrm>
          <a:prstGeom prst="rect">
            <a:avLst/>
          </a:prstGeom>
          <a:solidFill>
            <a:schemeClr val="tx1"/>
          </a:solidFill>
          <a:ln/>
        </p:spPr>
      </p:sp>
      <p:sp>
        <p:nvSpPr>
          <p:cNvPr id="10" name="Text 8"/>
          <p:cNvSpPr txBox="1"/>
          <p:nvPr/>
        </p:nvSpPr>
        <p:spPr>
          <a:xfrm>
            <a:off x="2501341"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PB-01</a:t>
            </a:r>
            <a:endParaRPr lang="en-US" sz="1400" dirty="0"/>
          </a:p>
          <a:p>
            <a:pPr indent="0" marL="0">
              <a:buNone/>
            </a:pPr>
            <a:r>
              <a:rPr lang="en-US" sz="1300" dirty="0">
                <a:solidFill>
                  <a:schemeClr val="bg1"/>
                </a:solidFill>
              </a:rPr>
              <a:t>Browsers and desktop OS</a:t>
            </a:r>
            <a:endParaRPr lang="en-US" sz="1400" dirty="0"/>
          </a:p>
        </p:txBody>
      </p:sp>
      <p:sp>
        <p:nvSpPr>
          <p:cNvPr id="11" name="Playbook tile"/>
          <p:cNvSpPr/>
          <p:nvPr/>
        </p:nvSpPr>
        <p:spPr>
          <a:xfrm>
            <a:off x="4271162" y="1920240"/>
            <a:ext cx="1742389" cy="1078992"/>
          </a:xfrm>
          <a:prstGeom prst="rect">
            <a:avLst/>
          </a:prstGeom>
          <a:solidFill>
            <a:schemeClr val="tx1"/>
          </a:solidFill>
          <a:ln/>
        </p:spPr>
      </p:sp>
      <p:sp>
        <p:nvSpPr>
          <p:cNvPr id="12" name="Text 10"/>
          <p:cNvSpPr txBox="1"/>
          <p:nvPr/>
        </p:nvSpPr>
        <p:spPr>
          <a:xfrm>
            <a:off x="4408322"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PB-02</a:t>
            </a:r>
            <a:endParaRPr lang="en-US" sz="1400" dirty="0"/>
          </a:p>
          <a:p>
            <a:pPr indent="0" marL="0">
              <a:buNone/>
            </a:pPr>
            <a:r>
              <a:rPr lang="en-US" sz="1300" dirty="0">
                <a:solidFill>
                  <a:schemeClr val="bg1"/>
                </a:solidFill>
              </a:rPr>
              <a:t>Windows and .NET</a:t>
            </a:r>
            <a:endParaRPr lang="en-US" sz="1400" dirty="0"/>
          </a:p>
        </p:txBody>
      </p:sp>
      <p:sp>
        <p:nvSpPr>
          <p:cNvPr id="13" name="Playbook tile"/>
          <p:cNvSpPr/>
          <p:nvPr/>
        </p:nvSpPr>
        <p:spPr>
          <a:xfrm>
            <a:off x="6178144" y="1920240"/>
            <a:ext cx="1742389" cy="1078992"/>
          </a:xfrm>
          <a:prstGeom prst="rect">
            <a:avLst/>
          </a:prstGeom>
          <a:solidFill>
            <a:schemeClr val="tx1"/>
          </a:solidFill>
          <a:ln/>
        </p:spPr>
      </p:sp>
      <p:sp>
        <p:nvSpPr>
          <p:cNvPr id="14" name="Text 12"/>
          <p:cNvSpPr txBox="1"/>
          <p:nvPr/>
        </p:nvSpPr>
        <p:spPr>
          <a:xfrm>
            <a:off x="6315304"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PB-03</a:t>
            </a:r>
            <a:endParaRPr lang="en-US" sz="1400" dirty="0"/>
          </a:p>
          <a:p>
            <a:pPr indent="0" marL="0">
              <a:buNone/>
            </a:pPr>
            <a:r>
              <a:rPr lang="en-US" sz="1300" dirty="0">
                <a:solidFill>
                  <a:schemeClr val="bg1"/>
                </a:solidFill>
              </a:rPr>
              <a:t>Linux, Unix, macOS CLI</a:t>
            </a:r>
            <a:endParaRPr lang="en-US" sz="1400" dirty="0"/>
          </a:p>
        </p:txBody>
      </p:sp>
      <p:sp>
        <p:nvSpPr>
          <p:cNvPr id="15" name="Playbook tile"/>
          <p:cNvSpPr/>
          <p:nvPr/>
        </p:nvSpPr>
        <p:spPr>
          <a:xfrm>
            <a:off x="8085125" y="1920240"/>
            <a:ext cx="1742389" cy="1078992"/>
          </a:xfrm>
          <a:prstGeom prst="rect">
            <a:avLst/>
          </a:prstGeom>
          <a:solidFill>
            <a:schemeClr val="accent2"/>
          </a:solidFill>
          <a:ln/>
        </p:spPr>
      </p:sp>
      <p:sp>
        <p:nvSpPr>
          <p:cNvPr id="16" name="Text 14"/>
          <p:cNvSpPr txBox="1"/>
          <p:nvPr/>
        </p:nvSpPr>
        <p:spPr>
          <a:xfrm>
            <a:off x="8222285"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PB-04</a:t>
            </a:r>
            <a:endParaRPr lang="en-US" sz="1400" dirty="0"/>
          </a:p>
          <a:p>
            <a:pPr indent="0" marL="0">
              <a:buNone/>
            </a:pPr>
            <a:r>
              <a:rPr lang="en-US" sz="1300" dirty="0">
                <a:solidFill>
                  <a:schemeClr val="bg1"/>
                </a:solidFill>
              </a:rPr>
              <a:t>Java</a:t>
            </a:r>
            <a:endParaRPr lang="en-US" sz="1400" dirty="0"/>
          </a:p>
        </p:txBody>
      </p:sp>
      <p:sp>
        <p:nvSpPr>
          <p:cNvPr id="17" name="Playbook tile"/>
          <p:cNvSpPr/>
          <p:nvPr/>
        </p:nvSpPr>
        <p:spPr>
          <a:xfrm>
            <a:off x="9992106" y="1920240"/>
            <a:ext cx="1742389" cy="1078992"/>
          </a:xfrm>
          <a:prstGeom prst="rect">
            <a:avLst/>
          </a:prstGeom>
          <a:solidFill>
            <a:schemeClr val="accent2"/>
          </a:solidFill>
          <a:ln/>
        </p:spPr>
      </p:sp>
      <p:sp>
        <p:nvSpPr>
          <p:cNvPr id="18" name="Text 16"/>
          <p:cNvSpPr txBox="1"/>
          <p:nvPr/>
        </p:nvSpPr>
        <p:spPr>
          <a:xfrm>
            <a:off x="10129266"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PB-05</a:t>
            </a:r>
            <a:endParaRPr lang="en-US" sz="1400" dirty="0"/>
          </a:p>
          <a:p>
            <a:pPr indent="0" marL="0">
              <a:buNone/>
            </a:pPr>
            <a:r>
              <a:rPr lang="en-US" sz="1300" dirty="0">
                <a:solidFill>
                  <a:schemeClr val="bg1"/>
                </a:solidFill>
              </a:rPr>
              <a:t>Python</a:t>
            </a:r>
            <a:endParaRPr lang="en-US" sz="1400" dirty="0"/>
          </a:p>
        </p:txBody>
      </p:sp>
      <p:sp>
        <p:nvSpPr>
          <p:cNvPr id="19" name="Playbook tile"/>
          <p:cNvSpPr/>
          <p:nvPr/>
        </p:nvSpPr>
        <p:spPr>
          <a:xfrm>
            <a:off x="457200" y="3163824"/>
            <a:ext cx="1742389" cy="1078992"/>
          </a:xfrm>
          <a:prstGeom prst="rect">
            <a:avLst/>
          </a:prstGeom>
          <a:solidFill>
            <a:schemeClr val="accent2"/>
          </a:solidFill>
          <a:ln/>
        </p:spPr>
      </p:sp>
      <p:sp>
        <p:nvSpPr>
          <p:cNvPr id="20" name="Text 18"/>
          <p:cNvSpPr txBox="1"/>
          <p:nvPr/>
        </p:nvSpPr>
        <p:spPr>
          <a:xfrm>
            <a:off x="594360"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PB-06</a:t>
            </a:r>
            <a:endParaRPr lang="en-US" sz="1400" dirty="0"/>
          </a:p>
          <a:p>
            <a:pPr indent="0" marL="0">
              <a:buNone/>
            </a:pPr>
            <a:r>
              <a:rPr lang="en-US" sz="1300" dirty="0">
                <a:solidFill>
                  <a:schemeClr val="bg1"/>
                </a:solidFill>
              </a:rPr>
              <a:t>Node.js and Electron</a:t>
            </a:r>
            <a:endParaRPr lang="en-US" sz="1400" dirty="0"/>
          </a:p>
        </p:txBody>
      </p:sp>
      <p:sp>
        <p:nvSpPr>
          <p:cNvPr id="21" name="Playbook tile"/>
          <p:cNvSpPr/>
          <p:nvPr/>
        </p:nvSpPr>
        <p:spPr>
          <a:xfrm>
            <a:off x="2364181" y="3163824"/>
            <a:ext cx="1742389" cy="1078992"/>
          </a:xfrm>
          <a:prstGeom prst="rect">
            <a:avLst/>
          </a:prstGeom>
          <a:solidFill>
            <a:schemeClr val="accent2"/>
          </a:solidFill>
          <a:ln/>
        </p:spPr>
      </p:sp>
      <p:sp>
        <p:nvSpPr>
          <p:cNvPr id="22" name="Text 20"/>
          <p:cNvSpPr txBox="1"/>
          <p:nvPr/>
        </p:nvSpPr>
        <p:spPr>
          <a:xfrm>
            <a:off x="2501341"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PB-07</a:t>
            </a:r>
            <a:endParaRPr lang="en-US" sz="1400" dirty="0"/>
          </a:p>
          <a:p>
            <a:pPr indent="0" marL="0">
              <a:buNone/>
            </a:pPr>
            <a:r>
              <a:rPr lang="en-US" sz="1300" dirty="0">
                <a:solidFill>
                  <a:schemeClr val="bg1"/>
                </a:solidFill>
              </a:rPr>
              <a:t>Go, Rust, PHP, Ruby</a:t>
            </a:r>
            <a:endParaRPr lang="en-US" sz="1400" dirty="0"/>
          </a:p>
        </p:txBody>
      </p:sp>
      <p:sp>
        <p:nvSpPr>
          <p:cNvPr id="23" name="Playbook tile"/>
          <p:cNvSpPr/>
          <p:nvPr/>
        </p:nvSpPr>
        <p:spPr>
          <a:xfrm>
            <a:off x="4271162" y="3163824"/>
            <a:ext cx="1742389" cy="1078992"/>
          </a:xfrm>
          <a:prstGeom prst="rect">
            <a:avLst/>
          </a:prstGeom>
          <a:solidFill>
            <a:schemeClr val="accent5"/>
          </a:solidFill>
          <a:ln/>
        </p:spPr>
      </p:sp>
      <p:sp>
        <p:nvSpPr>
          <p:cNvPr id="24" name="Text 22"/>
          <p:cNvSpPr txBox="1"/>
          <p:nvPr/>
        </p:nvSpPr>
        <p:spPr>
          <a:xfrm>
            <a:off x="4408322"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PB-08</a:t>
            </a:r>
            <a:endParaRPr lang="en-US" sz="1400" dirty="0"/>
          </a:p>
          <a:p>
            <a:pPr indent="0" marL="0">
              <a:buNone/>
            </a:pPr>
            <a:r>
              <a:rPr lang="en-US" sz="1300" dirty="0">
                <a:solidFill>
                  <a:schemeClr val="bg1"/>
                </a:solidFill>
              </a:rPr>
              <a:t>Containers and CI/CD</a:t>
            </a:r>
            <a:endParaRPr lang="en-US" sz="1400" dirty="0"/>
          </a:p>
        </p:txBody>
      </p:sp>
      <p:sp>
        <p:nvSpPr>
          <p:cNvPr id="25" name="Playbook tile"/>
          <p:cNvSpPr/>
          <p:nvPr/>
        </p:nvSpPr>
        <p:spPr>
          <a:xfrm>
            <a:off x="6178144" y="3163824"/>
            <a:ext cx="1742389" cy="1078992"/>
          </a:xfrm>
          <a:prstGeom prst="rect">
            <a:avLst/>
          </a:prstGeom>
          <a:solidFill>
            <a:schemeClr val="accent5"/>
          </a:solidFill>
          <a:ln/>
        </p:spPr>
      </p:sp>
      <p:sp>
        <p:nvSpPr>
          <p:cNvPr id="26" name="Text 24"/>
          <p:cNvSpPr txBox="1"/>
          <p:nvPr/>
        </p:nvSpPr>
        <p:spPr>
          <a:xfrm>
            <a:off x="6315304"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PB-09</a:t>
            </a:r>
            <a:endParaRPr lang="en-US" sz="1400" dirty="0"/>
          </a:p>
          <a:p>
            <a:pPr indent="0" marL="0">
              <a:buNone/>
            </a:pPr>
            <a:r>
              <a:rPr lang="en-US" sz="1300" dirty="0">
                <a:solidFill>
                  <a:schemeClr val="bg1"/>
                </a:solidFill>
              </a:rPr>
              <a:t>Proxies and TLS inspection</a:t>
            </a:r>
            <a:endParaRPr lang="en-US" sz="1400" dirty="0"/>
          </a:p>
        </p:txBody>
      </p:sp>
      <p:sp>
        <p:nvSpPr>
          <p:cNvPr id="27" name="Playbook tile"/>
          <p:cNvSpPr/>
          <p:nvPr/>
        </p:nvSpPr>
        <p:spPr>
          <a:xfrm>
            <a:off x="8085125" y="3163824"/>
            <a:ext cx="1742389" cy="1078992"/>
          </a:xfrm>
          <a:prstGeom prst="rect">
            <a:avLst/>
          </a:prstGeom>
          <a:solidFill>
            <a:schemeClr val="accent5"/>
          </a:solidFill>
          <a:ln/>
        </p:spPr>
      </p:sp>
      <p:sp>
        <p:nvSpPr>
          <p:cNvPr id="28" name="Text 26"/>
          <p:cNvSpPr txBox="1"/>
          <p:nvPr/>
        </p:nvSpPr>
        <p:spPr>
          <a:xfrm>
            <a:off x="8222285"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PB-10</a:t>
            </a:r>
            <a:endParaRPr lang="en-US" sz="1400" dirty="0"/>
          </a:p>
          <a:p>
            <a:pPr indent="0" marL="0">
              <a:buNone/>
            </a:pPr>
            <a:r>
              <a:rPr lang="en-US" sz="1300" dirty="0">
                <a:solidFill>
                  <a:schemeClr val="bg1"/>
                </a:solidFill>
              </a:rPr>
              <a:t>Mobile</a:t>
            </a:r>
            <a:endParaRPr lang="en-US" sz="1400" dirty="0"/>
          </a:p>
        </p:txBody>
      </p:sp>
      <p:sp>
        <p:nvSpPr>
          <p:cNvPr id="29" name="Playbook tile"/>
          <p:cNvSpPr/>
          <p:nvPr/>
        </p:nvSpPr>
        <p:spPr>
          <a:xfrm>
            <a:off x="9992106" y="3163824"/>
            <a:ext cx="1742389" cy="1078992"/>
          </a:xfrm>
          <a:prstGeom prst="rect">
            <a:avLst/>
          </a:prstGeom>
          <a:solidFill>
            <a:schemeClr val="accent5"/>
          </a:solidFill>
          <a:ln/>
        </p:spPr>
      </p:sp>
      <p:sp>
        <p:nvSpPr>
          <p:cNvPr id="30" name="Text 28"/>
          <p:cNvSpPr txBox="1"/>
          <p:nvPr/>
        </p:nvSpPr>
        <p:spPr>
          <a:xfrm>
            <a:off x="10129266"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PB-11</a:t>
            </a:r>
            <a:endParaRPr lang="en-US" sz="1400" dirty="0"/>
          </a:p>
          <a:p>
            <a:pPr indent="0" marL="0">
              <a:buNone/>
            </a:pPr>
            <a:r>
              <a:rPr lang="en-US" sz="1300" dirty="0">
                <a:solidFill>
                  <a:schemeClr val="bg1"/>
                </a:solidFill>
              </a:rPr>
              <a:t>Vendors and suppliers</a:t>
            </a:r>
            <a:endParaRPr lang="en-US" sz="1400" dirty="0"/>
          </a:p>
        </p:txBody>
      </p:sp>
      <p:sp>
        <p:nvSpPr>
          <p:cNvPr id="31" name="Playbook tile"/>
          <p:cNvSpPr/>
          <p:nvPr/>
        </p:nvSpPr>
        <p:spPr>
          <a:xfrm>
            <a:off x="457200" y="4407408"/>
            <a:ext cx="1742389" cy="1078992"/>
          </a:xfrm>
          <a:prstGeom prst="rect">
            <a:avLst/>
          </a:prstGeom>
          <a:solidFill>
            <a:schemeClr val="accent1"/>
          </a:solidFill>
          <a:ln/>
        </p:spPr>
      </p:sp>
      <p:sp>
        <p:nvSpPr>
          <p:cNvPr id="32" name="Text 30"/>
          <p:cNvSpPr txBox="1"/>
          <p:nvPr/>
        </p:nvSpPr>
        <p:spPr>
          <a:xfrm>
            <a:off x="594360"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PB-12</a:t>
            </a:r>
            <a:endParaRPr lang="en-US" sz="1400" dirty="0"/>
          </a:p>
          <a:p>
            <a:pPr indent="0" marL="0">
              <a:buNone/>
            </a:pPr>
            <a:r>
              <a:rPr lang="en-US" sz="1300" dirty="0">
                <a:solidFill>
                  <a:schemeClr val="bg1"/>
                </a:solidFill>
              </a:rPr>
              <a:t>Code signing</a:t>
            </a:r>
            <a:endParaRPr lang="en-US" sz="1400" dirty="0"/>
          </a:p>
        </p:txBody>
      </p:sp>
      <p:sp>
        <p:nvSpPr>
          <p:cNvPr id="33" name="Playbook tile"/>
          <p:cNvSpPr/>
          <p:nvPr/>
        </p:nvSpPr>
        <p:spPr>
          <a:xfrm>
            <a:off x="2364181" y="4407408"/>
            <a:ext cx="1742389" cy="1078992"/>
          </a:xfrm>
          <a:prstGeom prst="rect">
            <a:avLst/>
          </a:prstGeom>
          <a:solidFill>
            <a:schemeClr val="accent1"/>
          </a:solidFill>
          <a:ln/>
        </p:spPr>
      </p:sp>
      <p:sp>
        <p:nvSpPr>
          <p:cNvPr id="34" name="Text 32"/>
          <p:cNvSpPr txBox="1"/>
          <p:nvPr/>
        </p:nvSpPr>
        <p:spPr>
          <a:xfrm>
            <a:off x="2501341"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PB-13</a:t>
            </a:r>
            <a:endParaRPr lang="en-US" sz="1400" dirty="0"/>
          </a:p>
          <a:p>
            <a:pPr indent="0" marL="0">
              <a:buNone/>
            </a:pPr>
            <a:r>
              <a:rPr lang="en-US" sz="1300" dirty="0">
                <a:solidFill>
                  <a:schemeClr val="bg1"/>
                </a:solidFill>
              </a:rPr>
              <a:t>Our certificates and availability</a:t>
            </a:r>
            <a:endParaRPr lang="en-US" sz="1400" dirty="0"/>
          </a:p>
        </p:txBody>
      </p:sp>
      <p:sp>
        <p:nvSpPr>
          <p:cNvPr id="35" name="Playbook tile"/>
          <p:cNvSpPr/>
          <p:nvPr/>
        </p:nvSpPr>
        <p:spPr>
          <a:xfrm>
            <a:off x="4271162" y="4407408"/>
            <a:ext cx="1742389" cy="1078992"/>
          </a:xfrm>
          <a:prstGeom prst="rect">
            <a:avLst/>
          </a:prstGeom>
          <a:solidFill>
            <a:schemeClr val="accent1"/>
          </a:solidFill>
          <a:ln/>
        </p:spPr>
      </p:sp>
      <p:sp>
        <p:nvSpPr>
          <p:cNvPr id="36" name="Text 34"/>
          <p:cNvSpPr txBox="1"/>
          <p:nvPr/>
        </p:nvSpPr>
        <p:spPr>
          <a:xfrm>
            <a:off x="4408322"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PB-14</a:t>
            </a:r>
            <a:endParaRPr lang="en-US" sz="1400" dirty="0"/>
          </a:p>
          <a:p>
            <a:pPr indent="0" marL="0">
              <a:buNone/>
            </a:pPr>
            <a:r>
              <a:rPr lang="en-US" sz="1300" dirty="0">
                <a:solidFill>
                  <a:schemeClr val="bg1"/>
                </a:solidFill>
              </a:rPr>
              <a:t>SOC threat hunt</a:t>
            </a:r>
            <a:endParaRPr lang="en-US" sz="1400" dirty="0"/>
          </a:p>
        </p:txBody>
      </p:sp>
      <p:sp>
        <p:nvSpPr>
          <p:cNvPr id="37" name="Playbook tile"/>
          <p:cNvSpPr/>
          <p:nvPr/>
        </p:nvSpPr>
        <p:spPr>
          <a:xfrm>
            <a:off x="6178144" y="4407408"/>
            <a:ext cx="1742389" cy="1078992"/>
          </a:xfrm>
          <a:prstGeom prst="rect">
            <a:avLst/>
          </a:prstGeom>
          <a:solidFill>
            <a:schemeClr val="accent1"/>
          </a:solidFill>
          <a:ln/>
        </p:spPr>
      </p:sp>
      <p:sp>
        <p:nvSpPr>
          <p:cNvPr id="38" name="Text 36"/>
          <p:cNvSpPr txBox="1"/>
          <p:nvPr/>
        </p:nvSpPr>
        <p:spPr>
          <a:xfrm>
            <a:off x="6315304"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PB-15</a:t>
            </a:r>
            <a:endParaRPr lang="en-US" sz="1400" dirty="0"/>
          </a:p>
          <a:p>
            <a:pPr indent="0" marL="0">
              <a:buNone/>
            </a:pPr>
            <a:r>
              <a:rPr lang="en-US" sz="1300" dirty="0">
                <a:solidFill>
                  <a:schemeClr val="bg1"/>
                </a:solidFill>
              </a:rPr>
              <a:t>Service desk</a:t>
            </a:r>
            <a:endParaRPr lang="en-US" sz="1400" dirty="0"/>
          </a:p>
        </p:txBody>
      </p:sp>
      <p:sp>
        <p:nvSpPr>
          <p:cNvPr id="39" name="Playbook tile"/>
          <p:cNvSpPr/>
          <p:nvPr/>
        </p:nvSpPr>
        <p:spPr>
          <a:xfrm>
            <a:off x="8085125" y="4407408"/>
            <a:ext cx="1742389" cy="1078992"/>
          </a:xfrm>
          <a:prstGeom prst="rect">
            <a:avLst/>
          </a:prstGeom>
          <a:solidFill>
            <a:schemeClr val="accent1"/>
          </a:solidFill>
          <a:ln/>
        </p:spPr>
      </p:sp>
      <p:sp>
        <p:nvSpPr>
          <p:cNvPr id="40" name="Text 38"/>
          <p:cNvSpPr txBox="1"/>
          <p:nvPr/>
        </p:nvSpPr>
        <p:spPr>
          <a:xfrm>
            <a:off x="8222285"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PB-16</a:t>
            </a:r>
            <a:endParaRPr lang="en-US" sz="1400" dirty="0"/>
          </a:p>
          <a:p>
            <a:pPr indent="0" marL="0">
              <a:buNone/>
            </a:pPr>
            <a:r>
              <a:rPr lang="en-US" sz="1300" dirty="0">
                <a:solidFill>
                  <a:schemeClr val="bg1"/>
                </a:solidFill>
              </a:rPr>
              <a:t>Identity and mTLS</a:t>
            </a:r>
            <a:endParaRPr lang="en-US" sz="1400" dirty="0"/>
          </a:p>
        </p:txBody>
      </p:sp>
      <p:sp>
        <p:nvSpPr>
          <p:cNvPr id="41" name="Shape 39"/>
          <p:cNvSpPr/>
          <p:nvPr/>
        </p:nvSpPr>
        <p:spPr>
          <a:xfrm>
            <a:off x="10037826" y="4453128"/>
            <a:ext cx="164592" cy="164592"/>
          </a:xfrm>
          <a:prstGeom prst="rect">
            <a:avLst/>
          </a:prstGeom>
          <a:solidFill>
            <a:schemeClr val="tx1"/>
          </a:solidFill>
          <a:ln/>
        </p:spPr>
      </p:sp>
      <p:sp>
        <p:nvSpPr>
          <p:cNvPr id="42" name="Text 40"/>
          <p:cNvSpPr txBox="1"/>
          <p:nvPr/>
        </p:nvSpPr>
        <p:spPr>
          <a:xfrm>
            <a:off x="10275570" y="4416552"/>
            <a:ext cx="1559509" cy="237744"/>
          </a:xfrm>
          <a:prstGeom prst="rect">
            <a:avLst/>
          </a:prstGeom>
          <a:noFill/>
          <a:ln/>
        </p:spPr>
        <p:txBody>
          <a:bodyPr wrap="square" lIns="0" tIns="0" rIns="0" bIns="0" rtlCol="0" anchor="ctr"/>
          <a:lstStyle/>
          <a:p>
            <a:pPr indent="0" marL="0">
              <a:buNone/>
            </a:pPr>
            <a:r>
              <a:rPr lang="en-US" sz="1000" dirty="0">
                <a:solidFill>
                  <a:schemeClr val="tx2"/>
                </a:solidFill>
              </a:rPr>
              <a:t>Platforms</a:t>
            </a:r>
            <a:endParaRPr lang="en-US" sz="1000" dirty="0"/>
          </a:p>
        </p:txBody>
      </p:sp>
      <p:sp>
        <p:nvSpPr>
          <p:cNvPr id="43" name="Shape 41"/>
          <p:cNvSpPr/>
          <p:nvPr/>
        </p:nvSpPr>
        <p:spPr>
          <a:xfrm>
            <a:off x="10037826" y="4700016"/>
            <a:ext cx="164592" cy="164592"/>
          </a:xfrm>
          <a:prstGeom prst="rect">
            <a:avLst/>
          </a:prstGeom>
          <a:solidFill>
            <a:schemeClr val="accent2"/>
          </a:solidFill>
          <a:ln/>
        </p:spPr>
      </p:sp>
      <p:sp>
        <p:nvSpPr>
          <p:cNvPr id="44" name="Text 42"/>
          <p:cNvSpPr txBox="1"/>
          <p:nvPr/>
        </p:nvSpPr>
        <p:spPr>
          <a:xfrm>
            <a:off x="10275570" y="4663440"/>
            <a:ext cx="1559509" cy="237744"/>
          </a:xfrm>
          <a:prstGeom prst="rect">
            <a:avLst/>
          </a:prstGeom>
          <a:noFill/>
          <a:ln/>
        </p:spPr>
        <p:txBody>
          <a:bodyPr wrap="square" lIns="0" tIns="0" rIns="0" bIns="0" rtlCol="0" anchor="ctr"/>
          <a:lstStyle/>
          <a:p>
            <a:pPr indent="0" marL="0">
              <a:buNone/>
            </a:pPr>
            <a:r>
              <a:rPr lang="en-US" sz="1000" dirty="0">
                <a:solidFill>
                  <a:schemeClr val="tx2"/>
                </a:solidFill>
              </a:rPr>
              <a:t>Runtimes</a:t>
            </a:r>
            <a:endParaRPr lang="en-US" sz="1000" dirty="0"/>
          </a:p>
        </p:txBody>
      </p:sp>
      <p:sp>
        <p:nvSpPr>
          <p:cNvPr id="45" name="Shape 43"/>
          <p:cNvSpPr/>
          <p:nvPr/>
        </p:nvSpPr>
        <p:spPr>
          <a:xfrm>
            <a:off x="10037826" y="4946904"/>
            <a:ext cx="164592" cy="164592"/>
          </a:xfrm>
          <a:prstGeom prst="rect">
            <a:avLst/>
          </a:prstGeom>
          <a:solidFill>
            <a:schemeClr val="accent5"/>
          </a:solidFill>
          <a:ln/>
        </p:spPr>
      </p:sp>
      <p:sp>
        <p:nvSpPr>
          <p:cNvPr id="46" name="Text 44"/>
          <p:cNvSpPr txBox="1"/>
          <p:nvPr/>
        </p:nvSpPr>
        <p:spPr>
          <a:xfrm>
            <a:off x="10275570" y="4910328"/>
            <a:ext cx="1559509" cy="237744"/>
          </a:xfrm>
          <a:prstGeom prst="rect">
            <a:avLst/>
          </a:prstGeom>
          <a:noFill/>
          <a:ln/>
        </p:spPr>
        <p:txBody>
          <a:bodyPr wrap="square" lIns="0" tIns="0" rIns="0" bIns="0" rtlCol="0" anchor="ctr"/>
          <a:lstStyle/>
          <a:p>
            <a:pPr indent="0" marL="0">
              <a:buNone/>
            </a:pPr>
            <a:r>
              <a:rPr lang="en-US" sz="1000" dirty="0">
                <a:solidFill>
                  <a:schemeClr val="tx2"/>
                </a:solidFill>
              </a:rPr>
              <a:t>Infrastructure and third parties</a:t>
            </a:r>
            <a:endParaRPr lang="en-US" sz="1000" dirty="0"/>
          </a:p>
        </p:txBody>
      </p:sp>
      <p:sp>
        <p:nvSpPr>
          <p:cNvPr id="47" name="Shape 45"/>
          <p:cNvSpPr/>
          <p:nvPr/>
        </p:nvSpPr>
        <p:spPr>
          <a:xfrm>
            <a:off x="10037826" y="5193792"/>
            <a:ext cx="164592" cy="164592"/>
          </a:xfrm>
          <a:prstGeom prst="rect">
            <a:avLst/>
          </a:prstGeom>
          <a:solidFill>
            <a:schemeClr val="accent1"/>
          </a:solidFill>
          <a:ln/>
        </p:spPr>
      </p:sp>
      <p:sp>
        <p:nvSpPr>
          <p:cNvPr id="48" name="Text 46"/>
          <p:cNvSpPr txBox="1"/>
          <p:nvPr/>
        </p:nvSpPr>
        <p:spPr>
          <a:xfrm>
            <a:off x="10275570" y="5157216"/>
            <a:ext cx="1559509" cy="237744"/>
          </a:xfrm>
          <a:prstGeom prst="rect">
            <a:avLst/>
          </a:prstGeom>
          <a:noFill/>
          <a:ln/>
        </p:spPr>
        <p:txBody>
          <a:bodyPr wrap="square" lIns="0" tIns="0" rIns="0" bIns="0" rtlCol="0" anchor="ctr"/>
          <a:lstStyle/>
          <a:p>
            <a:pPr indent="0" marL="0">
              <a:buNone/>
            </a:pPr>
            <a:r>
              <a:rPr lang="en-US" sz="1000" dirty="0">
                <a:solidFill>
                  <a:schemeClr val="tx2"/>
                </a:solidFill>
              </a:rPr>
              <a:t>Cross-cutting</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ill"/>
          <p:cNvSpPr/>
          <p:nvPr/>
        </p:nvSpPr>
        <p:spPr>
          <a:xfrm>
            <a:off x="457200" y="292608"/>
            <a:ext cx="493776" cy="256032"/>
          </a:xfrm>
          <a:prstGeom prst="roundRect">
            <a:avLst>
              <a:gd name="adj" fmla="val 50000"/>
            </a:avLst>
          </a:prstGeom>
          <a:solidFill>
            <a:schemeClr val="bg2"/>
          </a:solidFill>
          <a:ln/>
        </p:spPr>
      </p:sp>
      <p:sp>
        <p:nvSpPr>
          <p:cNvPr id="3" name="Eyebrow"/>
          <p:cNvSpPr txBox="1"/>
          <p:nvPr/>
        </p:nvSpPr>
        <p:spPr>
          <a:xfrm>
            <a:off x="457200" y="292608"/>
            <a:ext cx="49377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PLAN</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Over the next 30 days, protect the chokepoints first, then work down the tail</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Dates are indicative and depend on decision D-03</a:t>
            </a:r>
            <a:endParaRPr lang="en-US" sz="1500" dirty="0"/>
          </a:p>
        </p:txBody>
      </p:sp>
      <p:sp>
        <p:nvSpPr>
          <p:cNvPr id="6" name="Plan header"/>
          <p:cNvSpPr/>
          <p:nvPr/>
        </p:nvSpPr>
        <p:spPr>
          <a:xfrm>
            <a:off x="457200" y="1920240"/>
            <a:ext cx="2109155" cy="868680"/>
          </a:xfrm>
          <a:prstGeom prst="rect">
            <a:avLst/>
          </a:prstGeom>
          <a:solidFill>
            <a:schemeClr val="accent1"/>
          </a:solidFill>
          <a:ln/>
        </p:spPr>
      </p:sp>
      <p:sp>
        <p:nvSpPr>
          <p:cNvPr id="7" name="Text 5"/>
          <p:cNvSpPr txBox="1"/>
          <p:nvPr/>
        </p:nvSpPr>
        <p:spPr>
          <a:xfrm>
            <a:off x="62179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27 Oct</a:t>
            </a:r>
            <a:endParaRPr lang="en-US" sz="1700" dirty="0"/>
          </a:p>
          <a:p>
            <a:pPr indent="0" marL="0">
              <a:buNone/>
            </a:pPr>
            <a:r>
              <a:rPr lang="en-US" sz="1200" dirty="0">
                <a:solidFill>
                  <a:srgbClr val="CADCFC"/>
                </a:solidFill>
              </a:rPr>
              <a:t>Today and tomorrow</a:t>
            </a:r>
            <a:endParaRPr lang="en-US" sz="1700" dirty="0"/>
          </a:p>
        </p:txBody>
      </p:sp>
      <p:sp>
        <p:nvSpPr>
          <p:cNvPr id="8" name="Card"/>
          <p:cNvSpPr/>
          <p:nvPr/>
        </p:nvSpPr>
        <p:spPr>
          <a:xfrm>
            <a:off x="457200" y="2880360"/>
            <a:ext cx="2109155" cy="2331720"/>
          </a:xfrm>
          <a:prstGeom prst="rect">
            <a:avLst/>
          </a:prstGeom>
          <a:solidFill>
            <a:schemeClr val="bg2"/>
          </a:solidFill>
          <a:ln/>
        </p:spPr>
      </p:sp>
      <p:sp>
        <p:nvSpPr>
          <p:cNvPr id="9" name="Text 7"/>
          <p:cNvSpPr txBox="1"/>
          <p:nvPr/>
        </p:nvSpPr>
        <p:spPr>
          <a:xfrm>
            <a:off x="59436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D-01, D-02, D-03, D-04, D-07 decided</a:t>
            </a:r>
            <a:endParaRPr lang="en-US" sz="1300" dirty="0"/>
          </a:p>
          <a:p>
            <a:pPr marL="177800" indent="-177800">
              <a:spcAft>
                <a:spcPts val="400"/>
              </a:spcAft>
              <a:buSzPct val="100000"/>
              <a:buChar char="•"/>
            </a:pPr>
            <a:r>
              <a:rPr lang="en-US" sz="1300" dirty="0">
                <a:solidFill>
                  <a:schemeClr val="tx1"/>
                </a:solidFill>
              </a:rPr>
              <a:t>Our emSign ECC G3 certificates replaced</a:t>
            </a:r>
            <a:endParaRPr lang="en-US" sz="1300" dirty="0"/>
          </a:p>
          <a:p>
            <a:pPr marL="177800" indent="-177800">
              <a:spcAft>
                <a:spcPts val="400"/>
              </a:spcAft>
              <a:buSzPct val="100000"/>
              <a:buChar char="•"/>
            </a:pPr>
            <a:r>
              <a:rPr lang="en-US" sz="1300" dirty="0">
                <a:solidFill>
                  <a:schemeClr val="tx1"/>
                </a:solidFill>
              </a:rPr>
              <a:t>Service desk article live</a:t>
            </a:r>
            <a:endParaRPr lang="en-US" sz="1300" dirty="0"/>
          </a:p>
        </p:txBody>
      </p:sp>
      <p:sp>
        <p:nvSpPr>
          <p:cNvPr id="10" name="Plan header"/>
          <p:cNvSpPr/>
          <p:nvPr/>
        </p:nvSpPr>
        <p:spPr>
          <a:xfrm>
            <a:off x="2749235" y="1920240"/>
            <a:ext cx="2109155" cy="868680"/>
          </a:xfrm>
          <a:prstGeom prst="rect">
            <a:avLst/>
          </a:prstGeom>
          <a:solidFill>
            <a:schemeClr val="tx1"/>
          </a:solidFill>
          <a:ln/>
        </p:spPr>
      </p:sp>
      <p:sp>
        <p:nvSpPr>
          <p:cNvPr id="11" name="Text 9"/>
          <p:cNvSpPr txBox="1"/>
          <p:nvPr/>
        </p:nvSpPr>
        <p:spPr>
          <a:xfrm>
            <a:off x="291382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29 Oct</a:t>
            </a:r>
            <a:endParaRPr lang="en-US" sz="1700" dirty="0"/>
          </a:p>
          <a:p>
            <a:pPr indent="0" marL="0">
              <a:buNone/>
            </a:pPr>
            <a:r>
              <a:rPr lang="en-US" sz="1200" dirty="0">
                <a:solidFill>
                  <a:srgbClr val="CADCFC"/>
                </a:solidFill>
              </a:rPr>
              <a:t>72 hours</a:t>
            </a:r>
            <a:endParaRPr lang="en-US" sz="1700" dirty="0"/>
          </a:p>
        </p:txBody>
      </p:sp>
      <p:sp>
        <p:nvSpPr>
          <p:cNvPr id="12" name="Card"/>
          <p:cNvSpPr/>
          <p:nvPr/>
        </p:nvSpPr>
        <p:spPr>
          <a:xfrm>
            <a:off x="2749235" y="2880360"/>
            <a:ext cx="2109155" cy="2331720"/>
          </a:xfrm>
          <a:prstGeom prst="rect">
            <a:avLst/>
          </a:prstGeom>
          <a:solidFill>
            <a:schemeClr val="bg2"/>
          </a:solidFill>
          <a:ln/>
        </p:spPr>
      </p:sp>
      <p:sp>
        <p:nvSpPr>
          <p:cNvPr id="13" name="Text 11"/>
          <p:cNvSpPr txBox="1"/>
          <p:nvPr/>
        </p:nvSpPr>
        <p:spPr>
          <a:xfrm>
            <a:off x="288639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Inspection proxy validated</a:t>
            </a:r>
            <a:endParaRPr lang="en-US" sz="1300" dirty="0"/>
          </a:p>
          <a:p>
            <a:pPr marL="177800" indent="-177800">
              <a:spcAft>
                <a:spcPts val="400"/>
              </a:spcAft>
              <a:buSzPct val="100000"/>
              <a:buChar char="•"/>
            </a:pPr>
            <a:r>
              <a:rPr lang="en-US" sz="1300" dirty="0">
                <a:solidFill>
                  <a:schemeClr val="tx1"/>
                </a:solidFill>
              </a:rPr>
              <a:t>Identity paths assessed</a:t>
            </a:r>
            <a:endParaRPr lang="en-US" sz="1300" dirty="0"/>
          </a:p>
          <a:p>
            <a:pPr marL="177800" indent="-177800">
              <a:spcAft>
                <a:spcPts val="400"/>
              </a:spcAft>
              <a:buSzPct val="100000"/>
              <a:buChar char="•"/>
            </a:pPr>
            <a:r>
              <a:rPr lang="en-US" sz="1300" dirty="0">
                <a:solidFill>
                  <a:schemeClr val="tx1"/>
                </a:solidFill>
              </a:rPr>
              <a:t>P1 contained</a:t>
            </a:r>
            <a:endParaRPr lang="en-US" sz="1300" dirty="0"/>
          </a:p>
          <a:p>
            <a:pPr marL="177800" indent="-177800">
              <a:spcAft>
                <a:spcPts val="400"/>
              </a:spcAft>
              <a:buSzPct val="100000"/>
              <a:buChar char="•"/>
            </a:pPr>
            <a:r>
              <a:rPr lang="en-US" sz="1300" dirty="0">
                <a:solidFill>
                  <a:schemeClr val="tx1"/>
                </a:solidFill>
              </a:rPr>
              <a:t>Proviso coverage report</a:t>
            </a:r>
            <a:endParaRPr lang="en-US" sz="1300" dirty="0"/>
          </a:p>
          <a:p>
            <a:pPr marL="177800" indent="-177800">
              <a:spcAft>
                <a:spcPts val="400"/>
              </a:spcAft>
              <a:buSzPct val="100000"/>
              <a:buChar char="•"/>
            </a:pPr>
            <a:r>
              <a:rPr lang="en-US" sz="1300" dirty="0">
                <a:solidFill>
                  <a:schemeClr val="tx1"/>
                </a:solidFill>
              </a:rPr>
              <a:t>Hunts H1–H2 run</a:t>
            </a:r>
            <a:endParaRPr lang="en-US" sz="1300" dirty="0"/>
          </a:p>
        </p:txBody>
      </p:sp>
      <p:sp>
        <p:nvSpPr>
          <p:cNvPr id="14" name="Plan header"/>
          <p:cNvSpPr/>
          <p:nvPr/>
        </p:nvSpPr>
        <p:spPr>
          <a:xfrm>
            <a:off x="5041270" y="1920240"/>
            <a:ext cx="2109155" cy="868680"/>
          </a:xfrm>
          <a:prstGeom prst="rect">
            <a:avLst/>
          </a:prstGeom>
          <a:solidFill>
            <a:schemeClr val="tx1"/>
          </a:solidFill>
          <a:ln/>
        </p:spPr>
      </p:sp>
      <p:sp>
        <p:nvSpPr>
          <p:cNvPr id="15" name="Text 13"/>
          <p:cNvSpPr txBox="1"/>
          <p:nvPr/>
        </p:nvSpPr>
        <p:spPr>
          <a:xfrm>
            <a:off x="520586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 Nov</a:t>
            </a:r>
            <a:endParaRPr lang="en-US" sz="1700" dirty="0"/>
          </a:p>
          <a:p>
            <a:pPr indent="0" marL="0">
              <a:buNone/>
            </a:pPr>
            <a:r>
              <a:rPr lang="en-US" sz="1200" dirty="0">
                <a:solidFill>
                  <a:srgbClr val="CADCFC"/>
                </a:solidFill>
              </a:rPr>
              <a:t>7 days</a:t>
            </a:r>
            <a:endParaRPr lang="en-US" sz="1700" dirty="0"/>
          </a:p>
        </p:txBody>
      </p:sp>
      <p:sp>
        <p:nvSpPr>
          <p:cNvPr id="16" name="Card"/>
          <p:cNvSpPr/>
          <p:nvPr/>
        </p:nvSpPr>
        <p:spPr>
          <a:xfrm>
            <a:off x="5041270" y="2880360"/>
            <a:ext cx="2109155" cy="2331720"/>
          </a:xfrm>
          <a:prstGeom prst="rect">
            <a:avLst/>
          </a:prstGeom>
          <a:solidFill>
            <a:schemeClr val="bg2"/>
          </a:solidFill>
          <a:ln/>
        </p:spPr>
      </p:sp>
      <p:sp>
        <p:nvSpPr>
          <p:cNvPr id="17" name="Text 15"/>
          <p:cNvSpPr txBox="1"/>
          <p:nvPr/>
        </p:nvSpPr>
        <p:spPr>
          <a:xfrm>
            <a:off x="517843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P1 closed or excepted</a:t>
            </a:r>
            <a:endParaRPr lang="en-US" sz="1300" dirty="0"/>
          </a:p>
          <a:p>
            <a:pPr marL="177800" indent="-177800">
              <a:spcAft>
                <a:spcPts val="400"/>
              </a:spcAft>
              <a:buSzPct val="100000"/>
              <a:buChar char="•"/>
            </a:pPr>
            <a:r>
              <a:rPr lang="en-US" sz="1300" dirty="0">
                <a:solidFill>
                  <a:schemeClr val="tx1"/>
                </a:solidFill>
              </a:rPr>
              <a:t>Egress-led long-tail register</a:t>
            </a:r>
            <a:endParaRPr lang="en-US" sz="1300" dirty="0"/>
          </a:p>
          <a:p>
            <a:pPr marL="177800" indent="-177800">
              <a:spcAft>
                <a:spcPts val="400"/>
              </a:spcAft>
              <a:buSzPct val="100000"/>
              <a:buChar char="•"/>
            </a:pPr>
            <a:r>
              <a:rPr lang="en-US" sz="1300" dirty="0">
                <a:solidFill>
                  <a:schemeClr val="tx1"/>
                </a:solidFill>
              </a:rPr>
              <a:t>Supplier requests sent</a:t>
            </a:r>
            <a:endParaRPr lang="en-US" sz="1300" dirty="0"/>
          </a:p>
          <a:p>
            <a:pPr marL="177800" indent="-177800">
              <a:spcAft>
                <a:spcPts val="400"/>
              </a:spcAft>
              <a:buSzPct val="100000"/>
              <a:buChar char="•"/>
            </a:pPr>
            <a:r>
              <a:rPr lang="en-US" sz="1300" dirty="0">
                <a:solidFill>
                  <a:schemeClr val="tx1"/>
                </a:solidFill>
              </a:rPr>
              <a:t>Hunts H3–H6 done</a:t>
            </a:r>
            <a:endParaRPr lang="en-US" sz="1300" dirty="0"/>
          </a:p>
        </p:txBody>
      </p:sp>
      <p:sp>
        <p:nvSpPr>
          <p:cNvPr id="18" name="Plan header"/>
          <p:cNvSpPr/>
          <p:nvPr/>
        </p:nvSpPr>
        <p:spPr>
          <a:xfrm>
            <a:off x="7333305" y="1920240"/>
            <a:ext cx="2109155" cy="868680"/>
          </a:xfrm>
          <a:prstGeom prst="rect">
            <a:avLst/>
          </a:prstGeom>
          <a:solidFill>
            <a:schemeClr val="tx1"/>
          </a:solidFill>
          <a:ln/>
        </p:spPr>
      </p:sp>
      <p:sp>
        <p:nvSpPr>
          <p:cNvPr id="19" name="Text 17"/>
          <p:cNvSpPr txBox="1"/>
          <p:nvPr/>
        </p:nvSpPr>
        <p:spPr>
          <a:xfrm>
            <a:off x="749789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9 Nov</a:t>
            </a:r>
            <a:endParaRPr lang="en-US" sz="1700" dirty="0"/>
          </a:p>
          <a:p>
            <a:pPr indent="0" marL="0">
              <a:buNone/>
            </a:pPr>
            <a:r>
              <a:rPr lang="en-US" sz="1200" dirty="0">
                <a:solidFill>
                  <a:srgbClr val="CADCFC"/>
                </a:solidFill>
              </a:rPr>
              <a:t>14 days</a:t>
            </a:r>
            <a:endParaRPr lang="en-US" sz="1700" dirty="0"/>
          </a:p>
        </p:txBody>
      </p:sp>
      <p:sp>
        <p:nvSpPr>
          <p:cNvPr id="20" name="Card"/>
          <p:cNvSpPr/>
          <p:nvPr/>
        </p:nvSpPr>
        <p:spPr>
          <a:xfrm>
            <a:off x="7333305" y="2880360"/>
            <a:ext cx="2109155" cy="2331720"/>
          </a:xfrm>
          <a:prstGeom prst="rect">
            <a:avLst/>
          </a:prstGeom>
          <a:solidFill>
            <a:schemeClr val="bg2"/>
          </a:solidFill>
          <a:ln/>
        </p:spPr>
      </p:sp>
      <p:sp>
        <p:nvSpPr>
          <p:cNvPr id="21" name="Text 19"/>
          <p:cNvSpPr txBox="1"/>
          <p:nvPr/>
        </p:nvSpPr>
        <p:spPr>
          <a:xfrm>
            <a:off x="747046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P2 closed or excepted</a:t>
            </a:r>
            <a:endParaRPr lang="en-US" sz="1300" dirty="0"/>
          </a:p>
          <a:p>
            <a:pPr marL="177800" indent="-177800">
              <a:spcAft>
                <a:spcPts val="400"/>
              </a:spcAft>
              <a:buSzPct val="100000"/>
              <a:buChar char="•"/>
            </a:pPr>
            <a:r>
              <a:rPr lang="en-US" sz="1300" dirty="0">
                <a:solidFill>
                  <a:schemeClr val="tx1"/>
                </a:solidFill>
              </a:rPr>
              <a:t>Base images rebuilt and redeployed</a:t>
            </a:r>
            <a:endParaRPr lang="en-US" sz="1300" dirty="0"/>
          </a:p>
          <a:p>
            <a:pPr marL="177800" indent="-177800">
              <a:spcAft>
                <a:spcPts val="400"/>
              </a:spcAft>
              <a:buSzPct val="100000"/>
              <a:buChar char="•"/>
            </a:pPr>
            <a:r>
              <a:rPr lang="en-US" sz="1300" dirty="0">
                <a:solidFill>
                  <a:schemeClr val="tx1"/>
                </a:solidFill>
              </a:rPr>
              <a:t>Vendor ETAs tracked</a:t>
            </a:r>
            <a:endParaRPr lang="en-US" sz="1300" dirty="0"/>
          </a:p>
        </p:txBody>
      </p:sp>
      <p:sp>
        <p:nvSpPr>
          <p:cNvPr id="22" name="Plan header"/>
          <p:cNvSpPr/>
          <p:nvPr/>
        </p:nvSpPr>
        <p:spPr>
          <a:xfrm>
            <a:off x="9625340" y="1920240"/>
            <a:ext cx="2109155" cy="868680"/>
          </a:xfrm>
          <a:prstGeom prst="rect">
            <a:avLst/>
          </a:prstGeom>
          <a:solidFill>
            <a:schemeClr val="tx1"/>
          </a:solidFill>
          <a:ln/>
        </p:spPr>
      </p:sp>
      <p:sp>
        <p:nvSpPr>
          <p:cNvPr id="23" name="Text 21"/>
          <p:cNvSpPr txBox="1"/>
          <p:nvPr/>
        </p:nvSpPr>
        <p:spPr>
          <a:xfrm>
            <a:off x="978993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25 Nov</a:t>
            </a:r>
            <a:endParaRPr lang="en-US" sz="1700" dirty="0"/>
          </a:p>
          <a:p>
            <a:pPr indent="0" marL="0">
              <a:buNone/>
            </a:pPr>
            <a:r>
              <a:rPr lang="en-US" sz="1200" dirty="0">
                <a:solidFill>
                  <a:srgbClr val="CADCFC"/>
                </a:solidFill>
              </a:rPr>
              <a:t>30 days</a:t>
            </a:r>
            <a:endParaRPr lang="en-US" sz="1700" dirty="0"/>
          </a:p>
        </p:txBody>
      </p:sp>
      <p:sp>
        <p:nvSpPr>
          <p:cNvPr id="24" name="Card"/>
          <p:cNvSpPr/>
          <p:nvPr/>
        </p:nvSpPr>
        <p:spPr>
          <a:xfrm>
            <a:off x="9625340" y="2880360"/>
            <a:ext cx="2109155" cy="2331720"/>
          </a:xfrm>
          <a:prstGeom prst="rect">
            <a:avLst/>
          </a:prstGeom>
          <a:solidFill>
            <a:schemeClr val="bg2"/>
          </a:solidFill>
          <a:ln/>
        </p:spPr>
      </p:sp>
      <p:sp>
        <p:nvSpPr>
          <p:cNvPr id="25" name="Text 23"/>
          <p:cNvSpPr txBox="1"/>
          <p:nvPr/>
        </p:nvSpPr>
        <p:spPr>
          <a:xfrm>
            <a:off x="976250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P3 closed</a:t>
            </a:r>
            <a:endParaRPr lang="en-US" sz="1300" dirty="0"/>
          </a:p>
          <a:p>
            <a:pPr marL="177800" indent="-177800">
              <a:spcAft>
                <a:spcPts val="400"/>
              </a:spcAft>
              <a:buSzPct val="100000"/>
              <a:buChar char="•"/>
            </a:pPr>
            <a:r>
              <a:rPr lang="en-US" sz="1300" dirty="0">
                <a:solidFill>
                  <a:schemeClr val="tx1"/>
                </a:solidFill>
              </a:rPr>
              <a:t>Long-tail cut-off (D-09)</a:t>
            </a:r>
            <a:endParaRPr lang="en-US" sz="1300" dirty="0"/>
          </a:p>
          <a:p>
            <a:pPr marL="177800" indent="-177800">
              <a:spcAft>
                <a:spcPts val="400"/>
              </a:spcAft>
              <a:buSzPct val="100000"/>
              <a:buChar char="•"/>
            </a:pPr>
            <a:r>
              <a:rPr lang="en-US" sz="1300" dirty="0">
                <a:solidFill>
                  <a:schemeClr val="tx1"/>
                </a:solidFill>
              </a:rPr>
              <a:t>Closure review (D-14); P4 to business as usual</a:t>
            </a:r>
            <a:endParaRPr lang="en-US" sz="1300" dirty="0"/>
          </a:p>
        </p:txBody>
      </p:sp>
      <p:sp>
        <p:nvSpPr>
          <p:cNvPr id="26" name="Cadence band"/>
          <p:cNvSpPr/>
          <p:nvPr/>
        </p:nvSpPr>
        <p:spPr>
          <a:xfrm>
            <a:off x="457200" y="5394960"/>
            <a:ext cx="11277295" cy="640080"/>
          </a:xfrm>
          <a:prstGeom prst="rect">
            <a:avLst/>
          </a:prstGeom>
          <a:solidFill>
            <a:schemeClr val="bg2"/>
          </a:solidFill>
          <a:ln/>
        </p:spPr>
      </p:sp>
      <p:sp>
        <p:nvSpPr>
          <p:cNvPr id="27" name="Text 25"/>
          <p:cNvSpPr txBox="1"/>
          <p:nvPr/>
        </p:nvSpPr>
        <p:spPr>
          <a:xfrm>
            <a:off x="685800" y="5394960"/>
            <a:ext cx="10820095" cy="640080"/>
          </a:xfrm>
          <a:prstGeom prst="rect">
            <a:avLst/>
          </a:prstGeom>
          <a:noFill/>
          <a:ln/>
        </p:spPr>
        <p:txBody>
          <a:bodyPr wrap="square" lIns="0" tIns="0" rIns="0" bIns="0" rtlCol="0" anchor="ctr"/>
          <a:lstStyle/>
          <a:p>
            <a:pPr indent="0" marL="0">
              <a:buNone/>
            </a:pPr>
            <a:r>
              <a:rPr lang="en-US" sz="1400" b="1" dirty="0">
                <a:solidFill>
                  <a:schemeClr val="tx1"/>
                </a:solidFill>
              </a:rPr>
              <a:t>Throughout: </a:t>
            </a:r>
            <a:pPr indent="0" marL="0">
              <a:buNone/>
            </a:pPr>
            <a:r>
              <a:rPr lang="en-US" sz="1400" dirty="0">
                <a:solidFill>
                  <a:schemeClr val="tx2"/>
                </a:solidFill>
              </a:rPr>
              <a:t>daily updates only for open P1 items, blockers and outages; executive update twice weekly until P1 is closed (D-12). Facts rechecked daily.</a:t>
            </a:r>
            <a:endParaRPr lang="en-US" sz="1400" dirty="0"/>
          </a:p>
        </p:txBody>
      </p:sp>
      <p:sp>
        <p:nvSpPr>
          <p:cNvPr id="2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Decisions requested</a:t>
            </a: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lIns="0" tIns="0" rIns="0" bIns="0" rtlCol="0" anchor="t"/>
          <a:lstStyle/>
          <a:p>
            <a:pPr algn="l" indent="0" marL="0">
              <a:buNone/>
            </a:pPr>
            <a:r>
              <a:rPr lang="en-US" sz="1500" i="1" dirty="0">
                <a:solidFill>
                  <a:srgbClr val="CADCFC"/>
                </a:solidFill>
                <a:latin typeface="Calibri" pitchFamily="34" charset="0"/>
                <a:ea typeface="Calibri" pitchFamily="34" charset="-122"/>
                <a:cs typeface="Calibri" pitchFamily="34" charset="-120"/>
              </a:rPr>
              <a:t>Eight of the sixteen in the workbook's Decisions sheet. The others are needed by 2 November</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7295" cy="914400"/>
        </p:xfrm>
        <a:graphic>
          <a:graphicData uri="http://schemas.openxmlformats.org/drawingml/2006/table">
            <a:tbl>
              <a:tblPr/>
              <a:tblGrid>
                <a:gridCol w="777240"/>
                <a:gridCol w="2926080"/>
                <a:gridCol w="4828032"/>
                <a:gridCol w="1828800"/>
                <a:gridCol w="914400"/>
              </a:tblGrid>
              <a:tr h="438912">
                <a:tc>
                  <a:txBody>
                    <a:bodyPr/>
                    <a:lstStyle/>
                    <a:p>
                      <a:pPr indent="0" marL="0">
                        <a:buNone/>
                      </a:pPr>
                      <a:r>
                        <a:rPr lang="en-US" sz="1300" b="1" dirty="0">
                          <a:solidFill>
                            <a:schemeClr val="tx1"/>
                          </a:solidFill>
                        </a:rPr>
                        <a:t>ID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Decision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Recommendation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Owner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By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bg1"/>
                          </a:solidFill>
                        </a:rPr>
                        <a:t>D-01</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Prioritisation model</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Impact × verifier susceptibility; keep tier labels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D-02</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Browser and desktop proviso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Accept vendor protection only with the coverage report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EUC</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D-03</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Target windows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Indicative P1 72 h / 7 d · P2 14 d · P3 30 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D-04</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Our emSign ECC G3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Replace now; no extension for external endpoints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27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D-05</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Root removal in our stores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Accept partner impact; time-boxed exceptions only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D-06</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AAA route on Windows and Java</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Distrust specific intermediates; remove AAA only per vendor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D-07</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Inspection-proxy upstream policy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Block untrusted or revoked upstream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Network security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D-08</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Retrospective hunt scope</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H1–H6 over available retention; record the gap</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SOC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30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ill"/>
          <p:cNvSpPr/>
          <p:nvPr/>
        </p:nvSpPr>
        <p:spPr>
          <a:xfrm>
            <a:off x="457200" y="292608"/>
            <a:ext cx="3136392" cy="256032"/>
          </a:xfrm>
          <a:prstGeom prst="roundRect">
            <a:avLst>
              <a:gd name="adj" fmla="val 50000"/>
            </a:avLst>
          </a:prstGeom>
          <a:solidFill>
            <a:schemeClr val="bg2"/>
          </a:solidFill>
          <a:ln/>
        </p:spPr>
      </p:sp>
      <p:sp>
        <p:nvSpPr>
          <p:cNvPr id="3" name="Eyebrow"/>
          <p:cNvSpPr txBox="1"/>
          <p:nvPr/>
        </p:nvSpPr>
        <p:spPr>
          <a:xfrm>
            <a:off x="457200" y="292608"/>
            <a:ext cx="31363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APPENDIX · FACTS AS AT 26 OCTOBER 2026</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Package facts were checked directly; vendor actions come from press reports of vendor statements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Recheck daily while the incident is open (workbook Facts sheet)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Primary vendor pages could not be fetched from the review environment. Confirm “Secondary” items against the vendor before reissuing the pack. Full source list: REVIEW.md §9.</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1325880"/>
                <a:gridCol w="7022592"/>
                <a:gridCol w="2926080"/>
              </a:tblGrid>
              <a:tr h="402336">
                <a:tc>
                  <a:txBody>
                    <a:bodyPr/>
                    <a:lstStyle/>
                    <a:p>
                      <a:pPr indent="0" marL="0">
                        <a:buNone/>
                      </a:pPr>
                      <a:r>
                        <a:rPr lang="en-US" sz="1200" b="1" dirty="0">
                          <a:solidFill>
                            <a:schemeClr val="bg1"/>
                          </a:solidFill>
                        </a:rPr>
                        <a:t>Date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Fact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Confidence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02336">
                <a:tc>
                  <a:txBody>
                    <a:bodyPr/>
                    <a:lstStyle/>
                    <a:p>
                      <a:pPr indent="0" marL="0">
                        <a:buNone/>
                      </a:pPr>
                      <a:r>
                        <a:rPr lang="en-US" sz="1200" b="1" dirty="0">
                          <a:solidFill>
                            <a:schemeClr val="tx1"/>
                          </a:solidFill>
                        </a:rPr>
                        <a:t>30 Apr 2025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Eight keys generated with P-384 private values below 256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 (citing Mozilla)</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Chrome CRLSet and Firefox OneCRL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Apple block; Android via Play services; Sectigo revokes AAA cross-certificates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 1.27.3 and 1.26.10 published (rebuild required)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Verified release; secondary content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19–23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webpki-roots ≥ 1.0.10 and certifi ≥ 2026.10.18 drop emSign ECC Root CA - G3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 (package contents)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20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Microsoft block; Ubuntu 24.04 ca-certificates blocklists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 Ubuntu 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26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Node.js 22.22.0 built-in roots still include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21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 confirmed misuse; one key public on GitHub; macOS curl still accepted chain</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Chrome Root Store removes emSign ECC Root CA - G3 (~30,000 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Mudhra Response">
  <a:themeElements>
    <a:clrScheme name="eMudhra Response">
      <a:dk1>
        <a:srgbClr val="1B2A4A"/>
      </a:dk1>
      <a:lt1>
        <a:srgbClr val="FFFFFF"/>
      </a:lt1>
      <a:dk2>
        <a:srgbClr val="33415C"/>
      </a:dk2>
      <a:lt2>
        <a:srgbClr val="EEF1F5"/>
      </a:lt2>
      <a:accent1>
        <a:srgbClr val="B3341F"/>
      </a:accent1>
      <a:accent2>
        <a:srgbClr val="1C7293"/>
      </a:accent2>
      <a:accent3>
        <a:srgbClr val="2E7D32"/>
      </a:accent3>
      <a:accent4>
        <a:srgbClr val="B7791F"/>
      </a:accent4>
      <a:accent5>
        <a:srgbClr val="5B6B8C"/>
      </a:accent5>
      <a:accent6>
        <a:srgbClr val="FBEAE7"/>
      </a:accent6>
      <a:hlink>
        <a:srgbClr val="1C7293"/>
      </a:hlink>
      <a:folHlink>
        <a:srgbClr val="5B6B8C"/>
      </a:folHlink>
    </a:clrScheme>
    <a:fontScheme name="eMudhra Respon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Group Security Architecture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eMudhra CA key compromise: enterprise response</dc:title>
  <dc:subject>Requirements and plan for service owners</dc:subject>
  <dc:creator>Group Security Architecture</dc:creator>
  <cp:lastModifiedBy>Group Security Architecture</cp:lastModifiedBy>
  <cp:revision>1</cp:revision>
  <dcterms:created xsi:type="dcterms:W3CDTF">2026-10-26T02:07:49Z</dcterms:created>
  <dcterms:modified xsi:type="dcterms:W3CDTF">2026-10-26T02:07:49Z</dcterms:modified>
</cp:coreProperties>
</file>